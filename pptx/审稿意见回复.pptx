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257" r:id="rId4"/>
  </p:sldIdLst>
  <p:sldSz cx="28799790" cy="1439989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82" userDrawn="1">
          <p15:clr>
            <a:srgbClr val="A4A3A4"/>
          </p15:clr>
        </p15:guide>
        <p15:guide id="2" pos="905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E9FD"/>
    <a:srgbClr val="E6F0E8"/>
    <a:srgbClr val="F1F4F5"/>
    <a:srgbClr val="FEF5E4"/>
    <a:srgbClr val="FDF4E3"/>
    <a:srgbClr val="FFFFFF"/>
    <a:srgbClr val="EEE1FB"/>
    <a:srgbClr val="4874CB"/>
    <a:srgbClr val="F8EAD7"/>
    <a:srgbClr val="50D0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4582"/>
        <p:guide pos="905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831811" y="1920000"/>
            <a:ext cx="23147717" cy="5397166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126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2831811" y="7475906"/>
            <a:ext cx="23147717" cy="3091654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5040" spc="200"/>
            </a:lvl1pPr>
            <a:lvl2pPr marL="960120" indent="0" algn="ctr">
              <a:buNone/>
              <a:defRPr sz="4200"/>
            </a:lvl2pPr>
            <a:lvl3pPr marL="1920240" indent="0" algn="ctr">
              <a:buNone/>
              <a:defRPr sz="3780"/>
            </a:lvl3pPr>
            <a:lvl4pPr marL="2879725" indent="0" algn="ctr">
              <a:buNone/>
              <a:defRPr sz="3360"/>
            </a:lvl4pPr>
            <a:lvl5pPr marL="3839845" indent="0" algn="ctr">
              <a:buNone/>
              <a:defRPr sz="3360"/>
            </a:lvl5pPr>
            <a:lvl6pPr marL="4799965" indent="0" algn="ctr">
              <a:buNone/>
              <a:defRPr sz="3360"/>
            </a:lvl6pPr>
            <a:lvl7pPr marL="5760085" indent="0" algn="ctr">
              <a:buNone/>
              <a:defRPr sz="3360"/>
            </a:lvl7pPr>
            <a:lvl8pPr marL="6720205" indent="0" algn="ctr">
              <a:buNone/>
              <a:defRPr sz="3360"/>
            </a:lvl8pPr>
            <a:lvl9pPr marL="7679690" indent="0" algn="ctr">
              <a:buNone/>
              <a:defRPr sz="336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437165" y="1277480"/>
            <a:ext cx="25911497" cy="1481575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437165" y="3129449"/>
            <a:ext cx="25911497" cy="999307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702677" y="8080630"/>
            <a:ext cx="18351497" cy="1610079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924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702677" y="9690709"/>
            <a:ext cx="18351497" cy="1821732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378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96012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2pPr>
            <a:lvl3pPr marL="192024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3pPr>
            <a:lvl4pPr marL="2879725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4pPr>
            <a:lvl5pPr marL="3839845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5pPr>
            <a:lvl6pPr marL="4799965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6pPr>
            <a:lvl7pPr marL="5760085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7pPr>
            <a:lvl8pPr marL="6720205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8pPr>
            <a:lvl9pPr marL="767969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437165" y="1277480"/>
            <a:ext cx="25911497" cy="1481575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437165" y="3152126"/>
            <a:ext cx="12228662" cy="9970394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5145512" y="3152126"/>
            <a:ext cx="12228662" cy="9970394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437165" y="1277480"/>
            <a:ext cx="25911497" cy="1481575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437165" y="2948032"/>
            <a:ext cx="12619843" cy="869291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42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60120" indent="0">
              <a:buNone/>
              <a:defRPr sz="4200" b="1"/>
            </a:lvl2pPr>
            <a:lvl3pPr marL="1920240" indent="0">
              <a:buNone/>
              <a:defRPr sz="3780" b="1"/>
            </a:lvl3pPr>
            <a:lvl4pPr marL="2879725" indent="0">
              <a:buNone/>
              <a:defRPr sz="3360" b="1"/>
            </a:lvl4pPr>
            <a:lvl5pPr marL="3839845" indent="0">
              <a:buNone/>
              <a:defRPr sz="3360" b="1"/>
            </a:lvl5pPr>
            <a:lvl6pPr marL="4799965" indent="0">
              <a:buNone/>
              <a:defRPr sz="3360" b="1"/>
            </a:lvl6pPr>
            <a:lvl7pPr marL="5760085" indent="0">
              <a:buNone/>
              <a:defRPr sz="3360" b="1"/>
            </a:lvl7pPr>
            <a:lvl8pPr marL="6720205" indent="0">
              <a:buNone/>
              <a:defRPr sz="3360" b="1"/>
            </a:lvl8pPr>
            <a:lvl9pPr marL="7679690" indent="0">
              <a:buNone/>
              <a:defRPr sz="336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437165" y="3892913"/>
            <a:ext cx="12619843" cy="9229607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14730119" y="2948032"/>
            <a:ext cx="12619843" cy="869291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42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60120" indent="0">
              <a:buNone/>
              <a:defRPr sz="4200" b="1"/>
            </a:lvl2pPr>
            <a:lvl3pPr marL="1920240" indent="0">
              <a:buNone/>
              <a:defRPr sz="3780" b="1"/>
            </a:lvl3pPr>
            <a:lvl4pPr marL="2879725" indent="0">
              <a:buNone/>
              <a:defRPr sz="3360" b="1"/>
            </a:lvl4pPr>
            <a:lvl5pPr marL="3839845" indent="0">
              <a:buNone/>
              <a:defRPr sz="3360" b="1"/>
            </a:lvl5pPr>
            <a:lvl6pPr marL="4799965" indent="0">
              <a:buNone/>
              <a:defRPr sz="3360" b="1"/>
            </a:lvl6pPr>
            <a:lvl7pPr marL="5760085" indent="0">
              <a:buNone/>
              <a:defRPr sz="3360" b="1"/>
            </a:lvl7pPr>
            <a:lvl8pPr marL="6720205" indent="0">
              <a:buNone/>
              <a:defRPr sz="3360" b="1"/>
            </a:lvl8pPr>
            <a:lvl9pPr marL="7679690" indent="0">
              <a:buNone/>
              <a:defRPr sz="336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14730119" y="3892913"/>
            <a:ext cx="12619843" cy="9229607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437165" y="1277480"/>
            <a:ext cx="25911497" cy="1481575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1437165" y="3265512"/>
            <a:ext cx="12361600" cy="9675591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336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15000945" y="3265512"/>
            <a:ext cx="12347717" cy="9675591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336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24176694" y="1920000"/>
            <a:ext cx="2466142" cy="105600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588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2160000" y="1920000"/>
            <a:ext cx="21659528" cy="10560000"/>
          </a:xfrm>
        </p:spPr>
        <p:txBody>
          <a:bodyPr vert="eaVert" lIns="46800" tIns="46800" rIns="46800" bIns="46800"/>
          <a:lstStyle>
            <a:lvl1pPr marL="480060" indent="-480060">
              <a:spcAft>
                <a:spcPts val="1000"/>
              </a:spcAft>
              <a:defRPr spc="300"/>
            </a:lvl1pPr>
            <a:lvl2pPr marL="1440180" indent="-480060">
              <a:defRPr spc="300"/>
            </a:lvl2pPr>
            <a:lvl3pPr marL="2400300" indent="-480060">
              <a:defRPr spc="300"/>
            </a:lvl3pPr>
            <a:lvl4pPr marL="3359785" indent="-480060">
              <a:defRPr spc="300"/>
            </a:lvl4pPr>
            <a:lvl5pPr marL="4319905" indent="-48006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437165" y="1625197"/>
            <a:ext cx="25920001" cy="1151244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2831811" y="5034331"/>
            <a:ext cx="23147717" cy="232063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126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2831811" y="7475906"/>
            <a:ext cx="23147717" cy="1058268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504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1437165" y="1277480"/>
            <a:ext cx="25911497" cy="148157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1437165" y="3129449"/>
            <a:ext cx="25911497" cy="9993071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1445669" y="13258583"/>
            <a:ext cx="6377953" cy="6651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9722835" y="13258583"/>
            <a:ext cx="9354331" cy="6651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20970709" y="13258583"/>
            <a:ext cx="6377953" cy="6651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920240" rtl="0" eaLnBrk="1" fontAlgn="auto" latinLnBrk="0" hangingPunct="1">
        <a:lnSpc>
          <a:spcPct val="100000"/>
        </a:lnSpc>
        <a:spcBef>
          <a:spcPct val="0"/>
        </a:spcBef>
        <a:buNone/>
        <a:defRPr sz="756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480060" indent="-480060" algn="l" defTabSz="192024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90204" pitchFamily="34" charset="0"/>
        <a:buChar char="●"/>
        <a:defRPr sz="378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1440180" indent="-480060" algn="l" defTabSz="1920240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90204" pitchFamily="34" charset="0"/>
        <a:buChar char="●"/>
        <a:tabLst>
          <a:tab pos="3380105" algn="l"/>
          <a:tab pos="3380105" algn="l"/>
          <a:tab pos="3380105" algn="l"/>
          <a:tab pos="3380105" algn="l"/>
        </a:tabLst>
        <a:defRPr sz="336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2400300" indent="-480060" algn="l" defTabSz="1920240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90204" pitchFamily="34" charset="0"/>
        <a:buChar char="●"/>
        <a:defRPr sz="336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3359785" indent="-480060" algn="l" defTabSz="1920240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Wingdings" panose="05000000000000000000" charset="0"/>
        <a:buChar char=""/>
        <a:defRPr sz="294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4319905" indent="-480060" algn="l" defTabSz="1920240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Arial" panose="020B0604020202090204" pitchFamily="34" charset="0"/>
        <a:buChar char="•"/>
        <a:defRPr sz="294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5280025" indent="-480060" algn="l" defTabSz="1920240" rtl="0" eaLnBrk="1" latinLnBrk="0" hangingPunct="1">
        <a:lnSpc>
          <a:spcPct val="90000"/>
        </a:lnSpc>
        <a:spcBef>
          <a:spcPct val="211000"/>
        </a:spcBef>
        <a:buFont typeface="Arial" panose="020B060402020209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45" indent="-480060" algn="l" defTabSz="1920240" rtl="0" eaLnBrk="1" latinLnBrk="0" hangingPunct="1">
        <a:lnSpc>
          <a:spcPct val="90000"/>
        </a:lnSpc>
        <a:spcBef>
          <a:spcPct val="211000"/>
        </a:spcBef>
        <a:buFont typeface="Arial" panose="020B060402020209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65" indent="-480060" algn="l" defTabSz="1920240" rtl="0" eaLnBrk="1" latinLnBrk="0" hangingPunct="1">
        <a:lnSpc>
          <a:spcPct val="90000"/>
        </a:lnSpc>
        <a:spcBef>
          <a:spcPct val="211000"/>
        </a:spcBef>
        <a:buFont typeface="Arial" panose="020B060402020209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59750" indent="-480060" algn="l" defTabSz="1920240" rtl="0" eaLnBrk="1" latinLnBrk="0" hangingPunct="1">
        <a:lnSpc>
          <a:spcPct val="90000"/>
        </a:lnSpc>
        <a:spcBef>
          <a:spcPct val="211000"/>
        </a:spcBef>
        <a:buFont typeface="Arial" panose="020B060402020209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920240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algn="l" defTabSz="1920240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240" algn="l" defTabSz="1920240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79725" algn="l" defTabSz="1920240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39845" algn="l" defTabSz="1920240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799965" algn="l" defTabSz="1920240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085" algn="l" defTabSz="1920240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5" algn="l" defTabSz="1920240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79690" algn="l" defTabSz="1920240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63.xml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4.png"/><Relationship Id="rId7" Type="http://schemas.openxmlformats.org/officeDocument/2006/relationships/image" Target="../media/image12.png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64.xml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4170045" y="1941830"/>
            <a:ext cx="4339590" cy="8718550"/>
          </a:xfrm>
          <a:prstGeom prst="roundRect">
            <a:avLst>
              <a:gd name="adj" fmla="val 7697"/>
            </a:avLst>
          </a:prstGeom>
          <a:solidFill>
            <a:srgbClr val="F1F4F5"/>
          </a:solidFill>
          <a:ln w="12700" cap="flat" cmpd="sng">
            <a:solidFill>
              <a:srgbClr val="C2CED4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170045" y="1950720"/>
            <a:ext cx="4338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latin typeface="Arial" panose="020B0604020202090204" pitchFamily="34" charset="0"/>
                <a:cs typeface="Arial" panose="020B0604020202090204" pitchFamily="34" charset="0"/>
              </a:rPr>
              <a:t>Development Data</a:t>
            </a:r>
            <a:endParaRPr lang="en-US" altLang="zh-CN" sz="2400" b="1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297045" y="2510790"/>
            <a:ext cx="4070985" cy="3944620"/>
          </a:xfrm>
          <a:prstGeom prst="roundRect">
            <a:avLst>
              <a:gd name="adj" fmla="val 7697"/>
            </a:avLst>
          </a:prstGeom>
          <a:solidFill>
            <a:srgbClr val="DBF0FD"/>
          </a:solidFill>
          <a:ln w="19050" cap="flat" cmpd="sng">
            <a:solidFill>
              <a:schemeClr val="accent1">
                <a:lumMod val="60000"/>
                <a:lumOff val="40000"/>
              </a:scheme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911725" y="2510790"/>
            <a:ext cx="335089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200">
                <a:latin typeface="Arial" panose="020B0604020202090204" pitchFamily="34" charset="0"/>
                <a:cs typeface="Arial" panose="020B0604020202090204" pitchFamily="34" charset="0"/>
              </a:rPr>
              <a:t>Segmentaion &amp; BM Classification</a:t>
            </a:r>
            <a:endParaRPr lang="en-US" altLang="zh-CN" sz="22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10" name="图片 9" descr="数据库,数据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6055" y="2604505"/>
            <a:ext cx="540000" cy="540000"/>
          </a:xfrm>
          <a:prstGeom prst="rect">
            <a:avLst/>
          </a:prstGeom>
        </p:spPr>
      </p:pic>
      <p:sp>
        <p:nvSpPr>
          <p:cNvPr id="12" name="圆角矩形 11"/>
          <p:cNvSpPr/>
          <p:nvPr/>
        </p:nvSpPr>
        <p:spPr>
          <a:xfrm>
            <a:off x="4425950" y="3286760"/>
            <a:ext cx="3836670" cy="46037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b="1">
                <a:solidFill>
                  <a:schemeClr val="accent1">
                    <a:lumMod val="7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rPr>
              <a:t>TN3K</a:t>
            </a:r>
            <a:r>
              <a:rPr lang="en-US" altLang="zh-CN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train: 4,633, val: 100</a:t>
            </a:r>
            <a:endParaRPr lang="en-US" altLang="zh-CN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425950" y="3838575"/>
            <a:ext cx="3836670" cy="7086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b="1">
                <a:solidFill>
                  <a:schemeClr val="accent1">
                    <a:lumMod val="7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rPr>
              <a:t>ThyroidXL</a:t>
            </a:r>
            <a:r>
              <a:rPr lang="en-US" altLang="zh-CN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train: 9,441(3,354), val: 100(85)</a:t>
            </a:r>
            <a:endParaRPr lang="en-US" altLang="zh-CN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425950" y="4622800"/>
            <a:ext cx="3836670" cy="46037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b="1">
                <a:solidFill>
                  <a:schemeClr val="accent1">
                    <a:lumMod val="7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rPr>
              <a:t>PKTN </a:t>
            </a:r>
            <a:r>
              <a:rPr lang="en-US" altLang="zh-CN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train: 703, val: 150</a:t>
            </a:r>
            <a:endParaRPr lang="en-US" altLang="zh-CN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4425950" y="5158740"/>
            <a:ext cx="3836670" cy="46037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b="1">
                <a:solidFill>
                  <a:schemeClr val="accent1">
                    <a:lumMod val="7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rPr>
              <a:t>TN5K</a:t>
            </a:r>
            <a:r>
              <a:rPr lang="en-US" altLang="zh-CN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train: 3,500, val: 500</a:t>
            </a:r>
            <a:endParaRPr lang="en-US" altLang="zh-CN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297045" y="5619115"/>
            <a:ext cx="40709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</a:pPr>
            <a:r>
              <a:rPr lang="en-US" altLang="zh-CN" sz="1600" b="1">
                <a:solidFill>
                  <a:schemeClr val="accent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Seg</a:t>
            </a:r>
            <a:r>
              <a:rPr lang="en-US" altLang="zh-CN" sz="1600">
                <a:latin typeface="Arial" panose="020B0604020202090204" pitchFamily="34" charset="0"/>
                <a:cs typeface="Arial" panose="020B0604020202090204" pitchFamily="34" charset="0"/>
              </a:rPr>
              <a:t> = TN3K + ThyroidXL + TN5K + PKTN</a:t>
            </a:r>
            <a:endParaRPr lang="en-US" altLang="zh-CN" sz="160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zh-CN" sz="1600" b="1">
                <a:solidFill>
                  <a:schemeClr val="accent1"/>
                </a:solidFill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Cls</a:t>
            </a:r>
            <a:r>
              <a:rPr lang="en-US" altLang="zh-CN" sz="160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 = TN3K + ThyroidXL + TN5K</a:t>
            </a:r>
            <a:endParaRPr lang="en-US" altLang="zh-CN" sz="1600">
              <a:latin typeface="Arial" panose="020B0604020202090204" pitchFamily="34" charset="0"/>
              <a:cs typeface="Arial" panose="020B0604020202090204" pitchFamily="34" charset="0"/>
              <a:sym typeface="+mn-ea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4297045" y="6561455"/>
            <a:ext cx="4070985" cy="2781300"/>
          </a:xfrm>
          <a:prstGeom prst="roundRect">
            <a:avLst>
              <a:gd name="adj" fmla="val 11712"/>
            </a:avLst>
          </a:prstGeom>
          <a:solidFill>
            <a:srgbClr val="F8EAD7"/>
          </a:solidFill>
          <a:ln w="19050" cap="flat" cmpd="sng">
            <a:solidFill>
              <a:schemeClr val="accent2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 descr="数据库,数据 (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205" y="6660515"/>
            <a:ext cx="540000" cy="5400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5017135" y="6660515"/>
            <a:ext cx="335089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200">
                <a:latin typeface="Arial" panose="020B0604020202090204" pitchFamily="34" charset="0"/>
                <a:cs typeface="Arial" panose="020B0604020202090204" pitchFamily="34" charset="0"/>
              </a:rPr>
              <a:t>LNM &amp; FTC/PTC</a:t>
            </a:r>
            <a:endParaRPr lang="en-US" altLang="zh-CN" sz="22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4425315" y="7294880"/>
            <a:ext cx="3836670" cy="4597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b="1">
                <a:solidFill>
                  <a:schemeClr val="accent1">
                    <a:lumMod val="7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rPr>
              <a:t>ZJH-8K malignant</a:t>
            </a:r>
            <a:r>
              <a:rPr lang="en-US" altLang="zh-CN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: 4,573(723)</a:t>
            </a:r>
            <a:endParaRPr lang="en-US" altLang="zh-CN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4424680" y="7887970"/>
            <a:ext cx="3836670" cy="46037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b="1">
                <a:solidFill>
                  <a:schemeClr val="accent1">
                    <a:lumMod val="7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LymphUs Center1</a:t>
            </a:r>
            <a:r>
              <a:rPr lang="en-US" altLang="zh-CN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: 180</a:t>
            </a:r>
            <a:endParaRPr lang="en-US" altLang="zh-CN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424680" y="8403590"/>
            <a:ext cx="39433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</a:pPr>
            <a:r>
              <a:rPr lang="en-US" altLang="zh-CN" sz="1600" b="1">
                <a:solidFill>
                  <a:schemeClr val="accent2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LNM</a:t>
            </a:r>
            <a:r>
              <a:rPr lang="en-US" altLang="zh-CN" sz="160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= </a:t>
            </a:r>
            <a:r>
              <a:rPr lang="en-US" altLang="zh-CN" sz="160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ZJH-8K malignant + LymphUs C1</a:t>
            </a:r>
            <a:endParaRPr lang="en-US" altLang="zh-CN" sz="160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zh-CN" sz="1600" b="1">
                <a:solidFill>
                  <a:schemeClr val="accent2"/>
                </a:solidFill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FTC/PTC </a:t>
            </a:r>
            <a:r>
              <a:rPr lang="en-US" altLang="zh-CN" sz="160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= </a:t>
            </a:r>
            <a:r>
              <a:rPr lang="en-US" altLang="zh-CN" sz="160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ZJH-8K malignant</a:t>
            </a:r>
            <a:endParaRPr lang="en-US" altLang="zh-CN" sz="160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  <a:sym typeface="+mn-ea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4297045" y="9613265"/>
            <a:ext cx="4070985" cy="868045"/>
          </a:xfrm>
          <a:prstGeom prst="roundRect">
            <a:avLst>
              <a:gd name="adj" fmla="val 15768"/>
            </a:avLst>
          </a:prstGeom>
          <a:solidFill>
            <a:srgbClr val="EEE1FB"/>
          </a:solidFill>
          <a:ln w="19050" cap="flat" cmpd="sng">
            <a:solidFill>
              <a:srgbClr val="7030A0"/>
            </a:solidFill>
            <a:prstDash val="lgDash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7" name="直接连接符 26"/>
          <p:cNvCxnSpPr>
            <a:stCxn id="18" idx="2"/>
            <a:endCxn id="26" idx="0"/>
          </p:cNvCxnSpPr>
          <p:nvPr/>
        </p:nvCxnSpPr>
        <p:spPr>
          <a:xfrm>
            <a:off x="6332855" y="9342755"/>
            <a:ext cx="0" cy="270510"/>
          </a:xfrm>
          <a:prstGeom prst="line">
            <a:avLst/>
          </a:prstGeom>
          <a:ln w="25400">
            <a:solidFill>
              <a:srgbClr val="7030A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5017135" y="9679305"/>
            <a:ext cx="335089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200">
                <a:latin typeface="Arial" panose="020B0604020202090204" pitchFamily="34" charset="0"/>
                <a:cs typeface="Arial" panose="020B0604020202090204" pitchFamily="34" charset="0"/>
              </a:rPr>
              <a:t>Malignant dev validation = 5-fold CV</a:t>
            </a:r>
            <a:endParaRPr lang="en-US" altLang="zh-CN" sz="22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29" name="图片 28" descr="数据库,数据 (3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205" y="9748520"/>
            <a:ext cx="540000" cy="540000"/>
          </a:xfrm>
          <a:prstGeom prst="rect">
            <a:avLst/>
          </a:prstGeom>
        </p:spPr>
      </p:pic>
      <p:sp>
        <p:nvSpPr>
          <p:cNvPr id="30" name="圆角矩形 29"/>
          <p:cNvSpPr/>
          <p:nvPr/>
        </p:nvSpPr>
        <p:spPr>
          <a:xfrm>
            <a:off x="8933180" y="1950720"/>
            <a:ext cx="5571490" cy="8718550"/>
          </a:xfrm>
          <a:prstGeom prst="roundRect">
            <a:avLst>
              <a:gd name="adj" fmla="val 7697"/>
            </a:avLst>
          </a:prstGeom>
          <a:solidFill>
            <a:srgbClr val="F1F4F5"/>
          </a:solidFill>
          <a:ln w="12700" cap="flat" cmpd="sng">
            <a:solidFill>
              <a:srgbClr val="C2CED4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8933180" y="1950720"/>
            <a:ext cx="54673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latin typeface="Arial" panose="020B0604020202090204" pitchFamily="34" charset="0"/>
                <a:cs typeface="Arial" panose="020B0604020202090204" pitchFamily="34" charset="0"/>
              </a:rPr>
              <a:t>Shared Pipeline</a:t>
            </a:r>
            <a:endParaRPr lang="en-US" altLang="zh-CN" sz="2400" b="1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9063355" y="2510790"/>
            <a:ext cx="5336540" cy="3493135"/>
          </a:xfrm>
          <a:prstGeom prst="roundRect">
            <a:avLst>
              <a:gd name="adj" fmla="val 7697"/>
            </a:avLst>
          </a:prstGeom>
          <a:solidFill>
            <a:schemeClr val="bg1"/>
          </a:solidFill>
          <a:ln w="19050" cap="flat" cmpd="sng">
            <a:solidFill>
              <a:schemeClr val="bg1">
                <a:lumMod val="65000"/>
              </a:scheme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10426065" y="2586990"/>
            <a:ext cx="2315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400" b="1">
                <a:latin typeface="Arial" panose="020B0604020202090204" pitchFamily="34" charset="0"/>
                <a:cs typeface="Arial" panose="020B0604020202090204" pitchFamily="34" charset="0"/>
              </a:rPr>
              <a:t>Expert Pool</a:t>
            </a:r>
            <a:endParaRPr lang="en-US" altLang="zh-CN" sz="2400" b="1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42" name="图片 41" descr="file_000000003c2481f599a23420d4afbb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5745" y="3054350"/>
            <a:ext cx="1260000" cy="1260000"/>
          </a:xfrm>
          <a:prstGeom prst="rect">
            <a:avLst/>
          </a:prstGeom>
        </p:spPr>
      </p:pic>
      <p:sp>
        <p:nvSpPr>
          <p:cNvPr id="51" name="圆角矩形 50"/>
          <p:cNvSpPr/>
          <p:nvPr/>
        </p:nvSpPr>
        <p:spPr>
          <a:xfrm>
            <a:off x="10426065" y="3047365"/>
            <a:ext cx="3827780" cy="709295"/>
          </a:xfrm>
          <a:prstGeom prst="roundRect">
            <a:avLst>
              <a:gd name="adj" fmla="val 931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5" name="图片 44" descr="file_00000000ac9c81fd8d8e732fb8a02ee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5599" y="3047365"/>
            <a:ext cx="720000" cy="720000"/>
          </a:xfrm>
          <a:prstGeom prst="rect">
            <a:avLst/>
          </a:prstGeom>
        </p:spPr>
      </p:pic>
      <p:sp>
        <p:nvSpPr>
          <p:cNvPr id="46" name="文本框 45"/>
          <p:cNvSpPr txBox="1"/>
          <p:nvPr/>
        </p:nvSpPr>
        <p:spPr>
          <a:xfrm>
            <a:off x="11098800" y="3054350"/>
            <a:ext cx="2315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b="1">
                <a:latin typeface="Arial" panose="020B0604020202090204" pitchFamily="34" charset="0"/>
                <a:cs typeface="Arial" panose="020B0604020202090204" pitchFamily="34" charset="0"/>
              </a:rPr>
              <a:t>Image experts</a:t>
            </a:r>
            <a:endParaRPr lang="en-US" altLang="zh-CN" b="1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1098800" y="3388360"/>
            <a:ext cx="29070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600">
                <a:latin typeface="Arial Regular" panose="020B0604020202090204" charset="0"/>
                <a:cs typeface="Arial Regular" panose="020B0604020202090204" charset="0"/>
              </a:rPr>
              <a:t>D</a:t>
            </a:r>
            <a:r>
              <a:rPr lang="en-US" altLang="zh-CN" sz="1600">
                <a:latin typeface="Arial Regular" panose="020B0604020202090204" charset="0"/>
                <a:cs typeface="Arial Regular" panose="020B0604020202090204" charset="0"/>
              </a:rPr>
              <a:t>INO checkpoints</a:t>
            </a:r>
            <a:r>
              <a:rPr lang="zh-CN" altLang="en-US" sz="1600">
                <a:latin typeface="Arial Regular" panose="020B0604020202090204" charset="0"/>
                <a:cs typeface="Arial Regular" panose="020B0604020202090204" charset="0"/>
              </a:rPr>
              <a:t>（</a:t>
            </a:r>
            <a:r>
              <a:rPr lang="en-US" altLang="zh-CN" sz="1600">
                <a:latin typeface="Arial Regular" panose="020B0604020202090204" charset="0"/>
                <a:cs typeface="Arial Regular" panose="020B0604020202090204" charset="0"/>
              </a:rPr>
              <a:t>seg + cls</a:t>
            </a:r>
            <a:r>
              <a:rPr lang="zh-CN" altLang="en-US" sz="1600">
                <a:latin typeface="Arial Regular" panose="020B0604020202090204" charset="0"/>
                <a:cs typeface="Arial Regular" panose="020B0604020202090204" charset="0"/>
              </a:rPr>
              <a:t>）</a:t>
            </a:r>
            <a:endParaRPr lang="zh-CN" altLang="en-US" sz="160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10426065" y="3818890"/>
            <a:ext cx="3827780" cy="709295"/>
          </a:xfrm>
          <a:prstGeom prst="roundRect">
            <a:avLst>
              <a:gd name="adj" fmla="val 931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8" name="图片 47" descr="file_00000000a1b081fd8b37534aae269df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6065" y="3838575"/>
            <a:ext cx="720000" cy="720000"/>
          </a:xfrm>
          <a:prstGeom prst="rect">
            <a:avLst/>
          </a:prstGeom>
        </p:spPr>
      </p:pic>
      <p:sp>
        <p:nvSpPr>
          <p:cNvPr id="49" name="文本框 48"/>
          <p:cNvSpPr txBox="1"/>
          <p:nvPr/>
        </p:nvSpPr>
        <p:spPr>
          <a:xfrm>
            <a:off x="11098800" y="3843655"/>
            <a:ext cx="2315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b="1">
                <a:latin typeface="Arial" panose="020B0604020202090204" pitchFamily="34" charset="0"/>
                <a:cs typeface="Arial" panose="020B0604020202090204" pitchFamily="34" charset="0"/>
              </a:rPr>
              <a:t>Tabular expert</a:t>
            </a:r>
            <a:endParaRPr lang="en-US" altLang="zh-CN" b="1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1098800" y="4177665"/>
            <a:ext cx="34982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400">
                <a:latin typeface="Arial Regular" panose="020B0604020202090204" charset="0"/>
                <a:cs typeface="Arial Regular" panose="020B0604020202090204" charset="0"/>
              </a:rPr>
              <a:t>PyRadiomics 2D + AutoGluon Tabular</a:t>
            </a:r>
            <a:endParaRPr lang="en-US" sz="140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9135110" y="4595495"/>
            <a:ext cx="511937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 latinLnBrk="1">
              <a:buFont typeface="Arial" panose="020B0604020202090204" pitchFamily="34" charset="0"/>
              <a:buNone/>
            </a:pPr>
            <a:r>
              <a:rPr lang="en-US" altLang="zh-CN" sz="1600">
                <a:latin typeface="Arial" panose="020B0604020202090204" pitchFamily="34" charset="0"/>
                <a:cs typeface="Arial" panose="020B0604020202090204" pitchFamily="34" charset="0"/>
              </a:rPr>
              <a:t>Image experts — DINO (seg + cls)</a:t>
            </a:r>
            <a:endParaRPr lang="en-US" altLang="zh-CN" sz="160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indent="0" fontAlgn="auto" latinLnBrk="1">
              <a:buFont typeface="Arial" panose="020B0604020202090204" pitchFamily="34" charset="0"/>
              <a:buNone/>
            </a:pPr>
            <a:r>
              <a:rPr lang="en-US" altLang="zh-CN" sz="1600">
                <a:latin typeface="Arial" panose="020B0604020202090204" pitchFamily="34" charset="0"/>
                <a:cs typeface="Arial" panose="020B0604020202090204" pitchFamily="34" charset="0"/>
              </a:rPr>
              <a:t>Tabular expert — PyRadiomics + AutoGluon</a:t>
            </a:r>
            <a:endParaRPr lang="en-US" altLang="zh-CN" sz="160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 fontAlgn="auto" latinLnBrk="1">
              <a:buFont typeface="Arial" panose="020B0604020202090204" pitchFamily="34" charset="0"/>
              <a:buChar char="•"/>
            </a:pPr>
            <a:r>
              <a:rPr lang="en-US" altLang="zh-CN" sz="1600">
                <a:latin typeface="Arial" panose="020B0604020202090204" pitchFamily="34" charset="0"/>
                <a:cs typeface="Arial" panose="020B0604020202090204" pitchFamily="34" charset="0"/>
              </a:rPr>
              <a:t>GT masks on cls development set</a:t>
            </a:r>
            <a:endParaRPr lang="en-US" altLang="zh-CN" sz="160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 fontAlgn="auto" latinLnBrk="1">
              <a:buFont typeface="Arial" panose="020B0604020202090204" pitchFamily="34" charset="0"/>
              <a:buChar char="•"/>
            </a:pPr>
            <a:r>
              <a:rPr lang="en-US" altLang="zh-CN" sz="1600">
                <a:latin typeface="Arial" panose="020B0604020202090204" pitchFamily="34" charset="0"/>
                <a:cs typeface="Arial" panose="020B0604020202090204" pitchFamily="34" charset="0"/>
              </a:rPr>
              <a:t>600 s budget; 8-fold bagged CV (internal)</a:t>
            </a:r>
            <a:endParaRPr lang="en-US" altLang="zh-CN" sz="160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 fontAlgn="auto" latinLnBrk="1">
              <a:buFont typeface="Arial" panose="020B0604020202090204" pitchFamily="34" charset="0"/>
              <a:buChar char="•"/>
            </a:pPr>
            <a:r>
              <a:rPr lang="en-US" altLang="zh-CN" sz="1600">
                <a:latin typeface="Arial" panose="020B0604020202090204" pitchFamily="34" charset="0"/>
                <a:cs typeface="Arial" panose="020B0604020202090204" pitchFamily="34" charset="0"/>
              </a:rPr>
              <a:t>Subtasks: separate tabular models on orange pool</a:t>
            </a:r>
            <a:endParaRPr lang="en-US" altLang="zh-CN" sz="16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9063355" y="6301105"/>
            <a:ext cx="5336540" cy="1892935"/>
          </a:xfrm>
          <a:prstGeom prst="roundRect">
            <a:avLst>
              <a:gd name="adj" fmla="val 7697"/>
            </a:avLst>
          </a:prstGeom>
          <a:solidFill>
            <a:srgbClr val="FEF5E4"/>
          </a:solidFill>
          <a:ln w="19050" cap="flat" cmpd="sng">
            <a:solidFill>
              <a:schemeClr val="accent2">
                <a:lumMod val="75000"/>
              </a:schemeClr>
            </a:solidFill>
            <a:prstDash val="lgDash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7" name="图片 56" descr="file_0000000085ec81fdbe1d3c5acd0b562b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3910" y="6455410"/>
            <a:ext cx="1260000" cy="1260000"/>
          </a:xfrm>
          <a:prstGeom prst="rect">
            <a:avLst/>
          </a:prstGeom>
        </p:spPr>
      </p:pic>
      <p:sp>
        <p:nvSpPr>
          <p:cNvPr id="58" name="文本框 57"/>
          <p:cNvSpPr txBox="1"/>
          <p:nvPr/>
        </p:nvSpPr>
        <p:spPr>
          <a:xfrm>
            <a:off x="10426065" y="6341745"/>
            <a:ext cx="2315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400" b="1">
                <a:latin typeface="Arial" panose="020B0604020202090204" pitchFamily="34" charset="0"/>
                <a:cs typeface="Arial" panose="020B0604020202090204" pitchFamily="34" charset="0"/>
              </a:rPr>
              <a:t>Router</a:t>
            </a:r>
            <a:endParaRPr lang="en-US" altLang="zh-CN" sz="2400" b="1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59" name="下箭头 58"/>
          <p:cNvSpPr/>
          <p:nvPr/>
        </p:nvSpPr>
        <p:spPr>
          <a:xfrm>
            <a:off x="11443335" y="6004560"/>
            <a:ext cx="551180" cy="303530"/>
          </a:xfrm>
          <a:prstGeom prst="downArrow">
            <a:avLst/>
          </a:prstGeom>
          <a:solidFill>
            <a:srgbClr val="00B050"/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10395585" y="6697345"/>
            <a:ext cx="397510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zh-CN">
                <a:latin typeface="Arial" panose="020B0604020202090204" pitchFamily="34" charset="0"/>
                <a:cs typeface="Arial" panose="020B0604020202090204" pitchFamily="34" charset="0"/>
              </a:rPr>
              <a:t>Validation on main-task val (left)</a:t>
            </a:r>
            <a:endParaRPr lang="en-US" altLang="zh-CN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zh-CN">
                <a:latin typeface="Arial" panose="020B0604020202090204" pitchFamily="34" charset="0"/>
                <a:cs typeface="Arial" panose="020B0604020202090204" pitchFamily="34" charset="0"/>
              </a:rPr>
              <a:t>· Expert selection · Learned router</a:t>
            </a:r>
            <a:endParaRPr lang="en-US" altLang="zh-CN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zh-CN">
                <a:latin typeface="Arial" panose="020B0604020202090204" pitchFamily="34" charset="0"/>
                <a:cs typeface="Arial" panose="020B0604020202090204" pitchFamily="34" charset="0"/>
              </a:rPr>
              <a:t>· Referral thresholds · Frozen at test </a:t>
            </a:r>
            <a:endParaRPr lang="en-US" altLang="zh-CN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61" name="下箭头 60"/>
          <p:cNvSpPr/>
          <p:nvPr/>
        </p:nvSpPr>
        <p:spPr>
          <a:xfrm>
            <a:off x="11443335" y="8194040"/>
            <a:ext cx="551180" cy="303530"/>
          </a:xfrm>
          <a:prstGeom prst="downArrow">
            <a:avLst/>
          </a:prstGeom>
          <a:solidFill>
            <a:srgbClr val="00B050"/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圆角矩形 61"/>
          <p:cNvSpPr/>
          <p:nvPr/>
        </p:nvSpPr>
        <p:spPr>
          <a:xfrm>
            <a:off x="9034145" y="8497570"/>
            <a:ext cx="5336540" cy="1983740"/>
          </a:xfrm>
          <a:prstGeom prst="roundRect">
            <a:avLst>
              <a:gd name="adj" fmla="val 7697"/>
            </a:avLst>
          </a:prstGeom>
          <a:solidFill>
            <a:schemeClr val="bg1"/>
          </a:solidFill>
          <a:ln w="19050" cap="flat" cmpd="sng">
            <a:solidFill>
              <a:schemeClr val="bg1">
                <a:lumMod val="65000"/>
              </a:scheme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3" name="图片 62" descr="file_00000000f9b081fd8519bda6b66582c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6225" y="8695055"/>
            <a:ext cx="1260000" cy="1260000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10395585" y="8558530"/>
            <a:ext cx="39757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400" b="1">
                <a:latin typeface="Arial" panose="020B0604020202090204" pitchFamily="34" charset="0"/>
                <a:cs typeface="Arial" panose="020B0604020202090204" pitchFamily="34" charset="0"/>
              </a:rPr>
              <a:t>Case / Inference outputs</a:t>
            </a:r>
            <a:endParaRPr lang="en-US" altLang="zh-CN" sz="2400" b="1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10403840" y="9018905"/>
            <a:ext cx="3975100" cy="1429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buFont typeface="Arial" panose="020B0604020202090204" pitchFamily="34" charset="0"/>
              <a:buNone/>
            </a:pPr>
            <a:r>
              <a:rPr lang="en-US" altLang="zh-CN">
                <a:latin typeface="Arial" panose="020B0604020202090204" pitchFamily="34" charset="0"/>
                <a:cs typeface="Arial" panose="020B0604020202090204" pitchFamily="34" charset="0"/>
              </a:rPr>
              <a:t>Selected nodule mask (segmentation)</a:t>
            </a:r>
            <a:endParaRPr lang="en-US" altLang="zh-CN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indent="0" fontAlgn="auto">
              <a:buFont typeface="Arial" panose="020B0604020202090204" pitchFamily="34" charset="0"/>
              <a:buNone/>
            </a:pPr>
            <a:r>
              <a:rPr lang="en-US" altLang="zh-CN">
                <a:latin typeface="Arial" panose="020B0604020202090204" pitchFamily="34" charset="0"/>
                <a:cs typeface="Arial" panose="020B0604020202090204" pitchFamily="34" charset="0"/>
              </a:rPr>
              <a:t>Malignancy decision (classification)</a:t>
            </a:r>
            <a:endParaRPr lang="en-US" altLang="zh-CN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 fontAlgn="auto">
              <a:buFont typeface="Arial" panose="020B0604020202090204" pitchFamily="34" charset="0"/>
              <a:buChar char="•"/>
            </a:pPr>
            <a:r>
              <a:rPr lang="en-US" altLang="zh-CN">
                <a:latin typeface="Arial" panose="020B0604020202090204" pitchFamily="34" charset="0"/>
                <a:cs typeface="Arial" panose="020B0604020202090204" pitchFamily="34" charset="0"/>
              </a:rPr>
              <a:t>Agreeing classifiers → direct label</a:t>
            </a:r>
            <a:endParaRPr lang="en-US" altLang="zh-CN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 fontAlgn="auto">
              <a:buFont typeface="Arial" panose="020B0604020202090204" pitchFamily="34" charset="0"/>
              <a:buChar char="•"/>
            </a:pPr>
            <a:r>
              <a:rPr lang="en-US" altLang="zh-CN">
                <a:latin typeface="Arial" panose="020B0604020202090204" pitchFamily="34" charset="0"/>
                <a:cs typeface="Arial" panose="020B0604020202090204" pitchFamily="34" charset="0"/>
              </a:rPr>
              <a:t>Else fused outputs (LLM in primary)</a:t>
            </a:r>
            <a:endParaRPr lang="en-US" altLang="zh-CN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cxnSp>
        <p:nvCxnSpPr>
          <p:cNvPr id="71" name="肘形连接符 70"/>
          <p:cNvCxnSpPr/>
          <p:nvPr/>
        </p:nvCxnSpPr>
        <p:spPr>
          <a:xfrm>
            <a:off x="8262620" y="2894965"/>
            <a:ext cx="800735" cy="1362710"/>
          </a:xfrm>
          <a:prstGeom prst="bentConnector3">
            <a:avLst>
              <a:gd name="adj1" fmla="val 51387"/>
            </a:avLst>
          </a:prstGeom>
          <a:ln w="63500" cap="rnd">
            <a:solidFill>
              <a:srgbClr val="00B050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肘形连接符 71"/>
          <p:cNvCxnSpPr>
            <a:stCxn id="20" idx="3"/>
            <a:endCxn id="38" idx="1"/>
          </p:cNvCxnSpPr>
          <p:nvPr/>
        </p:nvCxnSpPr>
        <p:spPr>
          <a:xfrm flipV="1">
            <a:off x="8368030" y="4257675"/>
            <a:ext cx="695325" cy="2618105"/>
          </a:xfrm>
          <a:prstGeom prst="bentConnector3">
            <a:avLst>
              <a:gd name="adj1" fmla="val 43744"/>
            </a:avLst>
          </a:prstGeom>
          <a:ln w="63500" cap="rnd">
            <a:solidFill>
              <a:srgbClr val="00B050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3" name="圆角矩形 72"/>
          <p:cNvSpPr/>
          <p:nvPr/>
        </p:nvSpPr>
        <p:spPr>
          <a:xfrm>
            <a:off x="14879320" y="1950720"/>
            <a:ext cx="5571490" cy="5848350"/>
          </a:xfrm>
          <a:prstGeom prst="roundRect">
            <a:avLst>
              <a:gd name="adj" fmla="val 7697"/>
            </a:avLst>
          </a:prstGeom>
          <a:solidFill>
            <a:srgbClr val="E6F0E8"/>
          </a:solidFill>
          <a:ln w="12700" cap="flat" cmpd="sng">
            <a:solidFill>
              <a:schemeClr val="bg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14879320" y="1964690"/>
            <a:ext cx="55714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latin typeface="Arial" panose="020B0604020202090204" pitchFamily="34" charset="0"/>
                <a:cs typeface="Arial" panose="020B0604020202090204" pitchFamily="34" charset="0"/>
              </a:rPr>
              <a:t>External evaluation</a:t>
            </a:r>
            <a:endParaRPr lang="en-US" altLang="zh-CN" sz="2400" b="1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15121890" y="4853305"/>
            <a:ext cx="507111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6" name="图片 75" descr="file_00000000a32881f5985f0d7e42db1b0f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000605" y="3054350"/>
            <a:ext cx="1080000" cy="1080000"/>
          </a:xfrm>
          <a:prstGeom prst="rect">
            <a:avLst/>
          </a:prstGeom>
        </p:spPr>
      </p:pic>
      <p:sp>
        <p:nvSpPr>
          <p:cNvPr id="77" name="文本框 76"/>
          <p:cNvSpPr txBox="1"/>
          <p:nvPr/>
        </p:nvSpPr>
        <p:spPr>
          <a:xfrm>
            <a:off x="16181070" y="2425065"/>
            <a:ext cx="335026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200" b="1">
                <a:latin typeface="Arial" panose="020B0604020202090204" pitchFamily="34" charset="0"/>
                <a:cs typeface="Arial" panose="020B0604020202090204" pitchFamily="34" charset="0"/>
              </a:rPr>
              <a:t>Public benchmarks</a:t>
            </a:r>
            <a:endParaRPr lang="en-US" altLang="zh-CN" sz="2200" b="1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80" name="圆角矩形 79"/>
          <p:cNvSpPr/>
          <p:nvPr/>
        </p:nvSpPr>
        <p:spPr>
          <a:xfrm>
            <a:off x="18321655" y="2854960"/>
            <a:ext cx="2025650" cy="6096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1">
                    <a:lumMod val="7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rPr>
              <a:t>ThyroidXL</a:t>
            </a:r>
            <a:r>
              <a:rPr lang="en-US" altLang="zh-CN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2,090(739)</a:t>
            </a:r>
            <a:endParaRPr lang="en-US" altLang="zh-CN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83" name="圆角矩形 82"/>
          <p:cNvSpPr/>
          <p:nvPr/>
        </p:nvSpPr>
        <p:spPr>
          <a:xfrm>
            <a:off x="16181070" y="2854960"/>
            <a:ext cx="2025650" cy="6096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1">
                    <a:lumMod val="7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rPr>
              <a:t>TN3K</a:t>
            </a:r>
            <a:r>
              <a:rPr lang="en-US" altLang="zh-CN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614</a:t>
            </a:r>
            <a:endParaRPr lang="en-US" altLang="zh-CN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84" name="圆角矩形 83"/>
          <p:cNvSpPr/>
          <p:nvPr/>
        </p:nvSpPr>
        <p:spPr>
          <a:xfrm>
            <a:off x="16181070" y="3505200"/>
            <a:ext cx="2025650" cy="6096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1">
                    <a:lumMod val="7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rPr>
              <a:t>TN5K</a:t>
            </a:r>
            <a:r>
              <a:rPr lang="en-US" altLang="zh-CN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1,000</a:t>
            </a:r>
            <a:endParaRPr lang="en-US" altLang="zh-CN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85" name="圆角矩形 84"/>
          <p:cNvSpPr/>
          <p:nvPr/>
        </p:nvSpPr>
        <p:spPr>
          <a:xfrm>
            <a:off x="18321655" y="3505200"/>
            <a:ext cx="2025650" cy="6096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1">
                    <a:lumMod val="7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rPr>
              <a:t>PKTN</a:t>
            </a:r>
            <a:r>
              <a:rPr lang="en-US" altLang="zh-CN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150</a:t>
            </a:r>
            <a:endParaRPr lang="en-US" altLang="zh-CN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86" name="圆角矩形 85"/>
          <p:cNvSpPr/>
          <p:nvPr/>
        </p:nvSpPr>
        <p:spPr>
          <a:xfrm>
            <a:off x="16181070" y="4168140"/>
            <a:ext cx="2025650" cy="6096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1">
                    <a:lumMod val="7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rPr>
              <a:t>DDTI</a:t>
            </a:r>
            <a:r>
              <a:rPr lang="en-US" altLang="zh-CN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637</a:t>
            </a:r>
            <a:endParaRPr lang="en-US" altLang="zh-CN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87" name="圆角矩形 86"/>
          <p:cNvSpPr/>
          <p:nvPr/>
        </p:nvSpPr>
        <p:spPr>
          <a:xfrm>
            <a:off x="18321655" y="4168140"/>
            <a:ext cx="2025650" cy="6096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1">
                    <a:lumMod val="7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rPr>
              <a:t>RJH-7K</a:t>
            </a:r>
            <a:r>
              <a:rPr lang="en-US" altLang="zh-CN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7,288</a:t>
            </a:r>
            <a:endParaRPr lang="en-US" altLang="zh-CN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88" name="图片 87" descr="file_00000000d7d481f5aba961187503c1a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00605" y="4872990"/>
            <a:ext cx="1080000" cy="1080000"/>
          </a:xfrm>
          <a:prstGeom prst="rect">
            <a:avLst/>
          </a:prstGeom>
        </p:spPr>
      </p:pic>
      <p:sp>
        <p:nvSpPr>
          <p:cNvPr id="89" name="文本框 88"/>
          <p:cNvSpPr txBox="1"/>
          <p:nvPr/>
        </p:nvSpPr>
        <p:spPr>
          <a:xfrm>
            <a:off x="16181070" y="4922520"/>
            <a:ext cx="335026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200" b="1">
                <a:latin typeface="Arial" panose="020B0604020202090204" pitchFamily="34" charset="0"/>
                <a:cs typeface="Arial" panose="020B0604020202090204" pitchFamily="34" charset="0"/>
              </a:rPr>
              <a:t>Institutional hold-out</a:t>
            </a:r>
            <a:endParaRPr lang="en-US" altLang="zh-CN" sz="2200" b="1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90" name="圆角矩形 89"/>
          <p:cNvSpPr/>
          <p:nvPr/>
        </p:nvSpPr>
        <p:spPr>
          <a:xfrm>
            <a:off x="16181070" y="5405755"/>
            <a:ext cx="2394585" cy="46037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1">
                    <a:lumMod val="7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rPr>
              <a:t>ZJH-8K</a:t>
            </a:r>
            <a:r>
              <a:rPr lang="en-US" altLang="zh-CN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7,958(1,146)</a:t>
            </a:r>
            <a:endParaRPr lang="en-US" altLang="zh-CN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15121890" y="5978525"/>
            <a:ext cx="507111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2" name="图片 91" descr="file_00000000cd8c81f881af13afba2eb26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000605" y="5957570"/>
            <a:ext cx="1080000" cy="1080000"/>
          </a:xfrm>
          <a:prstGeom prst="rect">
            <a:avLst/>
          </a:prstGeom>
        </p:spPr>
      </p:pic>
      <p:sp>
        <p:nvSpPr>
          <p:cNvPr id="93" name="文本框 92"/>
          <p:cNvSpPr txBox="1"/>
          <p:nvPr/>
        </p:nvSpPr>
        <p:spPr>
          <a:xfrm>
            <a:off x="16181070" y="6045200"/>
            <a:ext cx="335026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200" b="1">
                <a:latin typeface="Arial" panose="020B0604020202090204" pitchFamily="34" charset="0"/>
                <a:cs typeface="Arial" panose="020B0604020202090204" pitchFamily="34" charset="0"/>
              </a:rPr>
              <a:t>Multicentre private</a:t>
            </a:r>
            <a:endParaRPr lang="en-US" altLang="zh-CN" sz="2200" b="1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94" name="圆角矩形 93"/>
          <p:cNvSpPr/>
          <p:nvPr/>
        </p:nvSpPr>
        <p:spPr>
          <a:xfrm>
            <a:off x="16181070" y="6493510"/>
            <a:ext cx="2394585" cy="46037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1">
                    <a:lumMod val="7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rPr>
              <a:t>NHC</a:t>
            </a:r>
            <a:r>
              <a:rPr lang="en-US" altLang="zh-CN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8,721</a:t>
            </a:r>
            <a:endParaRPr lang="en-US" altLang="zh-CN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cxnSp>
        <p:nvCxnSpPr>
          <p:cNvPr id="95" name="直接连接符 94"/>
          <p:cNvCxnSpPr/>
          <p:nvPr/>
        </p:nvCxnSpPr>
        <p:spPr>
          <a:xfrm>
            <a:off x="15121890" y="7090410"/>
            <a:ext cx="507111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6" name="图片 95" descr="file_00000000ff8881f58e1705bf70fdccbc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121890" y="7079615"/>
            <a:ext cx="720000" cy="720000"/>
          </a:xfrm>
          <a:prstGeom prst="rect">
            <a:avLst/>
          </a:prstGeom>
        </p:spPr>
      </p:pic>
      <p:sp>
        <p:nvSpPr>
          <p:cNvPr id="97" name="文本框 96"/>
          <p:cNvSpPr txBox="1"/>
          <p:nvPr/>
        </p:nvSpPr>
        <p:spPr>
          <a:xfrm>
            <a:off x="16080740" y="7273925"/>
            <a:ext cx="426974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200" b="1">
                <a:latin typeface="Arial" panose="020B0604020202090204" pitchFamily="34" charset="0"/>
                <a:cs typeface="Arial" panose="020B0604020202090204" pitchFamily="34" charset="0"/>
              </a:rPr>
              <a:t>Evaluate only - frozen pipeline</a:t>
            </a:r>
            <a:endParaRPr lang="en-US" altLang="zh-CN" sz="2200" b="1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98" name="圆角矩形 97"/>
          <p:cNvSpPr/>
          <p:nvPr/>
        </p:nvSpPr>
        <p:spPr>
          <a:xfrm>
            <a:off x="14879320" y="7887970"/>
            <a:ext cx="5571490" cy="2781300"/>
          </a:xfrm>
          <a:prstGeom prst="roundRect">
            <a:avLst>
              <a:gd name="adj" fmla="val 7697"/>
            </a:avLst>
          </a:prstGeom>
          <a:solidFill>
            <a:srgbClr val="F2E9FD"/>
          </a:solidFill>
          <a:ln w="25400" cap="flat" cmpd="sng">
            <a:solidFill>
              <a:srgbClr val="7030A0"/>
            </a:solidFill>
            <a:prstDash val="lgDash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9" name="文本框 98"/>
          <p:cNvSpPr txBox="1"/>
          <p:nvPr/>
        </p:nvSpPr>
        <p:spPr>
          <a:xfrm>
            <a:off x="15200630" y="7887970"/>
            <a:ext cx="49136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latin typeface="Arial" panose="020B0604020202090204" pitchFamily="34" charset="0"/>
                <a:cs typeface="Arial" panose="020B0604020202090204" pitchFamily="34" charset="0"/>
              </a:rPr>
              <a:t>Dual-role cohort (ZJH)</a:t>
            </a:r>
            <a:endParaRPr lang="en-US" altLang="zh-CN" sz="2400" b="1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00" name="圆角矩形 99"/>
          <p:cNvSpPr/>
          <p:nvPr/>
        </p:nvSpPr>
        <p:spPr>
          <a:xfrm>
            <a:off x="16323310" y="8403590"/>
            <a:ext cx="2683510" cy="46037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ZJH malignant subset</a:t>
            </a:r>
            <a:endParaRPr lang="en-US" altLang="zh-CN" b="1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01" name="圆角矩形 100"/>
          <p:cNvSpPr/>
          <p:nvPr/>
        </p:nvSpPr>
        <p:spPr>
          <a:xfrm>
            <a:off x="15121890" y="9197340"/>
            <a:ext cx="2340000" cy="46037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LNM dev</a:t>
            </a:r>
            <a:endParaRPr lang="en-US" altLang="zh-CN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02" name="圆角矩形 101"/>
          <p:cNvSpPr/>
          <p:nvPr/>
        </p:nvSpPr>
        <p:spPr>
          <a:xfrm>
            <a:off x="15121890" y="9833610"/>
            <a:ext cx="2339975" cy="7086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LymphUs C2 test 158</a:t>
            </a:r>
            <a:endParaRPr lang="en-US" altLang="zh-CN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03" name="圆角矩形 102"/>
          <p:cNvSpPr/>
          <p:nvPr/>
        </p:nvSpPr>
        <p:spPr>
          <a:xfrm>
            <a:off x="17878425" y="9197340"/>
            <a:ext cx="2340000" cy="46037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FTC/PTC dev</a:t>
            </a:r>
            <a:endParaRPr lang="en-US" altLang="zh-CN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04" name="圆角矩形 103"/>
          <p:cNvSpPr/>
          <p:nvPr/>
        </p:nvSpPr>
        <p:spPr>
          <a:xfrm>
            <a:off x="17878425" y="9832975"/>
            <a:ext cx="2339975" cy="7092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FangDai test 200</a:t>
            </a:r>
            <a:endParaRPr lang="en-US" altLang="zh-CN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cxnSp>
        <p:nvCxnSpPr>
          <p:cNvPr id="105" name="曲线连接符 104"/>
          <p:cNvCxnSpPr>
            <a:stCxn id="100" idx="2"/>
            <a:endCxn id="101" idx="0"/>
          </p:cNvCxnSpPr>
          <p:nvPr/>
        </p:nvCxnSpPr>
        <p:spPr>
          <a:xfrm rot="5400000">
            <a:off x="16811943" y="8344218"/>
            <a:ext cx="333375" cy="1372870"/>
          </a:xfrm>
          <a:prstGeom prst="curved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6" name="曲线连接符 105"/>
          <p:cNvCxnSpPr>
            <a:stCxn id="100" idx="2"/>
            <a:endCxn id="103" idx="0"/>
          </p:cNvCxnSpPr>
          <p:nvPr/>
        </p:nvCxnSpPr>
        <p:spPr>
          <a:xfrm rot="5400000" flipV="1">
            <a:off x="18190210" y="8338820"/>
            <a:ext cx="333375" cy="1383665"/>
          </a:xfrm>
          <a:prstGeom prst="curvedConnector3">
            <a:avLst>
              <a:gd name="adj1" fmla="val 50095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>
            <a:stCxn id="101" idx="2"/>
            <a:endCxn id="102" idx="0"/>
          </p:cNvCxnSpPr>
          <p:nvPr/>
        </p:nvCxnSpPr>
        <p:spPr>
          <a:xfrm>
            <a:off x="16292195" y="9657715"/>
            <a:ext cx="0" cy="17589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9" name="直接箭头连接符 108"/>
          <p:cNvCxnSpPr>
            <a:stCxn id="103" idx="2"/>
            <a:endCxn id="104" idx="0"/>
          </p:cNvCxnSpPr>
          <p:nvPr/>
        </p:nvCxnSpPr>
        <p:spPr>
          <a:xfrm>
            <a:off x="19048730" y="9657715"/>
            <a:ext cx="0" cy="17526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1" name="肘形连接符 110"/>
          <p:cNvCxnSpPr>
            <a:stCxn id="100" idx="3"/>
            <a:endCxn id="89" idx="3"/>
          </p:cNvCxnSpPr>
          <p:nvPr/>
        </p:nvCxnSpPr>
        <p:spPr>
          <a:xfrm flipV="1">
            <a:off x="19006820" y="5137785"/>
            <a:ext cx="524510" cy="3496310"/>
          </a:xfrm>
          <a:prstGeom prst="bentConnector3">
            <a:avLst>
              <a:gd name="adj1" fmla="val 241646"/>
            </a:avLst>
          </a:prstGeom>
          <a:ln w="38100">
            <a:solidFill>
              <a:srgbClr val="7030A0"/>
            </a:solidFill>
            <a:prstDash val="dash"/>
            <a:tailEnd type="arrow" w="lg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2" name="文本框 111"/>
          <p:cNvSpPr txBox="1"/>
          <p:nvPr/>
        </p:nvSpPr>
        <p:spPr>
          <a:xfrm>
            <a:off x="18576290" y="5307965"/>
            <a:ext cx="18745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>
                <a:solidFill>
                  <a:srgbClr val="7030A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same image different tasks</a:t>
            </a:r>
            <a:endParaRPr lang="en-US" altLang="zh-CN">
              <a:solidFill>
                <a:srgbClr val="7030A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cxnSp>
        <p:nvCxnSpPr>
          <p:cNvPr id="113" name="肘形连接符 112"/>
          <p:cNvCxnSpPr>
            <a:stCxn id="64" idx="3"/>
            <a:endCxn id="76" idx="1"/>
          </p:cNvCxnSpPr>
          <p:nvPr/>
        </p:nvCxnSpPr>
        <p:spPr>
          <a:xfrm flipV="1">
            <a:off x="14371320" y="3594735"/>
            <a:ext cx="629285" cy="5194300"/>
          </a:xfrm>
          <a:prstGeom prst="bentConnector3">
            <a:avLst>
              <a:gd name="adj1" fmla="val 50050"/>
            </a:avLst>
          </a:prstGeom>
          <a:ln w="63500" cap="rnd">
            <a:solidFill>
              <a:srgbClr val="00B050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file_00000000a1b081fd8b37534aae269df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630" y="1440180"/>
            <a:ext cx="1800000" cy="1800000"/>
          </a:xfrm>
          <a:prstGeom prst="rect">
            <a:avLst/>
          </a:prstGeom>
        </p:spPr>
      </p:pic>
      <p:pic>
        <p:nvPicPr>
          <p:cNvPr id="5" name="图片 4" descr="file_00000000a32881f5985f0d7e42db1b0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360" y="969010"/>
            <a:ext cx="1800000" cy="1800000"/>
          </a:xfrm>
          <a:prstGeom prst="rect">
            <a:avLst/>
          </a:prstGeom>
        </p:spPr>
      </p:pic>
      <p:pic>
        <p:nvPicPr>
          <p:cNvPr id="6" name="图片 5" descr="file_00000000ac9c81fd8d8e732fb8a02ee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760" y="969010"/>
            <a:ext cx="1800000" cy="1800000"/>
          </a:xfrm>
          <a:prstGeom prst="rect">
            <a:avLst/>
          </a:prstGeom>
        </p:spPr>
      </p:pic>
      <p:pic>
        <p:nvPicPr>
          <p:cNvPr id="7" name="图片 6" descr="file_00000000cd8c81f881af13afba2eb26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490" y="5040630"/>
            <a:ext cx="1800000" cy="1800000"/>
          </a:xfrm>
          <a:prstGeom prst="rect">
            <a:avLst/>
          </a:prstGeom>
        </p:spPr>
      </p:pic>
      <p:pic>
        <p:nvPicPr>
          <p:cNvPr id="8" name="图片 7" descr="file_00000000d7d481f5aba961187503c1a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8135" y="3240405"/>
            <a:ext cx="1800000" cy="1800000"/>
          </a:xfrm>
          <a:prstGeom prst="rect">
            <a:avLst/>
          </a:prstGeom>
        </p:spPr>
      </p:pic>
      <p:pic>
        <p:nvPicPr>
          <p:cNvPr id="9" name="图片 8" descr="file_00000000f9b081fd8519bda6b66582c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2265" y="5993130"/>
            <a:ext cx="1800000" cy="1800000"/>
          </a:xfrm>
          <a:prstGeom prst="rect">
            <a:avLst/>
          </a:prstGeom>
        </p:spPr>
      </p:pic>
      <p:pic>
        <p:nvPicPr>
          <p:cNvPr id="10" name="图片 9" descr="file_00000000ff8881f58e1705bf70fdccbc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2855" y="6299835"/>
            <a:ext cx="1800000" cy="1800000"/>
          </a:xfrm>
          <a:prstGeom prst="rect">
            <a:avLst/>
          </a:prstGeom>
        </p:spPr>
      </p:pic>
      <p:pic>
        <p:nvPicPr>
          <p:cNvPr id="11" name="图片 10" descr="file_000000003c2481f599a23420d4afbb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57125" y="1440180"/>
            <a:ext cx="1800000" cy="1800000"/>
          </a:xfrm>
          <a:prstGeom prst="rect">
            <a:avLst/>
          </a:prstGeom>
        </p:spPr>
      </p:pic>
      <p:pic>
        <p:nvPicPr>
          <p:cNvPr id="12" name="图片 11" descr="file_0000000085ec81fdbe1d3c5acd0b562b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57125" y="4192905"/>
            <a:ext cx="1800000" cy="1800000"/>
          </a:xfrm>
          <a:prstGeom prst="rect">
            <a:avLst/>
          </a:prstGeom>
        </p:spPr>
      </p:pic>
      <p:pic>
        <p:nvPicPr>
          <p:cNvPr id="13" name="图片 12" descr="file_00000000737881f6b2edf5fa8bbbe4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934055" y="3240405"/>
            <a:ext cx="1800000" cy="1800000"/>
          </a:xfrm>
          <a:prstGeom prst="rect">
            <a:avLst/>
          </a:prstGeom>
        </p:spPr>
      </p:pic>
      <p:pic>
        <p:nvPicPr>
          <p:cNvPr id="14" name="图片 13" descr="95e2e1ac-bbe7-45c8-bf93-5e867f381fc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679420" y="5993130"/>
            <a:ext cx="15925800" cy="8963025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1300</Words>
  <Application>WPS 演示</Application>
  <PresentationFormat>宽屏</PresentationFormat>
  <Paragraphs>97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Arial Regular</vt:lpstr>
      <vt:lpstr>苹方-简</vt:lpstr>
      <vt:lpstr>微软雅黑</vt:lpstr>
      <vt:lpstr>方正雅意黑 GB18030L2</vt:lpstr>
      <vt:lpstr>汉仪书宋二KW</vt:lpstr>
      <vt:lpstr>宋体</vt:lpstr>
      <vt:lpstr>Arial Unicode MS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雪</cp:lastModifiedBy>
  <cp:revision>179</cp:revision>
  <dcterms:created xsi:type="dcterms:W3CDTF">2026-10-27T12:20:49Z</dcterms:created>
  <dcterms:modified xsi:type="dcterms:W3CDTF">2026-10-27T12:20:49Z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2FD4331CEAAFF8596554E06A9ABDA214_41</vt:lpwstr>
  </property>
</Properties>
</file>