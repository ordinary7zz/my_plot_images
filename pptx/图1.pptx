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72" r:id="rId3"/>
    <p:sldId id="273" r:id="rId5"/>
  </p:sldIdLst>
  <p:sldSz cx="12192000" cy="17243425"/>
  <p:notesSz cx="7103745" cy="10234295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1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00"/>
    <a:srgbClr val="EA6F17"/>
    <a:srgbClr val="0D3565"/>
    <a:srgbClr val="CA7344"/>
    <a:srgbClr val="7F7F7F"/>
    <a:srgbClr val="91A488"/>
    <a:srgbClr val="7F89A3"/>
    <a:srgbClr val="1D4CA3"/>
    <a:srgbClr val="8089A3"/>
    <a:srgbClr val="536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56" y="-2741"/>
      </p:cViewPr>
      <p:guideLst>
        <p:guide orient="horz" pos="5314"/>
        <p:guide pos="375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3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1302016692252"/>
          <c:y val="0.234541325765915"/>
          <c:w val="0.83046357615894"/>
          <c:h val="0.5309168443496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TN3K</c:v>
                </c:pt>
              </c:strCache>
            </c:strRef>
          </c:tx>
          <c:spPr>
            <a:solidFill>
              <a:srgbClr val="4D208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DDTI</c:v>
                </c:pt>
              </c:strCache>
            </c:strRef>
          </c:tx>
          <c:spPr>
            <a:solidFill>
              <a:srgbClr val="633D9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PKTN</c:v>
                </c:pt>
              </c:strCache>
            </c:strRef>
          </c:tx>
          <c:spPr>
            <a:solidFill>
              <a:srgbClr val="6F47AB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ThyroidXL</c:v>
                </c:pt>
              </c:strCache>
            </c:strRef>
          </c:tx>
          <c:spPr>
            <a:solidFill>
              <a:srgbClr val="7A51B7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Cine-clip</c:v>
                </c:pt>
              </c:strCache>
            </c:strRef>
          </c:tx>
          <c:spPr>
            <a:solidFill>
              <a:srgbClr val="815BBB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9000</c:v>
                </c:pt>
              </c:numCache>
            </c:numRef>
          </c:val>
        </c:ser>
        <c:ser>
          <c:idx val="6"/>
          <c:order val="6"/>
          <c:tx>
            <c:strRef>
              <c:f>"12"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rgbClr val="8765B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{8000}</c:f>
              <c:numCache>
                <c:formatCode>General</c:formatCode>
                <c:ptCount val="1"/>
                <c:pt idx="0">
                  <c:v>8000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03579588"/>
        <c:axId val="583921027"/>
        <c:extLst>
          <c:ext xmlns:c15="http://schemas.microsoft.com/office/drawing/2012/chart" uri="{02D57815-91ED-43cb-92C2-25804820EDAC}">
            <c15:filteredBar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"11"</c15:sqref>
                        </c15:formulaRef>
                      </c:ext>
                    </c:extLst>
                    <c:strCache>
                      <c:ptCount val="1"/>
                      <c:pt idx="0">
                        <c:v>11</c:v>
                      </c:pt>
                    </c:strCache>
                  </c:strRef>
                </c:tx>
                <c:spPr>
                  <a:solidFill>
                    <a:srgbClr val="B6E4E9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Segmentation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{1000}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1000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03579588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3921027"/>
        <c:crosses val="autoZero"/>
        <c:auto val="1"/>
        <c:lblAlgn val="ctr"/>
        <c:lblOffset val="100"/>
        <c:noMultiLvlLbl val="0"/>
      </c:catAx>
      <c:valAx>
        <c:axId val="58392102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35795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f423ba1-c670-4315-a07f-1668cf06a91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1302428256071"/>
          <c:y val="0.23454157782516"/>
          <c:w val="0.83046357615894"/>
          <c:h val="0.5309168443496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TN3K</c:v>
                </c:pt>
              </c:strCache>
            </c:strRef>
          </c:tx>
          <c:spPr>
            <a:solidFill>
              <a:srgbClr val="00687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DDTI</c:v>
                </c:pt>
              </c:strCache>
            </c:strRef>
          </c:tx>
          <c:spPr>
            <a:solidFill>
              <a:srgbClr val="01737E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PKTN</c:v>
                </c:pt>
              </c:strCache>
            </c:strRef>
          </c:tx>
          <c:spPr>
            <a:solidFill>
              <a:srgbClr val="027E8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ThyroidXL</c:v>
                </c:pt>
              </c:strCache>
            </c:strRef>
          </c:tx>
          <c:spPr>
            <a:solidFill>
              <a:srgbClr val="128B9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10500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Cine-clip</c:v>
                </c:pt>
              </c:strCache>
            </c:strRef>
          </c:tx>
          <c:spPr>
            <a:solidFill>
              <a:srgbClr val="23959E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10000</c:v>
                </c:pt>
              </c:numCache>
            </c:numRef>
          </c:val>
        </c:ser>
        <c:ser>
          <c:idx val="6"/>
          <c:order val="6"/>
          <c:tx>
            <c:strRef>
              <c:f>"12"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rgbClr val="39A6AC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{9500}</c:f>
              <c:numCache>
                <c:formatCode>General</c:formatCode>
                <c:ptCount val="1"/>
                <c:pt idx="0">
                  <c:v>9500</c:v>
                </c:pt>
              </c:numCache>
            </c:numRef>
          </c:val>
        </c:ser>
        <c:ser>
          <c:idx val="7"/>
          <c:order val="7"/>
          <c:tx>
            <c:strRef>
              <c:f>"13"</c:f>
              <c:strCache>
                <c:ptCount val="1"/>
                <c:pt idx="0">
                  <c:v>13</c:v>
                </c:pt>
              </c:strCache>
            </c:strRef>
          </c:tx>
          <c:spPr>
            <a:solidFill>
              <a:srgbClr val="5CC2C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{9000}</c:f>
              <c:numCache>
                <c:formatCode>General</c:formatCode>
                <c:ptCount val="1"/>
                <c:pt idx="0">
                  <c:v>9000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03579588"/>
        <c:axId val="583921027"/>
        <c:extLst>
          <c:ext xmlns:c15="http://schemas.microsoft.com/office/drawing/2012/chart" uri="{02D57815-91ED-43cb-92C2-25804820EDAC}">
            <c15:filteredBar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"11"</c15:sqref>
                        </c15:formulaRef>
                      </c:ext>
                    </c:extLst>
                    <c:strCache>
                      <c:ptCount val="1"/>
                      <c:pt idx="0">
                        <c:v>11</c:v>
                      </c:pt>
                    </c:strCache>
                  </c:strRef>
                </c:tx>
                <c:spPr>
                  <a:solidFill>
                    <a:srgbClr val="B6E4E9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Segmentation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{1000}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1000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03579588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alt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83921027"/>
        <c:crosses val="autoZero"/>
        <c:auto val="1"/>
        <c:lblAlgn val="ctr"/>
        <c:lblOffset val="100"/>
        <c:noMultiLvlLbl val="0"/>
      </c:catAx>
      <c:valAx>
        <c:axId val="58392102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alt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35795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f423ba1-c670-4315-a07f-1668cf06a917}"/>
      </c:ext>
    </c:extLst>
  </c:chart>
  <c:spPr>
    <a:noFill/>
    <a:ln>
      <a:noFill/>
    </a:ln>
    <a:effectLst/>
  </c:spPr>
  <c:txPr>
    <a:bodyPr/>
    <a:lstStyle/>
    <a:p>
      <a:pPr algn="ctr">
        <a:defRPr lang="en-US" altLang="zh-CN" sz="900" kern="120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1302016692252"/>
          <c:y val="0.234541325765915"/>
          <c:w val="0.83046357615894"/>
          <c:h val="0.5309168443496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TN3K</c:v>
                </c:pt>
              </c:strCache>
            </c:strRef>
          </c:tx>
          <c:spPr>
            <a:solidFill>
              <a:srgbClr val="4D208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DDTI</c:v>
                </c:pt>
              </c:strCache>
            </c:strRef>
          </c:tx>
          <c:spPr>
            <a:solidFill>
              <a:srgbClr val="633D9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PKTN</c:v>
                </c:pt>
              </c:strCache>
            </c:strRef>
          </c:tx>
          <c:spPr>
            <a:solidFill>
              <a:srgbClr val="6F47AB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ThyroidXL</c:v>
                </c:pt>
              </c:strCache>
            </c:strRef>
          </c:tx>
          <c:spPr>
            <a:solidFill>
              <a:srgbClr val="7A51B7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Cine-clip</c:v>
                </c:pt>
              </c:strCache>
            </c:strRef>
          </c:tx>
          <c:spPr>
            <a:solidFill>
              <a:srgbClr val="815BBB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9000</c:v>
                </c:pt>
              </c:numCache>
            </c:numRef>
          </c:val>
        </c:ser>
        <c:ser>
          <c:idx val="6"/>
          <c:order val="6"/>
          <c:tx>
            <c:strRef>
              <c:f>"12"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rgbClr val="8765B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{8000}</c:f>
              <c:numCache>
                <c:formatCode>General</c:formatCode>
                <c:ptCount val="1"/>
                <c:pt idx="0">
                  <c:v>8000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03579588"/>
        <c:axId val="583921027"/>
        <c:extLst>
          <c:ext xmlns:c15="http://schemas.microsoft.com/office/drawing/2012/chart" uri="{02D57815-91ED-43cb-92C2-25804820EDAC}">
            <c15:filteredBar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"11"</c15:sqref>
                        </c15:formulaRef>
                      </c:ext>
                    </c:extLst>
                    <c:strCache>
                      <c:ptCount val="1"/>
                      <c:pt idx="0">
                        <c:v>11</c:v>
                      </c:pt>
                    </c:strCache>
                  </c:strRef>
                </c:tx>
                <c:spPr>
                  <a:solidFill>
                    <a:srgbClr val="B6E4E9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Segmentation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{1000}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1000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03579588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3921027"/>
        <c:crosses val="autoZero"/>
        <c:auto val="1"/>
        <c:lblAlgn val="ctr"/>
        <c:lblOffset val="100"/>
        <c:noMultiLvlLbl val="0"/>
      </c:catAx>
      <c:valAx>
        <c:axId val="58392102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35795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f423ba1-c670-4315-a07f-1668cf06a91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1302428256071"/>
          <c:y val="0.23454157782516"/>
          <c:w val="0.83046357615894"/>
          <c:h val="0.5309168443496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TN3K</c:v>
                </c:pt>
              </c:strCache>
            </c:strRef>
          </c:tx>
          <c:spPr>
            <a:solidFill>
              <a:srgbClr val="00687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DDTI</c:v>
                </c:pt>
              </c:strCache>
            </c:strRef>
          </c:tx>
          <c:spPr>
            <a:solidFill>
              <a:srgbClr val="01737E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PKTN</c:v>
                </c:pt>
              </c:strCache>
            </c:strRef>
          </c:tx>
          <c:spPr>
            <a:solidFill>
              <a:srgbClr val="027E8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ThyroidXL</c:v>
                </c:pt>
              </c:strCache>
            </c:strRef>
          </c:tx>
          <c:spPr>
            <a:solidFill>
              <a:srgbClr val="128B9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10500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Cine-clip</c:v>
                </c:pt>
              </c:strCache>
            </c:strRef>
          </c:tx>
          <c:spPr>
            <a:solidFill>
              <a:srgbClr val="23959E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10000</c:v>
                </c:pt>
              </c:numCache>
            </c:numRef>
          </c:val>
        </c:ser>
        <c:ser>
          <c:idx val="6"/>
          <c:order val="6"/>
          <c:tx>
            <c:strRef>
              <c:f>"12"</c:f>
              <c:strCache>
                <c:ptCount val="1"/>
                <c:pt idx="0">
                  <c:v>12</c:v>
                </c:pt>
              </c:strCache>
            </c:strRef>
          </c:tx>
          <c:spPr>
            <a:solidFill>
              <a:srgbClr val="39A6AC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{9500}</c:f>
              <c:numCache>
                <c:formatCode>General</c:formatCode>
                <c:ptCount val="1"/>
                <c:pt idx="0">
                  <c:v>9500</c:v>
                </c:pt>
              </c:numCache>
            </c:numRef>
          </c:val>
        </c:ser>
        <c:ser>
          <c:idx val="7"/>
          <c:order val="7"/>
          <c:tx>
            <c:strRef>
              <c:f>"13"</c:f>
              <c:strCache>
                <c:ptCount val="1"/>
                <c:pt idx="0">
                  <c:v>13</c:v>
                </c:pt>
              </c:strCache>
            </c:strRef>
          </c:tx>
          <c:spPr>
            <a:solidFill>
              <a:srgbClr val="5CC2C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Segmentation</c:v>
                </c:pt>
              </c:strCache>
            </c:strRef>
          </c:cat>
          <c:val>
            <c:numRef>
              <c:f>{9000}</c:f>
              <c:numCache>
                <c:formatCode>General</c:formatCode>
                <c:ptCount val="1"/>
                <c:pt idx="0">
                  <c:v>9000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103579588"/>
        <c:axId val="583921027"/>
        <c:extLst>
          <c:ext xmlns:c15="http://schemas.microsoft.com/office/drawing/2012/chart" uri="{02D57815-91ED-43cb-92C2-25804820EDAC}">
            <c15:filteredBar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"11"</c15:sqref>
                        </c15:formulaRef>
                      </c:ext>
                    </c:extLst>
                    <c:strCache>
                      <c:ptCount val="1"/>
                      <c:pt idx="0">
                        <c:v>11</c:v>
                      </c:pt>
                    </c:strCache>
                  </c:strRef>
                </c:tx>
                <c:spPr>
                  <a:solidFill>
                    <a:srgbClr val="B6E4E9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Segmentation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{1000}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1000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03579588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alt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83921027"/>
        <c:crosses val="autoZero"/>
        <c:auto val="1"/>
        <c:lblAlgn val="ctr"/>
        <c:lblOffset val="100"/>
        <c:noMultiLvlLbl val="0"/>
      </c:catAx>
      <c:valAx>
        <c:axId val="583921027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alt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35795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f423ba1-c670-4315-a07f-1668cf06a917}"/>
      </c:ext>
    </c:extLst>
  </c:chart>
  <c:spPr>
    <a:noFill/>
    <a:ln>
      <a:noFill/>
    </a:ln>
    <a:effectLst/>
  </c:spPr>
  <c:txPr>
    <a:bodyPr/>
    <a:lstStyle/>
    <a:p>
      <a:pPr algn="ctr">
        <a:defRPr lang="en-US" altLang="zh-CN" sz="900" kern="1200">
          <a:solidFill>
            <a:schemeClr val="tx1"/>
          </a:solidFill>
          <a:latin typeface="+mn-lt"/>
          <a:ea typeface="+mn-ea"/>
          <a:cs typeface="+mn-cs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3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3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3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3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1525" y="1279525"/>
            <a:ext cx="24426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279525"/>
            <a:ext cx="2441575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279525"/>
            <a:ext cx="2441575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3326736"/>
            <a:ext cx="9145325" cy="549946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800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221" y="9057729"/>
            <a:ext cx="9145325" cy="4163599"/>
          </a:xfrm>
        </p:spPr>
        <p:txBody>
          <a:bodyPr>
            <a:normAutofit/>
          </a:bodyPr>
          <a:lstStyle>
            <a:lvl1pPr marL="0" indent="0" algn="ctr">
              <a:buNone/>
              <a:defRPr sz="240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609600" indent="0" algn="ctr">
              <a:buNone/>
              <a:defRPr sz="2670"/>
            </a:lvl2pPr>
            <a:lvl3pPr marL="1219200" indent="0" algn="ctr">
              <a:buNone/>
              <a:defRPr sz="2405"/>
            </a:lvl3pPr>
            <a:lvl4pPr marL="1829435" indent="0" algn="ctr">
              <a:buNone/>
              <a:defRPr sz="2130"/>
            </a:lvl4pPr>
            <a:lvl5pPr marL="2439035" indent="0" algn="ctr">
              <a:buNone/>
              <a:defRPr sz="2130"/>
            </a:lvl5pPr>
            <a:lvl6pPr marL="3048635" indent="0" algn="ctr">
              <a:buNone/>
              <a:defRPr sz="2130"/>
            </a:lvl6pPr>
            <a:lvl7pPr marL="3658235" indent="0" algn="ctr">
              <a:buNone/>
              <a:defRPr sz="2130"/>
            </a:lvl7pPr>
            <a:lvl8pPr marL="4267835" indent="0" algn="ctr">
              <a:buNone/>
              <a:defRPr sz="2130"/>
            </a:lvl8pPr>
            <a:lvl9pPr marL="4878070" indent="0" algn="ctr">
              <a:buNone/>
              <a:defRPr sz="213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94" y="649889"/>
            <a:ext cx="10517123" cy="3333277"/>
          </a:xfrm>
        </p:spPr>
        <p:txBody>
          <a:bodyPr anchor="ctr" anchorCtr="0">
            <a:normAutofit/>
          </a:bodyPr>
          <a:lstStyle>
            <a:lvl1pPr>
              <a:defRPr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94" y="4590739"/>
            <a:ext cx="10517123" cy="10941928"/>
          </a:xfrm>
        </p:spPr>
        <p:txBody>
          <a:bodyPr>
            <a:normAutofit/>
          </a:bodyPr>
          <a:lstStyle>
            <a:lvl1pPr>
              <a:defRPr sz="267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71" y="9432605"/>
            <a:ext cx="7322611" cy="2040248"/>
          </a:xfrm>
        </p:spPr>
        <p:txBody>
          <a:bodyPr anchor="b">
            <a:normAutofit/>
          </a:bodyPr>
          <a:lstStyle>
            <a:lvl1pPr>
              <a:defRPr sz="533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71" y="11592433"/>
            <a:ext cx="7322611" cy="1628350"/>
          </a:xfrm>
        </p:spPr>
        <p:txBody>
          <a:bodyPr>
            <a:normAutofit/>
          </a:bodyPr>
          <a:lstStyle>
            <a:lvl1pPr marL="0" indent="0">
              <a:buNone/>
              <a:defRPr sz="2405">
                <a:solidFill>
                  <a:schemeClr val="tx1"/>
                </a:solidFill>
              </a:defRPr>
            </a:lvl1pPr>
            <a:lvl2pPr marL="609600" indent="0">
              <a:buNone/>
              <a:defRPr sz="267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5">
                <a:solidFill>
                  <a:schemeClr val="tx1">
                    <a:tint val="75000"/>
                  </a:schemeClr>
                </a:solidFill>
              </a:defRPr>
            </a:lvl3pPr>
            <a:lvl4pPr marL="1829435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4pPr>
            <a:lvl5pPr marL="2439035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5pPr>
            <a:lvl6pPr marL="3048635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8pPr>
            <a:lvl9pPr marL="4878070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94" y="649889"/>
            <a:ext cx="10517123" cy="3333277"/>
          </a:xfrm>
        </p:spPr>
        <p:txBody>
          <a:bodyPr>
            <a:normAutofit/>
          </a:bodyPr>
          <a:lstStyle>
            <a:lvl1pPr>
              <a:defRPr sz="32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94" y="4590739"/>
            <a:ext cx="5182351" cy="1094192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7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4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2567" y="4590739"/>
            <a:ext cx="5182351" cy="1094192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7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4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13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918148"/>
            <a:ext cx="10517123" cy="33332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4387900"/>
            <a:ext cx="5158534" cy="207181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70" b="1"/>
            </a:lvl2pPr>
            <a:lvl3pPr marL="1219200" indent="0">
              <a:buNone/>
              <a:defRPr sz="2405" b="1"/>
            </a:lvl3pPr>
            <a:lvl4pPr marL="1829435" indent="0">
              <a:buNone/>
              <a:defRPr sz="2130" b="1"/>
            </a:lvl4pPr>
            <a:lvl5pPr marL="2439035" indent="0">
              <a:buNone/>
              <a:defRPr sz="2130" b="1"/>
            </a:lvl5pPr>
            <a:lvl6pPr marL="3048635" indent="0">
              <a:buNone/>
              <a:defRPr sz="2130" b="1"/>
            </a:lvl6pPr>
            <a:lvl7pPr marL="3658235" indent="0">
              <a:buNone/>
              <a:defRPr sz="2130" b="1"/>
            </a:lvl7pPr>
            <a:lvl8pPr marL="4267835" indent="0">
              <a:buNone/>
              <a:defRPr sz="2130" b="1"/>
            </a:lvl8pPr>
            <a:lvl9pPr marL="4878070" indent="0">
              <a:buNone/>
              <a:defRPr sz="213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6577243"/>
            <a:ext cx="5158534" cy="8987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4387900"/>
            <a:ext cx="5183939" cy="207181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70" b="1"/>
            </a:lvl2pPr>
            <a:lvl3pPr marL="1219200" indent="0">
              <a:buNone/>
              <a:defRPr sz="2405" b="1"/>
            </a:lvl3pPr>
            <a:lvl4pPr marL="1829435" indent="0">
              <a:buNone/>
              <a:defRPr sz="2130" b="1"/>
            </a:lvl4pPr>
            <a:lvl5pPr marL="2439035" indent="0">
              <a:buNone/>
              <a:defRPr sz="2130" b="1"/>
            </a:lvl5pPr>
            <a:lvl6pPr marL="3048635" indent="0">
              <a:buNone/>
              <a:defRPr sz="2130" b="1"/>
            </a:lvl6pPr>
            <a:lvl7pPr marL="3658235" indent="0">
              <a:buNone/>
              <a:defRPr sz="2130" b="1"/>
            </a:lvl7pPr>
            <a:lvl8pPr marL="4267835" indent="0">
              <a:buNone/>
              <a:defRPr sz="2130" b="1"/>
            </a:lvl8pPr>
            <a:lvl9pPr marL="4878070" indent="0">
              <a:buNone/>
              <a:defRPr sz="213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6577243"/>
            <a:ext cx="5183939" cy="8987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6955968"/>
            <a:ext cx="10517123" cy="3333277"/>
          </a:xfrm>
        </p:spPr>
        <p:txBody>
          <a:bodyPr>
            <a:normAutofit/>
          </a:bodyPr>
          <a:lstStyle>
            <a:lvl1pPr algn="ctr">
              <a:defRPr sz="6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841" y="319356"/>
            <a:ext cx="4165803" cy="4023883"/>
          </a:xfrm>
        </p:spPr>
        <p:txBody>
          <a:bodyPr anchor="ctr" anchorCtr="0">
            <a:normAutofit/>
          </a:bodyPr>
          <a:lstStyle>
            <a:lvl1pPr>
              <a:defRPr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751" y="1927083"/>
            <a:ext cx="5818218" cy="12810556"/>
          </a:xfrm>
        </p:spPr>
        <p:txBody>
          <a:bodyPr/>
          <a:lstStyle>
            <a:lvl1pPr marL="0" indent="0">
              <a:buNone/>
              <a:defRPr sz="427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9435" indent="0">
              <a:buNone/>
              <a:defRPr sz="2670"/>
            </a:lvl4pPr>
            <a:lvl5pPr marL="2439035" indent="0">
              <a:buNone/>
              <a:defRPr sz="2670"/>
            </a:lvl5pPr>
            <a:lvl6pPr marL="3048635" indent="0">
              <a:buNone/>
              <a:defRPr sz="2670"/>
            </a:lvl6pPr>
            <a:lvl7pPr marL="3658235" indent="0">
              <a:buNone/>
              <a:defRPr sz="2670"/>
            </a:lvl7pPr>
            <a:lvl8pPr marL="4267835" indent="0">
              <a:buNone/>
              <a:defRPr sz="2670"/>
            </a:lvl8pPr>
            <a:lvl9pPr marL="4878070" indent="0">
              <a:buNone/>
              <a:defRPr sz="267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921" y="5173563"/>
            <a:ext cx="4165803" cy="958466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130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9435" indent="0">
              <a:buNone/>
              <a:defRPr sz="1330"/>
            </a:lvl4pPr>
            <a:lvl5pPr marL="2439035" indent="0">
              <a:buNone/>
              <a:defRPr sz="1330"/>
            </a:lvl5pPr>
            <a:lvl6pPr marL="3048635" indent="0">
              <a:buNone/>
              <a:defRPr sz="1330"/>
            </a:lvl6pPr>
            <a:lvl7pPr marL="3658235" indent="0">
              <a:buNone/>
              <a:defRPr sz="1330"/>
            </a:lvl7pPr>
            <a:lvl8pPr marL="4267835" indent="0">
              <a:buNone/>
              <a:defRPr sz="1330"/>
            </a:lvl8pPr>
            <a:lvl9pPr marL="4878070" indent="0">
              <a:buNone/>
              <a:defRPr sz="133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5907" y="918148"/>
            <a:ext cx="1529538" cy="14614519"/>
          </a:xfrm>
        </p:spPr>
        <p:txBody>
          <a:bodyPr vert="eaVert"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1" y="918148"/>
            <a:ext cx="8881244" cy="1461451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1386917"/>
            <a:ext cx="10517123" cy="139786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21" y="918148"/>
            <a:ext cx="10517123" cy="3333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21" y="4590739"/>
            <a:ext cx="10517123" cy="1094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21" y="15983756"/>
            <a:ext cx="2743597" cy="918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185" y="15983756"/>
            <a:ext cx="4115396" cy="918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847" y="15983756"/>
            <a:ext cx="2743597" cy="918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435" indent="-305435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5pPr>
      <a:lvl6pPr marL="3353435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5435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8pPr>
      <a:lvl9pPr marL="4878070" algn="l" defTabSz="1219200" rtl="0" eaLnBrk="1" latinLnBrk="0" hangingPunct="1">
        <a:defRPr sz="24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7" Type="http://schemas.openxmlformats.org/officeDocument/2006/relationships/notesSlide" Target="../notesSlides/notesSlide1.xml"/><Relationship Id="rId46" Type="http://schemas.openxmlformats.org/officeDocument/2006/relationships/slideLayout" Target="../slideLayouts/slideLayout2.xml"/><Relationship Id="rId45" Type="http://schemas.openxmlformats.org/officeDocument/2006/relationships/image" Target="../media/image42.svg"/><Relationship Id="rId44" Type="http://schemas.openxmlformats.org/officeDocument/2006/relationships/image" Target="../media/image41.png"/><Relationship Id="rId43" Type="http://schemas.openxmlformats.org/officeDocument/2006/relationships/image" Target="../media/image40.svg"/><Relationship Id="rId42" Type="http://schemas.openxmlformats.org/officeDocument/2006/relationships/image" Target="../media/image39.png"/><Relationship Id="rId41" Type="http://schemas.openxmlformats.org/officeDocument/2006/relationships/image" Target="../media/image38.svg"/><Relationship Id="rId40" Type="http://schemas.openxmlformats.org/officeDocument/2006/relationships/image" Target="../media/image37.png"/><Relationship Id="rId4" Type="http://schemas.openxmlformats.org/officeDocument/2006/relationships/image" Target="../media/image2.svg"/><Relationship Id="rId39" Type="http://schemas.openxmlformats.org/officeDocument/2006/relationships/image" Target="../media/image36.svg"/><Relationship Id="rId38" Type="http://schemas.openxmlformats.org/officeDocument/2006/relationships/image" Target="../media/image35.png"/><Relationship Id="rId37" Type="http://schemas.openxmlformats.org/officeDocument/2006/relationships/image" Target="../media/image34.svg"/><Relationship Id="rId36" Type="http://schemas.openxmlformats.org/officeDocument/2006/relationships/image" Target="../media/image33.png"/><Relationship Id="rId35" Type="http://schemas.openxmlformats.org/officeDocument/2006/relationships/image" Target="../media/image32.svg"/><Relationship Id="rId34" Type="http://schemas.openxmlformats.org/officeDocument/2006/relationships/image" Target="../media/image31.png"/><Relationship Id="rId33" Type="http://schemas.openxmlformats.org/officeDocument/2006/relationships/image" Target="../media/image30.svg"/><Relationship Id="rId32" Type="http://schemas.openxmlformats.org/officeDocument/2006/relationships/image" Target="../media/image29.png"/><Relationship Id="rId31" Type="http://schemas.openxmlformats.org/officeDocument/2006/relationships/image" Target="../media/image28.svg"/><Relationship Id="rId30" Type="http://schemas.openxmlformats.org/officeDocument/2006/relationships/image" Target="../media/image27.png"/><Relationship Id="rId3" Type="http://schemas.openxmlformats.org/officeDocument/2006/relationships/image" Target="../media/image1.png"/><Relationship Id="rId29" Type="http://schemas.openxmlformats.org/officeDocument/2006/relationships/image" Target="../media/image26.svg"/><Relationship Id="rId28" Type="http://schemas.openxmlformats.org/officeDocument/2006/relationships/image" Target="../media/image25.png"/><Relationship Id="rId27" Type="http://schemas.openxmlformats.org/officeDocument/2006/relationships/image" Target="../media/image24.svg"/><Relationship Id="rId26" Type="http://schemas.openxmlformats.org/officeDocument/2006/relationships/image" Target="../media/image23.png"/><Relationship Id="rId25" Type="http://schemas.openxmlformats.org/officeDocument/2006/relationships/image" Target="../media/image22.svg"/><Relationship Id="rId24" Type="http://schemas.openxmlformats.org/officeDocument/2006/relationships/image" Target="../media/image21.png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image" Target="../media/image18.svg"/><Relationship Id="rId20" Type="http://schemas.openxmlformats.org/officeDocument/2006/relationships/image" Target="../media/image17.png"/><Relationship Id="rId2" Type="http://schemas.openxmlformats.org/officeDocument/2006/relationships/chart" Target="../charts/chart2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image" Target="../media/image12.svg"/><Relationship Id="rId14" Type="http://schemas.openxmlformats.org/officeDocument/2006/relationships/image" Target="../media/image11.png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45.svg"/><Relationship Id="rId7" Type="http://schemas.openxmlformats.org/officeDocument/2006/relationships/image" Target="../media/image5.png"/><Relationship Id="rId6" Type="http://schemas.openxmlformats.org/officeDocument/2006/relationships/image" Target="../media/image44.svg"/><Relationship Id="rId5" Type="http://schemas.openxmlformats.org/officeDocument/2006/relationships/image" Target="../media/image3.png"/><Relationship Id="rId47" Type="http://schemas.openxmlformats.org/officeDocument/2006/relationships/notesSlide" Target="../notesSlides/notesSlide2.xml"/><Relationship Id="rId46" Type="http://schemas.openxmlformats.org/officeDocument/2006/relationships/slideLayout" Target="../slideLayouts/slideLayout2.xml"/><Relationship Id="rId45" Type="http://schemas.openxmlformats.org/officeDocument/2006/relationships/image" Target="../media/image64.svg"/><Relationship Id="rId44" Type="http://schemas.openxmlformats.org/officeDocument/2006/relationships/image" Target="../media/image41.png"/><Relationship Id="rId43" Type="http://schemas.openxmlformats.org/officeDocument/2006/relationships/image" Target="../media/image63.svg"/><Relationship Id="rId42" Type="http://schemas.openxmlformats.org/officeDocument/2006/relationships/image" Target="../media/image39.png"/><Relationship Id="rId41" Type="http://schemas.openxmlformats.org/officeDocument/2006/relationships/image" Target="../media/image62.svg"/><Relationship Id="rId40" Type="http://schemas.openxmlformats.org/officeDocument/2006/relationships/image" Target="../media/image37.png"/><Relationship Id="rId4" Type="http://schemas.openxmlformats.org/officeDocument/2006/relationships/image" Target="../media/image43.svg"/><Relationship Id="rId39" Type="http://schemas.openxmlformats.org/officeDocument/2006/relationships/image" Target="../media/image61.svg"/><Relationship Id="rId38" Type="http://schemas.openxmlformats.org/officeDocument/2006/relationships/image" Target="../media/image35.png"/><Relationship Id="rId37" Type="http://schemas.openxmlformats.org/officeDocument/2006/relationships/image" Target="../media/image60.svg"/><Relationship Id="rId36" Type="http://schemas.openxmlformats.org/officeDocument/2006/relationships/image" Target="../media/image33.png"/><Relationship Id="rId35" Type="http://schemas.openxmlformats.org/officeDocument/2006/relationships/image" Target="../media/image59.svg"/><Relationship Id="rId34" Type="http://schemas.openxmlformats.org/officeDocument/2006/relationships/image" Target="../media/image31.png"/><Relationship Id="rId33" Type="http://schemas.openxmlformats.org/officeDocument/2006/relationships/image" Target="../media/image58.svg"/><Relationship Id="rId32" Type="http://schemas.openxmlformats.org/officeDocument/2006/relationships/image" Target="../media/image29.png"/><Relationship Id="rId31" Type="http://schemas.openxmlformats.org/officeDocument/2006/relationships/image" Target="../media/image57.svg"/><Relationship Id="rId30" Type="http://schemas.openxmlformats.org/officeDocument/2006/relationships/image" Target="../media/image27.png"/><Relationship Id="rId3" Type="http://schemas.openxmlformats.org/officeDocument/2006/relationships/image" Target="../media/image1.png"/><Relationship Id="rId29" Type="http://schemas.openxmlformats.org/officeDocument/2006/relationships/image" Target="../media/image56.svg"/><Relationship Id="rId28" Type="http://schemas.openxmlformats.org/officeDocument/2006/relationships/image" Target="../media/image25.png"/><Relationship Id="rId27" Type="http://schemas.openxmlformats.org/officeDocument/2006/relationships/image" Target="../media/image55.svg"/><Relationship Id="rId26" Type="http://schemas.openxmlformats.org/officeDocument/2006/relationships/image" Target="../media/image23.png"/><Relationship Id="rId25" Type="http://schemas.openxmlformats.org/officeDocument/2006/relationships/image" Target="../media/image54.svg"/><Relationship Id="rId24" Type="http://schemas.openxmlformats.org/officeDocument/2006/relationships/image" Target="../media/image21.png"/><Relationship Id="rId23" Type="http://schemas.openxmlformats.org/officeDocument/2006/relationships/image" Target="../media/image53.svg"/><Relationship Id="rId22" Type="http://schemas.openxmlformats.org/officeDocument/2006/relationships/image" Target="../media/image19.png"/><Relationship Id="rId21" Type="http://schemas.openxmlformats.org/officeDocument/2006/relationships/image" Target="../media/image52.svg"/><Relationship Id="rId20" Type="http://schemas.openxmlformats.org/officeDocument/2006/relationships/image" Target="../media/image17.png"/><Relationship Id="rId2" Type="http://schemas.openxmlformats.org/officeDocument/2006/relationships/chart" Target="../charts/chart4.xml"/><Relationship Id="rId19" Type="http://schemas.openxmlformats.org/officeDocument/2006/relationships/image" Target="../media/image51.svg"/><Relationship Id="rId18" Type="http://schemas.openxmlformats.org/officeDocument/2006/relationships/image" Target="../media/image15.png"/><Relationship Id="rId17" Type="http://schemas.openxmlformats.org/officeDocument/2006/relationships/image" Target="../media/image50.svg"/><Relationship Id="rId16" Type="http://schemas.openxmlformats.org/officeDocument/2006/relationships/image" Target="../media/image13.png"/><Relationship Id="rId15" Type="http://schemas.openxmlformats.org/officeDocument/2006/relationships/image" Target="../media/image49.svg"/><Relationship Id="rId14" Type="http://schemas.openxmlformats.org/officeDocument/2006/relationships/image" Target="../media/image11.png"/><Relationship Id="rId13" Type="http://schemas.openxmlformats.org/officeDocument/2006/relationships/image" Target="../media/image48.svg"/><Relationship Id="rId12" Type="http://schemas.openxmlformats.org/officeDocument/2006/relationships/image" Target="../media/image9.png"/><Relationship Id="rId11" Type="http://schemas.openxmlformats.org/officeDocument/2006/relationships/image" Target="../media/image47.svg"/><Relationship Id="rId10" Type="http://schemas.openxmlformats.org/officeDocument/2006/relationships/image" Target="../media/image46.png"/><Relationship Id="rId1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任意多边形 549"/>
          <p:cNvSpPr/>
          <p:nvPr/>
        </p:nvSpPr>
        <p:spPr>
          <a:xfrm>
            <a:off x="2067418" y="6988692"/>
            <a:ext cx="8525510" cy="1695450"/>
          </a:xfrm>
          <a:custGeom>
            <a:avLst/>
            <a:gdLst>
              <a:gd name="connsiteX0" fmla="*/ 1184 w 13426"/>
              <a:gd name="connsiteY0" fmla="*/ 0 h 2670"/>
              <a:gd name="connsiteX1" fmla="*/ 12580 w 13426"/>
              <a:gd name="connsiteY1" fmla="*/ 0 h 2670"/>
              <a:gd name="connsiteX2" fmla="*/ 13426 w 13426"/>
              <a:gd name="connsiteY2" fmla="*/ 782 h 2670"/>
              <a:gd name="connsiteX3" fmla="*/ 13426 w 13426"/>
              <a:gd name="connsiteY3" fmla="*/ 1888 h 2670"/>
              <a:gd name="connsiteX4" fmla="*/ 12580 w 13426"/>
              <a:gd name="connsiteY4" fmla="*/ 2669 h 2670"/>
              <a:gd name="connsiteX5" fmla="*/ 718 w 13426"/>
              <a:gd name="connsiteY5" fmla="*/ 2670 h 2670"/>
              <a:gd name="connsiteX6" fmla="*/ 0 w 13426"/>
              <a:gd name="connsiteY6" fmla="*/ 2145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26" h="2670">
                <a:moveTo>
                  <a:pt x="1184" y="0"/>
                </a:moveTo>
                <a:lnTo>
                  <a:pt x="12580" y="0"/>
                </a:lnTo>
                <a:cubicBezTo>
                  <a:pt x="13012" y="0"/>
                  <a:pt x="13426" y="350"/>
                  <a:pt x="13426" y="782"/>
                </a:cubicBezTo>
                <a:lnTo>
                  <a:pt x="13426" y="1888"/>
                </a:lnTo>
                <a:cubicBezTo>
                  <a:pt x="13426" y="2320"/>
                  <a:pt x="13012" y="2669"/>
                  <a:pt x="12580" y="2669"/>
                </a:cubicBezTo>
                <a:lnTo>
                  <a:pt x="718" y="2670"/>
                </a:lnTo>
                <a:cubicBezTo>
                  <a:pt x="286" y="2670"/>
                  <a:pt x="96" y="2541"/>
                  <a:pt x="0" y="2145"/>
                </a:cubicBezTo>
              </a:path>
            </a:pathLst>
          </a:custGeom>
          <a:noFill/>
          <a:ln w="127000">
            <a:solidFill>
              <a:srgbClr val="91A488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/>
          <p:cNvSpPr/>
          <p:nvPr/>
        </p:nvSpPr>
        <p:spPr>
          <a:xfrm>
            <a:off x="1652270" y="9762490"/>
            <a:ext cx="6447155" cy="3315970"/>
          </a:xfrm>
          <a:prstGeom prst="rect">
            <a:avLst/>
          </a:prstGeom>
          <a:solidFill>
            <a:srgbClr val="E6F4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1571058" y="9763026"/>
            <a:ext cx="6630670" cy="3315335"/>
            <a:chOff x="4524" y="13767"/>
            <a:chExt cx="10442" cy="5221"/>
          </a:xfrm>
        </p:grpSpPr>
        <p:grpSp>
          <p:nvGrpSpPr>
            <p:cNvPr id="56" name="组合 55"/>
            <p:cNvGrpSpPr/>
            <p:nvPr/>
          </p:nvGrpSpPr>
          <p:grpSpPr>
            <a:xfrm>
              <a:off x="9284" y="16514"/>
              <a:ext cx="5674" cy="2474"/>
              <a:chOff x="14528" y="6958"/>
              <a:chExt cx="3180" cy="1853"/>
            </a:xfrm>
          </p:grpSpPr>
          <p:sp>
            <p:nvSpPr>
              <p:cNvPr id="57" name="圆角矩形 56"/>
              <p:cNvSpPr/>
              <p:nvPr/>
            </p:nvSpPr>
            <p:spPr>
              <a:xfrm>
                <a:off x="14528" y="6958"/>
                <a:ext cx="3174" cy="1853"/>
              </a:xfrm>
              <a:prstGeom prst="roundRect">
                <a:avLst>
                  <a:gd name="adj" fmla="val 7339"/>
                </a:avLst>
              </a:prstGeom>
              <a:solidFill>
                <a:srgbClr val="F1CDA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15359" y="6958"/>
                <a:ext cx="2349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DBB7A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 flipH="1">
              <a:off x="4529" y="16514"/>
              <a:ext cx="4593" cy="2474"/>
              <a:chOff x="14528" y="6958"/>
              <a:chExt cx="2700" cy="1853"/>
            </a:xfrm>
          </p:grpSpPr>
          <p:sp>
            <p:nvSpPr>
              <p:cNvPr id="60" name="圆角矩形 59"/>
              <p:cNvSpPr/>
              <p:nvPr/>
            </p:nvSpPr>
            <p:spPr>
              <a:xfrm>
                <a:off x="14528" y="6958"/>
                <a:ext cx="2700" cy="1853"/>
              </a:xfrm>
              <a:prstGeom prst="roundRect">
                <a:avLst>
                  <a:gd name="adj" fmla="val 7339"/>
                </a:avLst>
              </a:prstGeom>
              <a:solidFill>
                <a:srgbClr val="B6D4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>
                <a:off x="15359" y="6958"/>
                <a:ext cx="1869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84C2A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9286" y="13767"/>
              <a:ext cx="5680" cy="2474"/>
              <a:chOff x="14528" y="6958"/>
              <a:chExt cx="3183" cy="1853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14528" y="6958"/>
                <a:ext cx="3183" cy="1853"/>
              </a:xfrm>
              <a:prstGeom prst="roundRect">
                <a:avLst>
                  <a:gd name="adj" fmla="val 7339"/>
                </a:avLst>
              </a:prstGeom>
              <a:solidFill>
                <a:srgbClr val="D7DBE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>
                <a:off x="15359" y="6958"/>
                <a:ext cx="2347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7D7F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 flipH="1">
              <a:off x="4524" y="13768"/>
              <a:ext cx="4604" cy="2476"/>
              <a:chOff x="14527" y="6957"/>
              <a:chExt cx="2707" cy="1854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14527" y="6957"/>
                <a:ext cx="2702" cy="1853"/>
              </a:xfrm>
              <a:prstGeom prst="roundRect">
                <a:avLst>
                  <a:gd name="adj" fmla="val 7339"/>
                </a:avLst>
              </a:prstGeom>
              <a:solidFill>
                <a:srgbClr val="CDE0D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>
                <a:off x="15359" y="6958"/>
                <a:ext cx="1875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8BA3A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6" name="组合 155"/>
          <p:cNvGrpSpPr/>
          <p:nvPr/>
        </p:nvGrpSpPr>
        <p:grpSpPr>
          <a:xfrm>
            <a:off x="3188403" y="9762708"/>
            <a:ext cx="3322320" cy="3310890"/>
            <a:chOff x="7071" y="13766"/>
            <a:chExt cx="5232" cy="5214"/>
          </a:xfrm>
        </p:grpSpPr>
        <p:grpSp>
          <p:nvGrpSpPr>
            <p:cNvPr id="70" name="组合 69"/>
            <p:cNvGrpSpPr/>
            <p:nvPr/>
          </p:nvGrpSpPr>
          <p:grpSpPr>
            <a:xfrm>
              <a:off x="7856" y="13766"/>
              <a:ext cx="3456" cy="5214"/>
              <a:chOff x="7822" y="13767"/>
              <a:chExt cx="3456" cy="5214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7822" y="14372"/>
                <a:ext cx="3456" cy="3955"/>
              </a:xfrm>
              <a:prstGeom prst="rect">
                <a:avLst/>
              </a:prstGeom>
              <a:solidFill>
                <a:srgbClr val="E6F4F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8606" y="13767"/>
                <a:ext cx="1759" cy="5214"/>
              </a:xfrm>
              <a:prstGeom prst="rect">
                <a:avLst/>
              </a:prstGeom>
              <a:solidFill>
                <a:srgbClr val="E6F4F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7" name="矩形 146"/>
            <p:cNvSpPr/>
            <p:nvPr/>
          </p:nvSpPr>
          <p:spPr>
            <a:xfrm>
              <a:off x="7071" y="16017"/>
              <a:ext cx="4707" cy="279"/>
            </a:xfrm>
            <a:prstGeom prst="rect">
              <a:avLst/>
            </a:prstGeom>
            <a:solidFill>
              <a:srgbClr val="E6F4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/>
            <p:cNvSpPr/>
            <p:nvPr/>
          </p:nvSpPr>
          <p:spPr>
            <a:xfrm>
              <a:off x="7255" y="16459"/>
              <a:ext cx="5048" cy="230"/>
            </a:xfrm>
            <a:prstGeom prst="rect">
              <a:avLst/>
            </a:prstGeom>
            <a:solidFill>
              <a:srgbClr val="E6F4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1652269" y="9805282"/>
            <a:ext cx="2408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Segmentation</a:t>
            </a:r>
            <a:endParaRPr lang="en-US" altLang="zh-CN" sz="1600" b="1" dirty="0"/>
          </a:p>
        </p:txBody>
      </p:sp>
      <p:sp>
        <p:nvSpPr>
          <p:cNvPr id="201" name="文本框 200"/>
          <p:cNvSpPr txBox="1"/>
          <p:nvPr/>
        </p:nvSpPr>
        <p:spPr>
          <a:xfrm>
            <a:off x="5195003" y="9816684"/>
            <a:ext cx="2884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/>
              <a:t>Classification</a:t>
            </a:r>
            <a:endParaRPr lang="en-US" altLang="zh-CN" sz="1600" b="1" dirty="0"/>
          </a:p>
        </p:txBody>
      </p:sp>
      <p:sp>
        <p:nvSpPr>
          <p:cNvPr id="202" name="文本框 201"/>
          <p:cNvSpPr txBox="1"/>
          <p:nvPr/>
        </p:nvSpPr>
        <p:spPr>
          <a:xfrm>
            <a:off x="1662495" y="11511683"/>
            <a:ext cx="2453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Reporting </a:t>
            </a:r>
            <a:endParaRPr lang="en-US" altLang="zh-CN" sz="1600" b="1" dirty="0"/>
          </a:p>
        </p:txBody>
      </p:sp>
      <p:sp>
        <p:nvSpPr>
          <p:cNvPr id="203" name="文本框 202"/>
          <p:cNvSpPr txBox="1"/>
          <p:nvPr/>
        </p:nvSpPr>
        <p:spPr>
          <a:xfrm>
            <a:off x="6365663" y="11517947"/>
            <a:ext cx="1714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/>
              <a:t>Opportunistic</a:t>
            </a:r>
            <a:endParaRPr lang="en-US" altLang="zh-CN" sz="1600" b="1" dirty="0"/>
          </a:p>
          <a:p>
            <a:pPr algn="r"/>
            <a:r>
              <a:rPr lang="en-US" altLang="zh-CN" sz="1600" b="1" dirty="0"/>
              <a:t>screening</a:t>
            </a:r>
            <a:endParaRPr lang="en-US" altLang="zh-CN" sz="1600" b="1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191895" y="2876234"/>
            <a:ext cx="3017520" cy="3299460"/>
            <a:chOff x="1877" y="12725"/>
            <a:chExt cx="4752" cy="5260"/>
          </a:xfrm>
        </p:grpSpPr>
        <p:sp>
          <p:nvSpPr>
            <p:cNvPr id="215" name="圆角矩形 214"/>
            <p:cNvSpPr/>
            <p:nvPr/>
          </p:nvSpPr>
          <p:spPr>
            <a:xfrm>
              <a:off x="1877" y="12725"/>
              <a:ext cx="4752" cy="5260"/>
            </a:xfrm>
            <a:prstGeom prst="roundRect">
              <a:avLst>
                <a:gd name="adj" fmla="val 7575"/>
              </a:avLst>
            </a:prstGeom>
            <a:solidFill>
              <a:srgbClr val="002057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2260" y="14497"/>
              <a:ext cx="398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OpenThyroidDB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17" name="文本框 216"/>
            <p:cNvSpPr txBox="1"/>
            <p:nvPr/>
          </p:nvSpPr>
          <p:spPr>
            <a:xfrm>
              <a:off x="2587" y="15222"/>
              <a:ext cx="3333" cy="6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</a:rPr>
                <a:t>A multitask thyroid ultrasound database</a:t>
              </a:r>
              <a:endParaRPr lang="en-US" altLang="zh-CN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218" name="直接连接符 217"/>
            <p:cNvCxnSpPr/>
            <p:nvPr/>
          </p:nvCxnSpPr>
          <p:spPr>
            <a:xfrm>
              <a:off x="2261" y="16040"/>
              <a:ext cx="3984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22" name="图片 221" descr="资源 2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3" y="13174"/>
              <a:ext cx="1848" cy="1320"/>
            </a:xfrm>
            <a:prstGeom prst="rect">
              <a:avLst/>
            </a:prstGeom>
          </p:spPr>
        </p:pic>
        <p:grpSp>
          <p:nvGrpSpPr>
            <p:cNvPr id="230" name="组合 229"/>
            <p:cNvGrpSpPr/>
            <p:nvPr/>
          </p:nvGrpSpPr>
          <p:grpSpPr>
            <a:xfrm>
              <a:off x="2923" y="16108"/>
              <a:ext cx="2698" cy="483"/>
              <a:chOff x="2789" y="16757"/>
              <a:chExt cx="2698" cy="483"/>
            </a:xfrm>
          </p:grpSpPr>
          <p:sp>
            <p:nvSpPr>
              <p:cNvPr id="223" name="文本框 222"/>
              <p:cNvSpPr txBox="1"/>
              <p:nvPr/>
            </p:nvSpPr>
            <p:spPr>
              <a:xfrm>
                <a:off x="2800" y="16806"/>
                <a:ext cx="2687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B0ECF4"/>
                    </a:solidFill>
                  </a:rPr>
                  <a:t>Scanner Diversity</a:t>
                </a:r>
                <a:endParaRPr lang="en-US" altLang="zh-CN" sz="1200" dirty="0">
                  <a:solidFill>
                    <a:srgbClr val="B0ECF4"/>
                  </a:solidFill>
                </a:endParaRPr>
              </a:p>
            </p:txBody>
          </p:sp>
          <p:pic>
            <p:nvPicPr>
              <p:cNvPr id="229" name="图片 228" descr="资源 17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789" y="16757"/>
                <a:ext cx="323" cy="440"/>
              </a:xfrm>
              <a:prstGeom prst="rect">
                <a:avLst/>
              </a:prstGeom>
            </p:spPr>
          </p:pic>
        </p:grpSp>
        <p:sp>
          <p:nvSpPr>
            <p:cNvPr id="231" name="文本框 230"/>
            <p:cNvSpPr txBox="1"/>
            <p:nvPr/>
          </p:nvSpPr>
          <p:spPr>
            <a:xfrm>
              <a:off x="1923" y="16595"/>
              <a:ext cx="4660" cy="10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900" dirty="0">
                  <a:solidFill>
                    <a:schemeClr val="bg1"/>
                  </a:solidFill>
                </a:rPr>
                <a:t>GE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Logiq</a:t>
              </a:r>
              <a:r>
                <a:rPr lang="en-US" altLang="zh-CN" sz="900" dirty="0">
                  <a:solidFill>
                    <a:schemeClr val="bg1"/>
                  </a:solidFill>
                </a:rPr>
                <a:t> E9 · GE S7 · ARIETTA 850 RESONA 70B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>
                  <a:solidFill>
                    <a:schemeClr val="bg1"/>
                  </a:solidFill>
                </a:rPr>
                <a:t>TOSHIBA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Nemio</a:t>
              </a:r>
              <a:r>
                <a:rPr lang="en-US" altLang="zh-CN" sz="900" dirty="0">
                  <a:solidFill>
                    <a:schemeClr val="bg1"/>
                  </a:solidFill>
                </a:rPr>
                <a:t> 30/MX · Hitachi Aloka Arietta V70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 err="1">
                  <a:solidFill>
                    <a:schemeClr val="bg1"/>
                  </a:solidFill>
                </a:rPr>
                <a:t>Esaote</a:t>
              </a:r>
              <a:r>
                <a:rPr lang="en-US" altLang="zh-CN" sz="900" dirty="0">
                  <a:solidFill>
                    <a:schemeClr val="bg1"/>
                  </a:solidFill>
                </a:rPr>
                <a:t>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MyLab</a:t>
              </a:r>
              <a:r>
                <a:rPr lang="en-US" altLang="zh-CN" sz="900" dirty="0">
                  <a:solidFill>
                    <a:schemeClr val="bg1"/>
                  </a:solidFill>
                </a:rPr>
                <a:t> · Samsung Medison RS80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 err="1">
                  <a:solidFill>
                    <a:schemeClr val="bg1"/>
                  </a:solidFill>
                </a:rPr>
                <a:t>SuperSonic</a:t>
              </a:r>
              <a:r>
                <a:rPr lang="en-US" altLang="zh-CN" sz="900" dirty="0">
                  <a:solidFill>
                    <a:schemeClr val="bg1"/>
                  </a:solidFill>
                </a:rPr>
                <a:t> Imagine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AixPlorer</a:t>
              </a:r>
              <a:r>
                <a:rPr lang="en-US" altLang="zh-CN" sz="900" dirty="0">
                  <a:solidFill>
                    <a:schemeClr val="bg1"/>
                  </a:solidFill>
                </a:rPr>
                <a:t> Ultimate …</a:t>
              </a:r>
              <a:endParaRPr lang="en-US" altLang="zh-CN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65295" y="4613594"/>
            <a:ext cx="304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Report generation</a:t>
            </a:r>
            <a:endParaRPr lang="en-US" altLang="zh-CN" sz="1400" dirty="0"/>
          </a:p>
        </p:txBody>
      </p:sp>
      <p:sp>
        <p:nvSpPr>
          <p:cNvPr id="312" name="圆角矩形 311"/>
          <p:cNvSpPr/>
          <p:nvPr/>
        </p:nvSpPr>
        <p:spPr>
          <a:xfrm>
            <a:off x="7546833" y="3014029"/>
            <a:ext cx="3212465" cy="1524635"/>
          </a:xfrm>
          <a:prstGeom prst="roundRect">
            <a:avLst>
              <a:gd name="adj" fmla="val 5250"/>
            </a:avLst>
          </a:prstGeom>
          <a:noFill/>
          <a:ln>
            <a:solidFill>
              <a:srgbClr val="5D309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14" name="圆角矩形 313"/>
          <p:cNvSpPr/>
          <p:nvPr/>
        </p:nvSpPr>
        <p:spPr>
          <a:xfrm>
            <a:off x="4280535" y="4647249"/>
            <a:ext cx="3212465" cy="1528445"/>
          </a:xfrm>
          <a:prstGeom prst="roundRect">
            <a:avLst>
              <a:gd name="adj" fmla="val 5250"/>
            </a:avLst>
          </a:prstGeom>
          <a:noFill/>
          <a:ln>
            <a:solidFill>
              <a:srgbClr val="368030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15" name="圆角矩形 314"/>
          <p:cNvSpPr/>
          <p:nvPr/>
        </p:nvSpPr>
        <p:spPr>
          <a:xfrm>
            <a:off x="7548880" y="4647884"/>
            <a:ext cx="3212465" cy="1528445"/>
          </a:xfrm>
          <a:prstGeom prst="roundRect">
            <a:avLst>
              <a:gd name="adj" fmla="val 5250"/>
            </a:avLst>
          </a:prstGeom>
          <a:noFill/>
          <a:ln>
            <a:solidFill>
              <a:srgbClr val="D85C18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8" name="圆角矩形 307"/>
          <p:cNvSpPr/>
          <p:nvPr/>
        </p:nvSpPr>
        <p:spPr>
          <a:xfrm>
            <a:off x="4279900" y="3010219"/>
            <a:ext cx="3212465" cy="1529080"/>
          </a:xfrm>
          <a:prstGeom prst="roundRect">
            <a:avLst>
              <a:gd name="adj" fmla="val 5250"/>
            </a:avLst>
          </a:prstGeom>
          <a:noFill/>
          <a:ln>
            <a:solidFill>
              <a:srgbClr val="23929A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35" name="文本框 334"/>
          <p:cNvSpPr txBox="1"/>
          <p:nvPr/>
        </p:nvSpPr>
        <p:spPr>
          <a:xfrm>
            <a:off x="4273016" y="3006607"/>
            <a:ext cx="304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Segmentation</a:t>
            </a:r>
            <a:endParaRPr lang="en-US" altLang="zh-CN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95140" y="3289619"/>
            <a:ext cx="2728595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Pixel-level delineation of thyroid nodules</a:t>
            </a:r>
            <a:endParaRPr lang="en-US" altLang="zh-CN" sz="900"/>
          </a:p>
        </p:txBody>
      </p:sp>
      <p:sp>
        <p:nvSpPr>
          <p:cNvPr id="13" name="文本框 12"/>
          <p:cNvSpPr txBox="1"/>
          <p:nvPr/>
        </p:nvSpPr>
        <p:spPr>
          <a:xfrm>
            <a:off x="7547468" y="3014029"/>
            <a:ext cx="304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Classification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7562708" y="3289619"/>
            <a:ext cx="2728595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Benign / malignant thyroid nodule classification</a:t>
            </a:r>
            <a:endParaRPr lang="en-US" altLang="zh-CN" sz="900"/>
          </a:p>
        </p:txBody>
      </p:sp>
      <p:graphicFrame>
        <p:nvGraphicFramePr>
          <p:cNvPr id="16" name="图表 15"/>
          <p:cNvGraphicFramePr/>
          <p:nvPr/>
        </p:nvGraphicFramePr>
        <p:xfrm>
          <a:off x="7613508" y="2916874"/>
          <a:ext cx="3325495" cy="1657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931643" y="3562034"/>
            <a:ext cx="575310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AHU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125,896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92348" y="3560764"/>
            <a:ext cx="54038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ThyroidXL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11,635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32733" y="3586164"/>
            <a:ext cx="476250" cy="3359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</a:rPr>
              <a:t>ThyUS2Path</a:t>
            </a:r>
            <a:endParaRPr lang="en-US" altLang="zh-CN" sz="6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8,508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530573" y="3562034"/>
            <a:ext cx="422910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TN5K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5,000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953483" y="3560764"/>
            <a:ext cx="38036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TN3K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3,493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31943" y="3562034"/>
            <a:ext cx="36512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DDTI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349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 rot="16200000">
            <a:off x="7546198" y="3562669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279900" y="4829999"/>
            <a:ext cx="2880360" cy="205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dirty="0"/>
              <a:t>Images-report pairs for standardized reporting</a:t>
            </a:r>
            <a:endParaRPr lang="en-US" altLang="zh-CN" sz="900" dirty="0"/>
          </a:p>
        </p:txBody>
      </p:sp>
      <p:grpSp>
        <p:nvGrpSpPr>
          <p:cNvPr id="177" name="组合 176"/>
          <p:cNvGrpSpPr/>
          <p:nvPr/>
        </p:nvGrpSpPr>
        <p:grpSpPr>
          <a:xfrm>
            <a:off x="4730750" y="5592946"/>
            <a:ext cx="2459990" cy="278765"/>
            <a:chOff x="7123" y="16928"/>
            <a:chExt cx="3874" cy="498"/>
          </a:xfrm>
        </p:grpSpPr>
        <p:grpSp>
          <p:nvGrpSpPr>
            <p:cNvPr id="157" name="组合 156"/>
            <p:cNvGrpSpPr/>
            <p:nvPr/>
          </p:nvGrpSpPr>
          <p:grpSpPr>
            <a:xfrm>
              <a:off x="7175" y="16945"/>
              <a:ext cx="3822" cy="481"/>
              <a:chOff x="7804" y="13488"/>
              <a:chExt cx="2300" cy="424"/>
            </a:xfrm>
          </p:grpSpPr>
          <p:sp>
            <p:nvSpPr>
              <p:cNvPr id="158" name="圆角矩形 157"/>
              <p:cNvSpPr/>
              <p:nvPr/>
            </p:nvSpPr>
            <p:spPr>
              <a:xfrm>
                <a:off x="7804" y="13528"/>
                <a:ext cx="2300" cy="384"/>
              </a:xfrm>
              <a:prstGeom prst="roundRect">
                <a:avLst/>
              </a:prstGeom>
              <a:solidFill>
                <a:srgbClr val="F8F8F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9" name="组合 158"/>
              <p:cNvGrpSpPr/>
              <p:nvPr/>
            </p:nvGrpSpPr>
            <p:grpSpPr>
              <a:xfrm>
                <a:off x="7804" y="13528"/>
                <a:ext cx="663" cy="384"/>
                <a:chOff x="4596" y="10896"/>
                <a:chExt cx="663" cy="384"/>
              </a:xfrm>
            </p:grpSpPr>
            <p:sp>
              <p:nvSpPr>
                <p:cNvPr id="161" name="矩形 160"/>
                <p:cNvSpPr/>
                <p:nvPr/>
              </p:nvSpPr>
              <p:spPr>
                <a:xfrm>
                  <a:off x="4659" y="10896"/>
                  <a:ext cx="600" cy="384"/>
                </a:xfrm>
                <a:prstGeom prst="rect">
                  <a:avLst/>
                </a:prstGeom>
                <a:solidFill>
                  <a:srgbClr val="66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圆角矩形 161"/>
                <p:cNvSpPr/>
                <p:nvPr/>
              </p:nvSpPr>
              <p:spPr>
                <a:xfrm>
                  <a:off x="4596" y="10896"/>
                  <a:ext cx="295" cy="384"/>
                </a:xfrm>
                <a:prstGeom prst="roundRect">
                  <a:avLst/>
                </a:prstGeom>
                <a:solidFill>
                  <a:srgbClr val="660000"/>
                </a:solidFill>
                <a:ln w="3175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64" name="文本框 163"/>
              <p:cNvSpPr txBox="1"/>
              <p:nvPr/>
            </p:nvSpPr>
            <p:spPr>
              <a:xfrm>
                <a:off x="8467" y="13488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353 reports,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4,471 images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7" name="文本框 166"/>
            <p:cNvSpPr txBox="1"/>
            <p:nvPr/>
          </p:nvSpPr>
          <p:spPr>
            <a:xfrm>
              <a:off x="7123" y="16928"/>
              <a:ext cx="1155" cy="487"/>
            </a:xfrm>
            <a:prstGeom prst="rect">
              <a:avLst/>
            </a:prstGeom>
            <a:noFill/>
          </p:spPr>
          <p:txBody>
            <a:bodyPr wrap="square" lIns="36195" rIns="36195" rtlCol="0">
              <a:no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ZJH-TS</a:t>
              </a:r>
              <a:endPara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 rot="0">
            <a:off x="4763135" y="5330190"/>
            <a:ext cx="2426970" cy="276225"/>
            <a:chOff x="7804" y="13506"/>
            <a:chExt cx="2300" cy="421"/>
          </a:xfrm>
        </p:grpSpPr>
        <p:sp>
          <p:nvSpPr>
            <p:cNvPr id="169" name="圆角矩形 168"/>
            <p:cNvSpPr/>
            <p:nvPr/>
          </p:nvSpPr>
          <p:spPr>
            <a:xfrm>
              <a:off x="7804" y="13528"/>
              <a:ext cx="2300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0" name="组合 169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66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66000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4" name="文本框 173"/>
            <p:cNvSpPr txBox="1"/>
            <p:nvPr/>
          </p:nvSpPr>
          <p:spPr>
            <a:xfrm>
              <a:off x="8467" y="13506"/>
              <a:ext cx="1636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rPr>
                <a:t>23,955 reports,</a:t>
              </a:r>
              <a:endParaRPr lang="en-US" altLang="zh-CN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rPr>
                <a:t>248,194 images</a:t>
              </a:r>
              <a:endParaRPr lang="en-US" altLang="zh-CN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0" name="文本框 179"/>
          <p:cNvSpPr txBox="1"/>
          <p:nvPr/>
        </p:nvSpPr>
        <p:spPr>
          <a:xfrm>
            <a:off x="7548880" y="4658679"/>
            <a:ext cx="3045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Opportunistic diagnosis</a:t>
            </a:r>
            <a:endParaRPr lang="en-US" altLang="zh-CN" sz="1400" dirty="0"/>
          </a:p>
        </p:txBody>
      </p:sp>
      <p:sp>
        <p:nvSpPr>
          <p:cNvPr id="181" name="文本框 180"/>
          <p:cNvSpPr txBox="1"/>
          <p:nvPr/>
        </p:nvSpPr>
        <p:spPr>
          <a:xfrm>
            <a:off x="7564120" y="4934269"/>
            <a:ext cx="2880360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LNM prediction and FTC/PTC subtype classification</a:t>
            </a:r>
            <a:endParaRPr lang="en-US" altLang="zh-CN" sz="900"/>
          </a:p>
        </p:txBody>
      </p:sp>
      <p:grpSp>
        <p:nvGrpSpPr>
          <p:cNvPr id="2" name="组合 1"/>
          <p:cNvGrpSpPr/>
          <p:nvPr/>
        </p:nvGrpSpPr>
        <p:grpSpPr>
          <a:xfrm>
            <a:off x="7781290" y="5240974"/>
            <a:ext cx="2638425" cy="303530"/>
            <a:chOff x="7773" y="13497"/>
            <a:chExt cx="2500" cy="421"/>
          </a:xfrm>
        </p:grpSpPr>
        <p:sp>
          <p:nvSpPr>
            <p:cNvPr id="9" name="圆角矩形 8"/>
            <p:cNvSpPr/>
            <p:nvPr/>
          </p:nvSpPr>
          <p:spPr>
            <a:xfrm>
              <a:off x="7804" y="13528"/>
              <a:ext cx="2469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8C260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8C260B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773" y="13497"/>
              <a:ext cx="1615" cy="421"/>
              <a:chOff x="7857" y="12024"/>
              <a:chExt cx="1615" cy="421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8604" y="12024"/>
                <a:ext cx="868" cy="421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Public dataset</a:t>
                </a:r>
                <a:endPara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200 images</a:t>
                </a:r>
                <a:endPara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7857" y="12096"/>
                <a:ext cx="695" cy="346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0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FTC / PTC</a:t>
                </a:r>
                <a:endParaRPr lang="en-US" altLang="zh-CN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7814310" y="5596574"/>
            <a:ext cx="2605405" cy="276860"/>
            <a:chOff x="7804" y="13528"/>
            <a:chExt cx="2469" cy="384"/>
          </a:xfrm>
        </p:grpSpPr>
        <p:sp>
          <p:nvSpPr>
            <p:cNvPr id="29" name="圆角矩形 28"/>
            <p:cNvSpPr/>
            <p:nvPr/>
          </p:nvSpPr>
          <p:spPr>
            <a:xfrm>
              <a:off x="7804" y="13528"/>
              <a:ext cx="2469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07382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07382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3" name="直接连接符 52"/>
          <p:cNvCxnSpPr/>
          <p:nvPr/>
        </p:nvCxnSpPr>
        <p:spPr>
          <a:xfrm>
            <a:off x="9521825" y="5273994"/>
            <a:ext cx="0" cy="27051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9531985" y="5240974"/>
            <a:ext cx="916305" cy="303530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496 images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781290" y="5620069"/>
            <a:ext cx="733425" cy="25717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LNM</a:t>
            </a:r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514080" y="5585144"/>
            <a:ext cx="1904365" cy="303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800" dirty="0" err="1">
                <a:latin typeface="Arial" panose="020B0604020202020204" pitchFamily="34" charset="0"/>
                <a:cs typeface="Arial" panose="020B0604020202020204" pitchFamily="34" charset="0"/>
              </a:rPr>
              <a:t>LymphUs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338 images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1" name="图表 70"/>
          <p:cNvGraphicFramePr/>
          <p:nvPr/>
        </p:nvGraphicFramePr>
        <p:xfrm>
          <a:off x="4355465" y="2917509"/>
          <a:ext cx="3325495" cy="1657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2" name="文本框 71"/>
          <p:cNvSpPr txBox="1"/>
          <p:nvPr/>
        </p:nvSpPr>
        <p:spPr>
          <a:xfrm>
            <a:off x="4671695" y="3565844"/>
            <a:ext cx="45720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Cline-clip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17,417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128895" y="3565209"/>
            <a:ext cx="429895" cy="361950"/>
          </a:xfrm>
          <a:prstGeom prst="rect">
            <a:avLst/>
          </a:prstGeom>
          <a:noFill/>
        </p:spPr>
        <p:txBody>
          <a:bodyPr wrap="square" lIns="10795" rIns="10795" rtlCol="0">
            <a:noAutofit/>
          </a:bodyPr>
          <a:lstStyle/>
          <a:p>
            <a:pPr algn="ctr"/>
            <a:r>
              <a:rPr lang="en-US" altLang="zh-CN" sz="800" dirty="0" err="1">
                <a:solidFill>
                  <a:schemeClr val="bg1"/>
                </a:solidFill>
              </a:rPr>
              <a:t>TGVideo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15,186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558790" y="3581084"/>
            <a:ext cx="419735" cy="34544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700" dirty="0" err="1">
                <a:solidFill>
                  <a:schemeClr val="bg1"/>
                </a:solidFill>
              </a:rPr>
              <a:t>ThyroidXL</a:t>
            </a:r>
            <a:endParaRPr lang="en-US" altLang="zh-CN" sz="7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11,635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374765" y="3565209"/>
            <a:ext cx="370205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TN3K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3,493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978525" y="3565845"/>
            <a:ext cx="396240" cy="356234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700" dirty="0">
                <a:solidFill>
                  <a:schemeClr val="bg1"/>
                </a:solidFill>
              </a:rPr>
              <a:t>RJH-7K</a:t>
            </a:r>
            <a:endParaRPr lang="en-US" altLang="zh-CN" sz="5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zh-CN" sz="800" dirty="0">
                <a:solidFill>
                  <a:schemeClr val="bg1"/>
                </a:solidFill>
              </a:rPr>
              <a:t>7,288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733540" y="3565209"/>
            <a:ext cx="36576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PKTN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1,005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099300" y="3565209"/>
            <a:ext cx="34036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DDTI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637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1759585" y="10055225"/>
            <a:ext cx="1609725" cy="1104265"/>
          </a:xfrm>
          <a:prstGeom prst="rect">
            <a:avLst/>
          </a:prstGeom>
        </p:spPr>
        <p:txBody>
          <a:bodyPr wrap="square" lIns="36195">
            <a:spAutoFit/>
          </a:bodyPr>
          <a:lstStyle/>
          <a:p>
            <a:pPr indent="0" algn="l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Agentic nodule mask generation</a:t>
            </a:r>
            <a:endParaRPr lang="en-US" altLang="zh-CN" sz="1200" dirty="0"/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Clinician-auditable refinement</a:t>
            </a:r>
            <a:endParaRPr lang="en-US" altLang="zh-CN" sz="1200" dirty="0"/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Traceable tool calls</a:t>
            </a:r>
            <a:endParaRPr lang="en-US" altLang="zh-CN" sz="1200" dirty="0"/>
          </a:p>
        </p:txBody>
      </p:sp>
      <p:sp>
        <p:nvSpPr>
          <p:cNvPr id="356" name="文本框 355"/>
          <p:cNvSpPr txBox="1"/>
          <p:nvPr/>
        </p:nvSpPr>
        <p:spPr>
          <a:xfrm>
            <a:off x="6210300" y="10055225"/>
            <a:ext cx="1773555" cy="1306830"/>
          </a:xfrm>
          <a:prstGeom prst="rect">
            <a:avLst/>
          </a:prstGeom>
        </p:spPr>
        <p:txBody>
          <a:bodyPr wrap="square" rIns="36195">
            <a:spAutoFit/>
          </a:bodyPr>
          <a:lstStyle/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Auditable malignancy assessment</a:t>
            </a:r>
            <a:endParaRPr lang="en-US" altLang="zh-CN" sz="1200" dirty="0"/>
          </a:p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Radiomic feature analysis</a:t>
            </a:r>
            <a:endParaRPr lang="en-US" altLang="zh-CN" sz="1200" dirty="0"/>
          </a:p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SHAP-based explanation</a:t>
            </a:r>
            <a:endParaRPr lang="en-US" altLang="zh-CN" sz="1200" dirty="0"/>
          </a:p>
        </p:txBody>
      </p:sp>
      <p:sp>
        <p:nvSpPr>
          <p:cNvPr id="357" name="文本框 356"/>
          <p:cNvSpPr txBox="1"/>
          <p:nvPr/>
        </p:nvSpPr>
        <p:spPr>
          <a:xfrm>
            <a:off x="1746885" y="11779885"/>
            <a:ext cx="1562100" cy="975995"/>
          </a:xfrm>
          <a:prstGeom prst="rect">
            <a:avLst/>
          </a:prstGeom>
        </p:spPr>
        <p:txBody>
          <a:bodyPr wrap="square" lIns="36195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/>
              <a:t>Ultrasound-based report drafting</a:t>
            </a: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en-US" altLang="zh-CN" sz="1200" dirty="0"/>
              <a:t>Image and video interpretation</a:t>
            </a:r>
            <a:endParaRPr lang="en-US" altLang="zh-CN" sz="1200" dirty="0"/>
          </a:p>
        </p:txBody>
      </p:sp>
      <p:sp>
        <p:nvSpPr>
          <p:cNvPr id="360" name="文本框 359"/>
          <p:cNvSpPr txBox="1"/>
          <p:nvPr/>
        </p:nvSpPr>
        <p:spPr>
          <a:xfrm>
            <a:off x="1223645" y="2489839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223644" y="6175694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1223644" y="9468719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4" name="组合 433"/>
          <p:cNvGrpSpPr/>
          <p:nvPr/>
        </p:nvGrpSpPr>
        <p:grpSpPr>
          <a:xfrm>
            <a:off x="1305452" y="6692147"/>
            <a:ext cx="1523365" cy="1657985"/>
            <a:chOff x="1947" y="12438"/>
            <a:chExt cx="2399" cy="26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7" name="圆角矩形 406"/>
            <p:cNvSpPr/>
            <p:nvPr/>
          </p:nvSpPr>
          <p:spPr>
            <a:xfrm>
              <a:off x="1996" y="12438"/>
              <a:ext cx="2329" cy="2611"/>
            </a:xfrm>
            <a:prstGeom prst="roundRect">
              <a:avLst/>
            </a:prstGeom>
            <a:solidFill>
              <a:srgbClr val="536B8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8" name="图片 407" descr="资源 4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60" y="12876"/>
              <a:ext cx="1373" cy="1373"/>
            </a:xfrm>
            <a:prstGeom prst="rect">
              <a:avLst/>
            </a:prstGeom>
          </p:spPr>
        </p:pic>
        <p:sp>
          <p:nvSpPr>
            <p:cNvPr id="409" name="文本框 408"/>
            <p:cNvSpPr txBox="1"/>
            <p:nvPr/>
          </p:nvSpPr>
          <p:spPr>
            <a:xfrm>
              <a:off x="1947" y="14284"/>
              <a:ext cx="2399" cy="485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ThyroidXAgent</a:t>
              </a:r>
              <a:endParaRPr lang="en-US" altLang="zh-CN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9" name="图片 438" descr="用户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29192" y="7795142"/>
            <a:ext cx="448310" cy="447040"/>
          </a:xfrm>
          <a:prstGeom prst="rect">
            <a:avLst/>
          </a:prstGeom>
        </p:spPr>
      </p:pic>
      <p:grpSp>
        <p:nvGrpSpPr>
          <p:cNvPr id="437" name="组合 436"/>
          <p:cNvGrpSpPr/>
          <p:nvPr/>
        </p:nvGrpSpPr>
        <p:grpSpPr>
          <a:xfrm>
            <a:off x="2949467" y="7795142"/>
            <a:ext cx="553720" cy="140335"/>
            <a:chOff x="4417" y="13630"/>
            <a:chExt cx="872" cy="221"/>
          </a:xfrm>
        </p:grpSpPr>
        <p:cxnSp>
          <p:nvCxnSpPr>
            <p:cNvPr id="435" name="直接箭头连接符 434"/>
            <p:cNvCxnSpPr/>
            <p:nvPr/>
          </p:nvCxnSpPr>
          <p:spPr>
            <a:xfrm>
              <a:off x="4417" y="13630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6" name="直接箭头连接符 435"/>
            <p:cNvCxnSpPr/>
            <p:nvPr/>
          </p:nvCxnSpPr>
          <p:spPr>
            <a:xfrm flipH="1">
              <a:off x="4417" y="13851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0" name="组合 569"/>
          <p:cNvGrpSpPr/>
          <p:nvPr/>
        </p:nvGrpSpPr>
        <p:grpSpPr>
          <a:xfrm>
            <a:off x="5389772" y="6440370"/>
            <a:ext cx="1352550" cy="1156970"/>
            <a:chOff x="8259" y="15739"/>
            <a:chExt cx="2130" cy="1822"/>
          </a:xfrm>
        </p:grpSpPr>
        <p:grpSp>
          <p:nvGrpSpPr>
            <p:cNvPr id="568" name="组合 567"/>
            <p:cNvGrpSpPr/>
            <p:nvPr/>
          </p:nvGrpSpPr>
          <p:grpSpPr>
            <a:xfrm>
              <a:off x="8351" y="15739"/>
              <a:ext cx="2038" cy="1543"/>
              <a:chOff x="8351" y="15730"/>
              <a:chExt cx="2038" cy="1543"/>
            </a:xfrm>
          </p:grpSpPr>
          <p:grpSp>
            <p:nvGrpSpPr>
              <p:cNvPr id="452" name="组合 451"/>
              <p:cNvGrpSpPr/>
              <p:nvPr/>
            </p:nvGrpSpPr>
            <p:grpSpPr>
              <a:xfrm>
                <a:off x="8671" y="15730"/>
                <a:ext cx="1718" cy="1158"/>
                <a:chOff x="6023" y="14919"/>
                <a:chExt cx="1718" cy="1158"/>
              </a:xfrm>
            </p:grpSpPr>
            <p:sp>
              <p:nvSpPr>
                <p:cNvPr id="451" name="任意多边形 450"/>
                <p:cNvSpPr/>
                <p:nvPr/>
              </p:nvSpPr>
              <p:spPr>
                <a:xfrm>
                  <a:off x="6042" y="15647"/>
                  <a:ext cx="957" cy="420"/>
                </a:xfrm>
                <a:custGeom>
                  <a:avLst/>
                  <a:gdLst>
                    <a:gd name="connisteX0" fmla="*/ 0 w 607695"/>
                    <a:gd name="connsiteY0" fmla="*/ 266700 h 266700"/>
                    <a:gd name="connisteX1" fmla="*/ 314325 w 607695"/>
                    <a:gd name="connsiteY1" fmla="*/ 266700 h 266700"/>
                    <a:gd name="connisteX2" fmla="*/ 468630 w 607695"/>
                    <a:gd name="connsiteY2" fmla="*/ 264795 h 266700"/>
                    <a:gd name="connisteX3" fmla="*/ 539115 w 607695"/>
                    <a:gd name="connsiteY3" fmla="*/ 257175 h 266700"/>
                    <a:gd name="connisteX4" fmla="*/ 579120 w 607695"/>
                    <a:gd name="connsiteY4" fmla="*/ 232410 h 266700"/>
                    <a:gd name="connisteX5" fmla="*/ 607695 w 607695"/>
                    <a:gd name="connsiteY5" fmla="*/ 194310 h 266700"/>
                    <a:gd name="connisteX6" fmla="*/ 607695 w 607695"/>
                    <a:gd name="connsiteY6" fmla="*/ 171450 h 266700"/>
                    <a:gd name="connisteX7" fmla="*/ 605790 w 607695"/>
                    <a:gd name="connsiteY7" fmla="*/ 127635 h 266700"/>
                    <a:gd name="connisteX8" fmla="*/ 590550 w 607695"/>
                    <a:gd name="connsiteY8" fmla="*/ 80010 h 266700"/>
                    <a:gd name="connisteX9" fmla="*/ 554355 w 607695"/>
                    <a:gd name="connsiteY9" fmla="*/ 49530 h 266700"/>
                    <a:gd name="connisteX10" fmla="*/ 520065 w 607695"/>
                    <a:gd name="connsiteY10" fmla="*/ 30480 h 266700"/>
                    <a:gd name="connisteX11" fmla="*/ 478155 w 607695"/>
                    <a:gd name="connsiteY11" fmla="*/ 17145 h 266700"/>
                    <a:gd name="connisteX12" fmla="*/ 449580 w 607695"/>
                    <a:gd name="connsiteY12" fmla="*/ 0 h 266700"/>
                    <a:gd name="connisteX13" fmla="*/ 436245 w 607695"/>
                    <a:gd name="connsiteY13" fmla="*/ 9525 h 266700"/>
                    <a:gd name="connisteX14" fmla="*/ 445770 w 607695"/>
                    <a:gd name="connsiteY14" fmla="*/ 38100 h 266700"/>
                    <a:gd name="connisteX15" fmla="*/ 453390 w 607695"/>
                    <a:gd name="connsiteY15" fmla="*/ 49530 h 266700"/>
                    <a:gd name="connisteX16" fmla="*/ 430530 w 607695"/>
                    <a:gd name="connsiteY16" fmla="*/ 62865 h 266700"/>
                    <a:gd name="connisteX17" fmla="*/ 417195 w 607695"/>
                    <a:gd name="connsiteY17" fmla="*/ 70485 h 266700"/>
                    <a:gd name="connisteX18" fmla="*/ 417195 w 607695"/>
                    <a:gd name="connsiteY18" fmla="*/ 85725 h 266700"/>
                    <a:gd name="connisteX19" fmla="*/ 384810 w 607695"/>
                    <a:gd name="connsiteY19" fmla="*/ 99060 h 266700"/>
                    <a:gd name="connisteX20" fmla="*/ 316230 w 607695"/>
                    <a:gd name="connsiteY20" fmla="*/ 123825 h 266700"/>
                    <a:gd name="connisteX21" fmla="*/ 262890 w 607695"/>
                    <a:gd name="connsiteY21" fmla="*/ 100965 h 266700"/>
                    <a:gd name="connisteX22" fmla="*/ 173355 w 607695"/>
                    <a:gd name="connsiteY22" fmla="*/ 47625 h 266700"/>
                    <a:gd name="connisteX23" fmla="*/ 180975 w 607695"/>
                    <a:gd name="connsiteY23" fmla="*/ 13335 h 266700"/>
                    <a:gd name="connisteX24" fmla="*/ 158115 w 607695"/>
                    <a:gd name="connsiteY24" fmla="*/ 9525 h 266700"/>
                    <a:gd name="connisteX25" fmla="*/ 41910 w 607695"/>
                    <a:gd name="connsiteY25" fmla="*/ 66675 h 266700"/>
                    <a:gd name="connisteX26" fmla="*/ 7620 w 607695"/>
                    <a:gd name="connsiteY26" fmla="*/ 116205 h 266700"/>
                    <a:gd name="connisteX27" fmla="*/ 1905 w 607695"/>
                    <a:gd name="connsiteY27" fmla="*/ 184785 h 266700"/>
                    <a:gd name="connisteX28" fmla="*/ 0 w 607695"/>
                    <a:gd name="connsiteY28" fmla="*/ 266700 h 266700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  <a:cxn ang="0">
                      <a:pos x="connisteX11" y="connsiteY11"/>
                    </a:cxn>
                    <a:cxn ang="0">
                      <a:pos x="connisteX12" y="connsiteY12"/>
                    </a:cxn>
                    <a:cxn ang="0">
                      <a:pos x="connisteX13" y="connsiteY13"/>
                    </a:cxn>
                    <a:cxn ang="0">
                      <a:pos x="connisteX14" y="connsiteY14"/>
                    </a:cxn>
                    <a:cxn ang="0">
                      <a:pos x="connisteX15" y="connsiteY15"/>
                    </a:cxn>
                    <a:cxn ang="0">
                      <a:pos x="connisteX16" y="connsiteY16"/>
                    </a:cxn>
                    <a:cxn ang="0">
                      <a:pos x="connisteX17" y="connsiteY17"/>
                    </a:cxn>
                    <a:cxn ang="0">
                      <a:pos x="connisteX18" y="connsiteY18"/>
                    </a:cxn>
                    <a:cxn ang="0">
                      <a:pos x="connisteX19" y="connsiteY19"/>
                    </a:cxn>
                    <a:cxn ang="0">
                      <a:pos x="connisteX20" y="connsiteY20"/>
                    </a:cxn>
                    <a:cxn ang="0">
                      <a:pos x="connisteX21" y="connsiteY21"/>
                    </a:cxn>
                    <a:cxn ang="0">
                      <a:pos x="connisteX22" y="connsiteY22"/>
                    </a:cxn>
                    <a:cxn ang="0">
                      <a:pos x="connisteX23" y="connsiteY23"/>
                    </a:cxn>
                    <a:cxn ang="0">
                      <a:pos x="connisteX24" y="connsiteY24"/>
                    </a:cxn>
                    <a:cxn ang="0">
                      <a:pos x="connisteX25" y="connsiteY25"/>
                    </a:cxn>
                    <a:cxn ang="0">
                      <a:pos x="connisteX26" y="connsiteY26"/>
                    </a:cxn>
                    <a:cxn ang="0">
                      <a:pos x="connisteX27" y="connsiteY27"/>
                    </a:cxn>
                    <a:cxn ang="0">
                      <a:pos x="connisteX28" y="connsiteY28"/>
                    </a:cxn>
                  </a:cxnLst>
                  <a:rect l="l" t="t" r="r" b="b"/>
                  <a:pathLst>
                    <a:path w="607695" h="266700">
                      <a:moveTo>
                        <a:pt x="0" y="266700"/>
                      </a:moveTo>
                      <a:lnTo>
                        <a:pt x="314325" y="266700"/>
                      </a:lnTo>
                      <a:lnTo>
                        <a:pt x="468630" y="264795"/>
                      </a:lnTo>
                      <a:lnTo>
                        <a:pt x="539115" y="257175"/>
                      </a:lnTo>
                      <a:lnTo>
                        <a:pt x="579120" y="232410"/>
                      </a:lnTo>
                      <a:lnTo>
                        <a:pt x="607695" y="194310"/>
                      </a:lnTo>
                      <a:lnTo>
                        <a:pt x="607695" y="171450"/>
                      </a:lnTo>
                      <a:lnTo>
                        <a:pt x="605790" y="127635"/>
                      </a:lnTo>
                      <a:lnTo>
                        <a:pt x="590550" y="80010"/>
                      </a:lnTo>
                      <a:lnTo>
                        <a:pt x="554355" y="49530"/>
                      </a:lnTo>
                      <a:lnTo>
                        <a:pt x="520065" y="30480"/>
                      </a:lnTo>
                      <a:lnTo>
                        <a:pt x="478155" y="17145"/>
                      </a:lnTo>
                      <a:lnTo>
                        <a:pt x="449580" y="0"/>
                      </a:lnTo>
                      <a:lnTo>
                        <a:pt x="436245" y="9525"/>
                      </a:lnTo>
                      <a:lnTo>
                        <a:pt x="445770" y="38100"/>
                      </a:lnTo>
                      <a:lnTo>
                        <a:pt x="453390" y="49530"/>
                      </a:lnTo>
                      <a:lnTo>
                        <a:pt x="430530" y="62865"/>
                      </a:lnTo>
                      <a:lnTo>
                        <a:pt x="417195" y="70485"/>
                      </a:lnTo>
                      <a:lnTo>
                        <a:pt x="417195" y="85725"/>
                      </a:lnTo>
                      <a:lnTo>
                        <a:pt x="384810" y="99060"/>
                      </a:lnTo>
                      <a:lnTo>
                        <a:pt x="316230" y="123825"/>
                      </a:lnTo>
                      <a:lnTo>
                        <a:pt x="262890" y="100965"/>
                      </a:lnTo>
                      <a:lnTo>
                        <a:pt x="173355" y="47625"/>
                      </a:lnTo>
                      <a:lnTo>
                        <a:pt x="180975" y="13335"/>
                      </a:lnTo>
                      <a:lnTo>
                        <a:pt x="158115" y="9525"/>
                      </a:lnTo>
                      <a:lnTo>
                        <a:pt x="41910" y="66675"/>
                      </a:lnTo>
                      <a:lnTo>
                        <a:pt x="7620" y="116205"/>
                      </a:lnTo>
                      <a:lnTo>
                        <a:pt x="1905" y="184785"/>
                      </a:lnTo>
                      <a:lnTo>
                        <a:pt x="0" y="2667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450" name="图片 449" descr="资源 42"/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3" y="14919"/>
                  <a:ext cx="1718" cy="1159"/>
                </a:xfrm>
                <a:prstGeom prst="rect">
                  <a:avLst/>
                </a:prstGeom>
              </p:spPr>
            </p:pic>
          </p:grpSp>
          <p:sp>
            <p:nvSpPr>
              <p:cNvPr id="460" name="文本框 459"/>
              <p:cNvSpPr txBox="1"/>
              <p:nvPr/>
            </p:nvSpPr>
            <p:spPr>
              <a:xfrm>
                <a:off x="8351" y="16934"/>
                <a:ext cx="1879" cy="339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Review and correction</a:t>
                </a:r>
                <a:endParaRPr lang="en-US" altLang="zh-CN" sz="800" dirty="0"/>
              </a:p>
            </p:txBody>
          </p:sp>
        </p:grpSp>
        <p:sp>
          <p:nvSpPr>
            <p:cNvPr id="461" name="文本框 460"/>
            <p:cNvSpPr txBox="1"/>
            <p:nvPr/>
          </p:nvSpPr>
          <p:spPr>
            <a:xfrm>
              <a:off x="8259" y="17127"/>
              <a:ext cx="2089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Expert refinement</a:t>
              </a:r>
              <a:endParaRPr lang="en-US" altLang="zh-CN" sz="1200" dirty="0"/>
            </a:p>
          </p:txBody>
        </p:sp>
      </p:grpSp>
      <p:grpSp>
        <p:nvGrpSpPr>
          <p:cNvPr id="571" name="组合 570"/>
          <p:cNvGrpSpPr/>
          <p:nvPr/>
        </p:nvGrpSpPr>
        <p:grpSpPr>
          <a:xfrm>
            <a:off x="8099317" y="6441005"/>
            <a:ext cx="1889760" cy="1141730"/>
            <a:chOff x="12526" y="15741"/>
            <a:chExt cx="2976" cy="1798"/>
          </a:xfrm>
        </p:grpSpPr>
        <p:sp>
          <p:nvSpPr>
            <p:cNvPr id="470" name="文本框 469"/>
            <p:cNvSpPr txBox="1"/>
            <p:nvPr/>
          </p:nvSpPr>
          <p:spPr>
            <a:xfrm>
              <a:off x="12904" y="17105"/>
              <a:ext cx="22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Refined outputs</a:t>
              </a:r>
              <a:endParaRPr lang="en-US" altLang="zh-CN" sz="1200" dirty="0"/>
            </a:p>
          </p:txBody>
        </p:sp>
        <p:grpSp>
          <p:nvGrpSpPr>
            <p:cNvPr id="567" name="组合 566"/>
            <p:cNvGrpSpPr/>
            <p:nvPr/>
          </p:nvGrpSpPr>
          <p:grpSpPr>
            <a:xfrm>
              <a:off x="12526" y="15741"/>
              <a:ext cx="2976" cy="1506"/>
              <a:chOff x="12526" y="15747"/>
              <a:chExt cx="2976" cy="1506"/>
            </a:xfrm>
          </p:grpSpPr>
          <p:grpSp>
            <p:nvGrpSpPr>
              <p:cNvPr id="467" name="组合 466"/>
              <p:cNvGrpSpPr/>
              <p:nvPr/>
            </p:nvGrpSpPr>
            <p:grpSpPr>
              <a:xfrm>
                <a:off x="12526" y="15747"/>
                <a:ext cx="2976" cy="992"/>
                <a:chOff x="5520" y="15218"/>
                <a:chExt cx="2976" cy="992"/>
              </a:xfrm>
            </p:grpSpPr>
            <p:sp>
              <p:nvSpPr>
                <p:cNvPr id="466" name="任意多边形 465"/>
                <p:cNvSpPr/>
                <p:nvPr/>
              </p:nvSpPr>
              <p:spPr>
                <a:xfrm>
                  <a:off x="7693" y="15228"/>
                  <a:ext cx="690" cy="939"/>
                </a:xfrm>
                <a:custGeom>
                  <a:avLst/>
                  <a:gdLst>
                    <a:gd name="connisteX0" fmla="*/ 17145 w 438150"/>
                    <a:gd name="connsiteY0" fmla="*/ 0 h 596265"/>
                    <a:gd name="connisteX1" fmla="*/ 318135 w 438150"/>
                    <a:gd name="connsiteY1" fmla="*/ 1905 h 596265"/>
                    <a:gd name="connisteX2" fmla="*/ 320040 w 438150"/>
                    <a:gd name="connsiteY2" fmla="*/ 116205 h 596265"/>
                    <a:gd name="connisteX3" fmla="*/ 438150 w 438150"/>
                    <a:gd name="connsiteY3" fmla="*/ 120015 h 596265"/>
                    <a:gd name="connisteX4" fmla="*/ 434340 w 438150"/>
                    <a:gd name="connsiteY4" fmla="*/ 325755 h 596265"/>
                    <a:gd name="connisteX5" fmla="*/ 434340 w 438150"/>
                    <a:gd name="connsiteY5" fmla="*/ 361950 h 596265"/>
                    <a:gd name="connisteX6" fmla="*/ 369570 w 438150"/>
                    <a:gd name="connsiteY6" fmla="*/ 352425 h 596265"/>
                    <a:gd name="connisteX7" fmla="*/ 321945 w 438150"/>
                    <a:gd name="connsiteY7" fmla="*/ 367665 h 596265"/>
                    <a:gd name="connisteX8" fmla="*/ 268605 w 438150"/>
                    <a:gd name="connsiteY8" fmla="*/ 411480 h 596265"/>
                    <a:gd name="connisteX9" fmla="*/ 257175 w 438150"/>
                    <a:gd name="connsiteY9" fmla="*/ 453390 h 596265"/>
                    <a:gd name="connisteX10" fmla="*/ 255270 w 438150"/>
                    <a:gd name="connsiteY10" fmla="*/ 525780 h 596265"/>
                    <a:gd name="connisteX11" fmla="*/ 264795 w 438150"/>
                    <a:gd name="connsiteY11" fmla="*/ 541020 h 596265"/>
                    <a:gd name="connisteX12" fmla="*/ 280035 w 438150"/>
                    <a:gd name="connsiteY12" fmla="*/ 565785 h 596265"/>
                    <a:gd name="connisteX13" fmla="*/ 302895 w 438150"/>
                    <a:gd name="connsiteY13" fmla="*/ 581025 h 596265"/>
                    <a:gd name="connisteX14" fmla="*/ 300990 w 438150"/>
                    <a:gd name="connsiteY14" fmla="*/ 596265 h 596265"/>
                    <a:gd name="connisteX15" fmla="*/ 19050 w 438150"/>
                    <a:gd name="connsiteY15" fmla="*/ 594360 h 596265"/>
                    <a:gd name="connisteX16" fmla="*/ 0 w 438150"/>
                    <a:gd name="connsiteY16" fmla="*/ 575310 h 596265"/>
                    <a:gd name="connisteX17" fmla="*/ 17145 w 438150"/>
                    <a:gd name="connsiteY17" fmla="*/ 0 h 59626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  <a:cxn ang="0">
                      <a:pos x="connisteX11" y="connsiteY11"/>
                    </a:cxn>
                    <a:cxn ang="0">
                      <a:pos x="connisteX12" y="connsiteY12"/>
                    </a:cxn>
                    <a:cxn ang="0">
                      <a:pos x="connisteX13" y="connsiteY13"/>
                    </a:cxn>
                    <a:cxn ang="0">
                      <a:pos x="connisteX14" y="connsiteY14"/>
                    </a:cxn>
                    <a:cxn ang="0">
                      <a:pos x="connisteX15" y="connsiteY15"/>
                    </a:cxn>
                    <a:cxn ang="0">
                      <a:pos x="connisteX16" y="connsiteY16"/>
                    </a:cxn>
                    <a:cxn ang="0">
                      <a:pos x="connisteX17" y="connsiteY17"/>
                    </a:cxn>
                  </a:cxnLst>
                  <a:rect l="l" t="t" r="r" b="b"/>
                  <a:pathLst>
                    <a:path w="438150" h="596265">
                      <a:moveTo>
                        <a:pt x="17145" y="0"/>
                      </a:moveTo>
                      <a:lnTo>
                        <a:pt x="318135" y="1905"/>
                      </a:lnTo>
                      <a:lnTo>
                        <a:pt x="320040" y="116205"/>
                      </a:lnTo>
                      <a:lnTo>
                        <a:pt x="438150" y="120015"/>
                      </a:lnTo>
                      <a:lnTo>
                        <a:pt x="434340" y="325755"/>
                      </a:lnTo>
                      <a:lnTo>
                        <a:pt x="434340" y="361950"/>
                      </a:lnTo>
                      <a:lnTo>
                        <a:pt x="369570" y="352425"/>
                      </a:lnTo>
                      <a:lnTo>
                        <a:pt x="321945" y="367665"/>
                      </a:lnTo>
                      <a:lnTo>
                        <a:pt x="268605" y="411480"/>
                      </a:lnTo>
                      <a:lnTo>
                        <a:pt x="257175" y="453390"/>
                      </a:lnTo>
                      <a:lnTo>
                        <a:pt x="255270" y="525780"/>
                      </a:lnTo>
                      <a:lnTo>
                        <a:pt x="264795" y="541020"/>
                      </a:lnTo>
                      <a:lnTo>
                        <a:pt x="280035" y="565785"/>
                      </a:lnTo>
                      <a:lnTo>
                        <a:pt x="302895" y="581025"/>
                      </a:lnTo>
                      <a:lnTo>
                        <a:pt x="300990" y="596265"/>
                      </a:lnTo>
                      <a:lnTo>
                        <a:pt x="19050" y="594360"/>
                      </a:lnTo>
                      <a:lnTo>
                        <a:pt x="0" y="575310"/>
                      </a:lnTo>
                      <a:lnTo>
                        <a:pt x="1714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465" name="图片 464" descr="资源 43"/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20" y="15218"/>
                  <a:ext cx="2976" cy="992"/>
                </a:xfrm>
                <a:prstGeom prst="rect">
                  <a:avLst/>
                </a:prstGeom>
              </p:spPr>
            </p:pic>
          </p:grpSp>
          <p:sp>
            <p:nvSpPr>
              <p:cNvPr id="473" name="文本框 472"/>
              <p:cNvSpPr txBox="1"/>
              <p:nvPr/>
            </p:nvSpPr>
            <p:spPr>
              <a:xfrm>
                <a:off x="12527" y="16720"/>
                <a:ext cx="936" cy="533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Refined mask</a:t>
                </a:r>
                <a:endParaRPr lang="en-US" altLang="zh-CN" sz="800" dirty="0"/>
              </a:p>
            </p:txBody>
          </p:sp>
          <p:sp>
            <p:nvSpPr>
              <p:cNvPr id="474" name="文本框 473"/>
              <p:cNvSpPr txBox="1"/>
              <p:nvPr/>
            </p:nvSpPr>
            <p:spPr>
              <a:xfrm>
                <a:off x="13619" y="16716"/>
                <a:ext cx="936" cy="533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Verified</a:t>
                </a:r>
                <a:endParaRPr lang="en-US" altLang="zh-CN" sz="800" dirty="0"/>
              </a:p>
              <a:p>
                <a:pPr algn="ctr"/>
                <a:r>
                  <a:rPr lang="en-US" altLang="zh-CN" sz="800" dirty="0"/>
                  <a:t>diagnosis</a:t>
                </a:r>
                <a:endParaRPr lang="en-US" altLang="zh-CN" sz="800" dirty="0"/>
              </a:p>
            </p:txBody>
          </p:sp>
          <p:sp>
            <p:nvSpPr>
              <p:cNvPr id="475" name="文本框 474"/>
              <p:cNvSpPr txBox="1"/>
              <p:nvPr/>
            </p:nvSpPr>
            <p:spPr>
              <a:xfrm>
                <a:off x="14566" y="16716"/>
                <a:ext cx="936" cy="533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Corrected</a:t>
                </a:r>
                <a:endParaRPr lang="en-US" altLang="zh-CN" sz="800" dirty="0"/>
              </a:p>
              <a:p>
                <a:pPr algn="ctr"/>
                <a:r>
                  <a:rPr lang="en-US" altLang="zh-CN" sz="800" dirty="0"/>
                  <a:t>report</a:t>
                </a:r>
                <a:endParaRPr lang="en-US" altLang="zh-CN" sz="800" dirty="0"/>
              </a:p>
            </p:txBody>
          </p:sp>
        </p:grpSp>
      </p:grpSp>
      <p:grpSp>
        <p:nvGrpSpPr>
          <p:cNvPr id="496" name="组合 495"/>
          <p:cNvGrpSpPr/>
          <p:nvPr/>
        </p:nvGrpSpPr>
        <p:grpSpPr>
          <a:xfrm>
            <a:off x="8653037" y="7795142"/>
            <a:ext cx="553720" cy="140335"/>
            <a:chOff x="4417" y="13630"/>
            <a:chExt cx="872" cy="221"/>
          </a:xfrm>
        </p:grpSpPr>
        <p:cxnSp>
          <p:nvCxnSpPr>
            <p:cNvPr id="498" name="直接箭头连接符 497"/>
            <p:cNvCxnSpPr/>
            <p:nvPr/>
          </p:nvCxnSpPr>
          <p:spPr>
            <a:xfrm>
              <a:off x="4417" y="13630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9" name="直接箭头连接符 498"/>
            <p:cNvCxnSpPr/>
            <p:nvPr/>
          </p:nvCxnSpPr>
          <p:spPr>
            <a:xfrm flipH="1">
              <a:off x="4417" y="13851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64" name="组合 563"/>
          <p:cNvGrpSpPr/>
          <p:nvPr/>
        </p:nvGrpSpPr>
        <p:grpSpPr>
          <a:xfrm>
            <a:off x="5527567" y="8285680"/>
            <a:ext cx="1645920" cy="1243965"/>
            <a:chOff x="8490" y="18614"/>
            <a:chExt cx="2592" cy="1959"/>
          </a:xfrm>
        </p:grpSpPr>
        <p:grpSp>
          <p:nvGrpSpPr>
            <p:cNvPr id="492" name="组合 491"/>
            <p:cNvGrpSpPr/>
            <p:nvPr/>
          </p:nvGrpSpPr>
          <p:grpSpPr>
            <a:xfrm>
              <a:off x="9209" y="18614"/>
              <a:ext cx="1154" cy="1200"/>
              <a:chOff x="14618" y="16366"/>
              <a:chExt cx="1154" cy="1200"/>
            </a:xfrm>
          </p:grpSpPr>
          <p:sp>
            <p:nvSpPr>
              <p:cNvPr id="491" name="任意多边形 490"/>
              <p:cNvSpPr/>
              <p:nvPr/>
            </p:nvSpPr>
            <p:spPr>
              <a:xfrm>
                <a:off x="14628" y="16380"/>
                <a:ext cx="1020" cy="1128"/>
              </a:xfrm>
              <a:custGeom>
                <a:avLst/>
                <a:gdLst>
                  <a:gd name="connisteX0" fmla="*/ 3810 w 647700"/>
                  <a:gd name="connsiteY0" fmla="*/ 102870 h 716280"/>
                  <a:gd name="connisteX1" fmla="*/ 45720 w 647700"/>
                  <a:gd name="connsiteY1" fmla="*/ 53340 h 716280"/>
                  <a:gd name="connisteX2" fmla="*/ 144780 w 647700"/>
                  <a:gd name="connsiteY2" fmla="*/ 19050 h 716280"/>
                  <a:gd name="connisteX3" fmla="*/ 251460 w 647700"/>
                  <a:gd name="connsiteY3" fmla="*/ 1905 h 716280"/>
                  <a:gd name="connisteX4" fmla="*/ 339090 w 647700"/>
                  <a:gd name="connsiteY4" fmla="*/ 0 h 716280"/>
                  <a:gd name="connisteX5" fmla="*/ 440055 w 647700"/>
                  <a:gd name="connsiteY5" fmla="*/ 7620 h 716280"/>
                  <a:gd name="connisteX6" fmla="*/ 510540 w 647700"/>
                  <a:gd name="connsiteY6" fmla="*/ 19050 h 716280"/>
                  <a:gd name="connisteX7" fmla="*/ 571500 w 647700"/>
                  <a:gd name="connsiteY7" fmla="*/ 45720 h 716280"/>
                  <a:gd name="connisteX8" fmla="*/ 615315 w 647700"/>
                  <a:gd name="connsiteY8" fmla="*/ 68580 h 716280"/>
                  <a:gd name="connisteX9" fmla="*/ 641985 w 647700"/>
                  <a:gd name="connsiteY9" fmla="*/ 99060 h 716280"/>
                  <a:gd name="connisteX10" fmla="*/ 641985 w 647700"/>
                  <a:gd name="connsiteY10" fmla="*/ 144780 h 716280"/>
                  <a:gd name="connisteX11" fmla="*/ 640080 w 647700"/>
                  <a:gd name="connsiteY11" fmla="*/ 240030 h 716280"/>
                  <a:gd name="connisteX12" fmla="*/ 643890 w 647700"/>
                  <a:gd name="connsiteY12" fmla="*/ 314325 h 716280"/>
                  <a:gd name="connisteX13" fmla="*/ 647700 w 647700"/>
                  <a:gd name="connsiteY13" fmla="*/ 379095 h 716280"/>
                  <a:gd name="connisteX14" fmla="*/ 647700 w 647700"/>
                  <a:gd name="connsiteY14" fmla="*/ 426720 h 716280"/>
                  <a:gd name="connisteX15" fmla="*/ 647700 w 647700"/>
                  <a:gd name="connsiteY15" fmla="*/ 474345 h 716280"/>
                  <a:gd name="connisteX16" fmla="*/ 581025 w 647700"/>
                  <a:gd name="connsiteY16" fmla="*/ 459105 h 716280"/>
                  <a:gd name="connisteX17" fmla="*/ 483870 w 647700"/>
                  <a:gd name="connsiteY17" fmla="*/ 489585 h 716280"/>
                  <a:gd name="connisteX18" fmla="*/ 447675 w 647700"/>
                  <a:gd name="connsiteY18" fmla="*/ 529590 h 716280"/>
                  <a:gd name="connisteX19" fmla="*/ 430530 w 647700"/>
                  <a:gd name="connsiteY19" fmla="*/ 611505 h 716280"/>
                  <a:gd name="connisteX20" fmla="*/ 453390 w 647700"/>
                  <a:gd name="connsiteY20" fmla="*/ 670560 h 716280"/>
                  <a:gd name="connisteX21" fmla="*/ 462915 w 647700"/>
                  <a:gd name="connsiteY21" fmla="*/ 691515 h 716280"/>
                  <a:gd name="connisteX22" fmla="*/ 405765 w 647700"/>
                  <a:gd name="connsiteY22" fmla="*/ 706755 h 716280"/>
                  <a:gd name="connisteX23" fmla="*/ 289560 w 647700"/>
                  <a:gd name="connsiteY23" fmla="*/ 716280 h 716280"/>
                  <a:gd name="connisteX24" fmla="*/ 177165 w 647700"/>
                  <a:gd name="connsiteY24" fmla="*/ 701040 h 716280"/>
                  <a:gd name="connisteX25" fmla="*/ 99060 w 647700"/>
                  <a:gd name="connsiteY25" fmla="*/ 685800 h 716280"/>
                  <a:gd name="connisteX26" fmla="*/ 53340 w 647700"/>
                  <a:gd name="connsiteY26" fmla="*/ 659130 h 716280"/>
                  <a:gd name="connisteX27" fmla="*/ 13335 w 647700"/>
                  <a:gd name="connsiteY27" fmla="*/ 636270 h 716280"/>
                  <a:gd name="connisteX28" fmla="*/ 0 w 647700"/>
                  <a:gd name="connsiteY28" fmla="*/ 594360 h 716280"/>
                  <a:gd name="connisteX29" fmla="*/ 3810 w 647700"/>
                  <a:gd name="connsiteY29" fmla="*/ 466725 h 716280"/>
                  <a:gd name="connisteX30" fmla="*/ 5715 w 647700"/>
                  <a:gd name="connsiteY30" fmla="*/ 249555 h 716280"/>
                  <a:gd name="connisteX31" fmla="*/ 3810 w 647700"/>
                  <a:gd name="connsiteY31" fmla="*/ 102870 h 71628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  <a:cxn ang="0">
                    <a:pos x="connisteX9" y="connsiteY9"/>
                  </a:cxn>
                  <a:cxn ang="0">
                    <a:pos x="connisteX10" y="connsiteY10"/>
                  </a:cxn>
                  <a:cxn ang="0">
                    <a:pos x="connisteX11" y="connsiteY11"/>
                  </a:cxn>
                  <a:cxn ang="0">
                    <a:pos x="connisteX12" y="connsiteY12"/>
                  </a:cxn>
                  <a:cxn ang="0">
                    <a:pos x="connisteX13" y="connsiteY13"/>
                  </a:cxn>
                  <a:cxn ang="0">
                    <a:pos x="connisteX14" y="connsiteY14"/>
                  </a:cxn>
                  <a:cxn ang="0">
                    <a:pos x="connisteX15" y="connsiteY15"/>
                  </a:cxn>
                  <a:cxn ang="0">
                    <a:pos x="connisteX16" y="connsiteY16"/>
                  </a:cxn>
                  <a:cxn ang="0">
                    <a:pos x="connisteX17" y="connsiteY17"/>
                  </a:cxn>
                  <a:cxn ang="0">
                    <a:pos x="connisteX18" y="connsiteY18"/>
                  </a:cxn>
                  <a:cxn ang="0">
                    <a:pos x="connisteX19" y="connsiteY19"/>
                  </a:cxn>
                  <a:cxn ang="0">
                    <a:pos x="connisteX20" y="connsiteY20"/>
                  </a:cxn>
                  <a:cxn ang="0">
                    <a:pos x="connisteX21" y="connsiteY21"/>
                  </a:cxn>
                  <a:cxn ang="0">
                    <a:pos x="connisteX22" y="connsiteY22"/>
                  </a:cxn>
                  <a:cxn ang="0">
                    <a:pos x="connisteX23" y="connsiteY23"/>
                  </a:cxn>
                  <a:cxn ang="0">
                    <a:pos x="connisteX24" y="connsiteY24"/>
                  </a:cxn>
                  <a:cxn ang="0">
                    <a:pos x="connisteX25" y="connsiteY25"/>
                  </a:cxn>
                  <a:cxn ang="0">
                    <a:pos x="connisteX26" y="connsiteY26"/>
                  </a:cxn>
                  <a:cxn ang="0">
                    <a:pos x="connisteX27" y="connsiteY27"/>
                  </a:cxn>
                  <a:cxn ang="0">
                    <a:pos x="connisteX28" y="connsiteY28"/>
                  </a:cxn>
                  <a:cxn ang="0">
                    <a:pos x="connisteX29" y="connsiteY29"/>
                  </a:cxn>
                  <a:cxn ang="0">
                    <a:pos x="connisteX30" y="connsiteY30"/>
                  </a:cxn>
                  <a:cxn ang="0">
                    <a:pos x="connisteX31" y="connsiteY31"/>
                  </a:cxn>
                </a:cxnLst>
                <a:rect l="l" t="t" r="r" b="b"/>
                <a:pathLst>
                  <a:path w="647700" h="716280">
                    <a:moveTo>
                      <a:pt x="3810" y="102870"/>
                    </a:moveTo>
                    <a:lnTo>
                      <a:pt x="45720" y="53340"/>
                    </a:lnTo>
                    <a:lnTo>
                      <a:pt x="144780" y="19050"/>
                    </a:lnTo>
                    <a:lnTo>
                      <a:pt x="251460" y="1905"/>
                    </a:lnTo>
                    <a:lnTo>
                      <a:pt x="339090" y="0"/>
                    </a:lnTo>
                    <a:lnTo>
                      <a:pt x="440055" y="7620"/>
                    </a:lnTo>
                    <a:lnTo>
                      <a:pt x="510540" y="19050"/>
                    </a:lnTo>
                    <a:lnTo>
                      <a:pt x="571500" y="45720"/>
                    </a:lnTo>
                    <a:lnTo>
                      <a:pt x="615315" y="68580"/>
                    </a:lnTo>
                    <a:lnTo>
                      <a:pt x="641985" y="99060"/>
                    </a:lnTo>
                    <a:lnTo>
                      <a:pt x="641985" y="144780"/>
                    </a:lnTo>
                    <a:lnTo>
                      <a:pt x="640080" y="240030"/>
                    </a:lnTo>
                    <a:lnTo>
                      <a:pt x="643890" y="314325"/>
                    </a:lnTo>
                    <a:lnTo>
                      <a:pt x="647700" y="379095"/>
                    </a:lnTo>
                    <a:lnTo>
                      <a:pt x="647700" y="426720"/>
                    </a:lnTo>
                    <a:lnTo>
                      <a:pt x="647700" y="474345"/>
                    </a:lnTo>
                    <a:lnTo>
                      <a:pt x="581025" y="459105"/>
                    </a:lnTo>
                    <a:lnTo>
                      <a:pt x="483870" y="489585"/>
                    </a:lnTo>
                    <a:lnTo>
                      <a:pt x="447675" y="529590"/>
                    </a:lnTo>
                    <a:lnTo>
                      <a:pt x="430530" y="611505"/>
                    </a:lnTo>
                    <a:lnTo>
                      <a:pt x="453390" y="670560"/>
                    </a:lnTo>
                    <a:lnTo>
                      <a:pt x="462915" y="691515"/>
                    </a:lnTo>
                    <a:lnTo>
                      <a:pt x="405765" y="706755"/>
                    </a:lnTo>
                    <a:lnTo>
                      <a:pt x="289560" y="716280"/>
                    </a:lnTo>
                    <a:lnTo>
                      <a:pt x="177165" y="701040"/>
                    </a:lnTo>
                    <a:lnTo>
                      <a:pt x="99060" y="685800"/>
                    </a:lnTo>
                    <a:lnTo>
                      <a:pt x="53340" y="659130"/>
                    </a:lnTo>
                    <a:lnTo>
                      <a:pt x="13335" y="636270"/>
                    </a:lnTo>
                    <a:lnTo>
                      <a:pt x="0" y="594360"/>
                    </a:lnTo>
                    <a:lnTo>
                      <a:pt x="3810" y="466725"/>
                    </a:lnTo>
                    <a:lnTo>
                      <a:pt x="5715" y="249555"/>
                    </a:lnTo>
                    <a:lnTo>
                      <a:pt x="3810" y="1028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84" name="图片 483" descr="资源 45"/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4618" y="16366"/>
                <a:ext cx="1155" cy="1200"/>
              </a:xfrm>
              <a:prstGeom prst="rect">
                <a:avLst/>
              </a:prstGeom>
            </p:spPr>
          </p:pic>
        </p:grpSp>
        <p:sp>
          <p:nvSpPr>
            <p:cNvPr id="518" name="文本框 517"/>
            <p:cNvSpPr txBox="1"/>
            <p:nvPr/>
          </p:nvSpPr>
          <p:spPr>
            <a:xfrm>
              <a:off x="8490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/>
                <a:t>Evolving Database</a:t>
              </a:r>
              <a:endParaRPr lang="en-US" altLang="zh-CN" sz="1200"/>
            </a:p>
          </p:txBody>
        </p:sp>
        <p:sp>
          <p:nvSpPr>
            <p:cNvPr id="520" name="文本框 519"/>
            <p:cNvSpPr txBox="1"/>
            <p:nvPr/>
          </p:nvSpPr>
          <p:spPr>
            <a:xfrm>
              <a:off x="8884" y="19787"/>
              <a:ext cx="1805" cy="348"/>
            </a:xfrm>
            <a:prstGeom prst="rect">
              <a:avLst/>
            </a:prstGeom>
            <a:noFill/>
          </p:spPr>
          <p:txBody>
            <a:bodyPr wrap="square" lIns="17780" rIns="17780" rtlCol="0">
              <a:noAutofit/>
            </a:bodyPr>
            <a:lstStyle/>
            <a:p>
              <a:pPr algn="ctr"/>
              <a:r>
                <a:rPr lang="en-US" altLang="zh-CN" sz="800" dirty="0"/>
                <a:t>High-quality, expert-refined data repository</a:t>
              </a:r>
              <a:endParaRPr lang="en-US" altLang="zh-CN" sz="800" dirty="0"/>
            </a:p>
          </p:txBody>
        </p:sp>
      </p:grpSp>
      <p:grpSp>
        <p:nvGrpSpPr>
          <p:cNvPr id="563" name="组合 562"/>
          <p:cNvGrpSpPr/>
          <p:nvPr/>
        </p:nvGrpSpPr>
        <p:grpSpPr>
          <a:xfrm>
            <a:off x="2976772" y="8279647"/>
            <a:ext cx="1645920" cy="1256030"/>
            <a:chOff x="4460" y="18595"/>
            <a:chExt cx="2592" cy="1978"/>
          </a:xfrm>
        </p:grpSpPr>
        <p:pic>
          <p:nvPicPr>
            <p:cNvPr id="493" name="图片 492" descr="资源 46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158" y="18595"/>
              <a:ext cx="1197" cy="1238"/>
            </a:xfrm>
            <a:prstGeom prst="rect">
              <a:avLst/>
            </a:prstGeom>
          </p:spPr>
        </p:pic>
        <p:sp>
          <p:nvSpPr>
            <p:cNvPr id="522" name="文本框 521"/>
            <p:cNvSpPr txBox="1"/>
            <p:nvPr/>
          </p:nvSpPr>
          <p:spPr>
            <a:xfrm>
              <a:off x="4460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Model updating</a:t>
              </a:r>
              <a:endParaRPr lang="en-US" altLang="zh-CN" sz="1200" dirty="0"/>
            </a:p>
          </p:txBody>
        </p:sp>
        <p:sp>
          <p:nvSpPr>
            <p:cNvPr id="543" name="文本框 542"/>
            <p:cNvSpPr txBox="1"/>
            <p:nvPr/>
          </p:nvSpPr>
          <p:spPr>
            <a:xfrm>
              <a:off x="4854" y="19787"/>
              <a:ext cx="1775" cy="348"/>
            </a:xfrm>
            <a:prstGeom prst="rect">
              <a:avLst/>
            </a:prstGeom>
            <a:noFill/>
          </p:spPr>
          <p:txBody>
            <a:bodyPr wrap="square" lIns="17780" rIns="17780" rtlCol="0">
              <a:noAutofit/>
            </a:bodyPr>
            <a:lstStyle/>
            <a:p>
              <a:pPr algn="ctr"/>
              <a:r>
                <a:rPr lang="zh-CN" altLang="zh-CN" sz="800" dirty="0"/>
                <a:t>Feedback-driven </a:t>
              </a:r>
              <a:r>
                <a:rPr lang="en-US" altLang="zh-CN" sz="800" dirty="0"/>
                <a:t>tool</a:t>
              </a:r>
              <a:r>
                <a:rPr lang="zh-CN" altLang="zh-CN" sz="800" dirty="0"/>
                <a:t> </a:t>
              </a:r>
              <a:r>
                <a:rPr lang="en-US" altLang="zh-CN" sz="800" dirty="0"/>
                <a:t>evolving</a:t>
              </a:r>
              <a:endParaRPr lang="en-US" altLang="zh-CN" sz="800" dirty="0"/>
            </a:p>
          </p:txBody>
        </p:sp>
      </p:grpSp>
      <p:sp>
        <p:nvSpPr>
          <p:cNvPr id="546" name="文本框 545"/>
          <p:cNvSpPr txBox="1"/>
          <p:nvPr/>
        </p:nvSpPr>
        <p:spPr>
          <a:xfrm>
            <a:off x="3871770" y="7755841"/>
            <a:ext cx="16548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Clinician-in-the-loop</a:t>
            </a:r>
            <a:endParaRPr lang="en-US" altLang="zh-CN" sz="1200" dirty="0"/>
          </a:p>
        </p:txBody>
      </p:sp>
      <p:sp>
        <p:nvSpPr>
          <p:cNvPr id="547" name="文本框 546"/>
          <p:cNvSpPr txBox="1"/>
          <p:nvPr/>
        </p:nvSpPr>
        <p:spPr>
          <a:xfrm>
            <a:off x="6177280" y="7754620"/>
            <a:ext cx="2305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200" dirty="0"/>
              <a:t>Efficient and reliable diagnosis</a:t>
            </a:r>
            <a:endParaRPr lang="en-US" altLang="zh-CN" sz="1200" dirty="0"/>
          </a:p>
        </p:txBody>
      </p:sp>
      <p:sp>
        <p:nvSpPr>
          <p:cNvPr id="548" name="任意多边形 547"/>
          <p:cNvSpPr/>
          <p:nvPr/>
        </p:nvSpPr>
        <p:spPr>
          <a:xfrm>
            <a:off x="3614312" y="7715767"/>
            <a:ext cx="4892040" cy="354330"/>
          </a:xfrm>
          <a:custGeom>
            <a:avLst/>
            <a:gdLst>
              <a:gd name="connsiteX0" fmla="*/ 3470 w 7704"/>
              <a:gd name="connsiteY0" fmla="*/ 558 h 558"/>
              <a:gd name="connsiteX1" fmla="*/ 268 w 7704"/>
              <a:gd name="connsiteY1" fmla="*/ 552 h 558"/>
              <a:gd name="connsiteX2" fmla="*/ 0 w 7704"/>
              <a:gd name="connsiteY2" fmla="*/ 284 h 558"/>
              <a:gd name="connsiteX3" fmla="*/ 0 w 7704"/>
              <a:gd name="connsiteY3" fmla="*/ 268 h 558"/>
              <a:gd name="connsiteX4" fmla="*/ 268 w 7704"/>
              <a:gd name="connsiteY4" fmla="*/ 0 h 558"/>
              <a:gd name="connsiteX5" fmla="*/ 7436 w 7704"/>
              <a:gd name="connsiteY5" fmla="*/ 0 h 558"/>
              <a:gd name="connsiteX6" fmla="*/ 7704 w 7704"/>
              <a:gd name="connsiteY6" fmla="*/ 268 h 558"/>
              <a:gd name="connsiteX7" fmla="*/ 7704 w 7704"/>
              <a:gd name="connsiteY7" fmla="*/ 284 h 558"/>
              <a:gd name="connsiteX8" fmla="*/ 7436 w 7704"/>
              <a:gd name="connsiteY8" fmla="*/ 552 h 558"/>
              <a:gd name="connsiteX9" fmla="*/ 4274 w 7704"/>
              <a:gd name="connsiteY9" fmla="*/ 552 h 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04" h="558">
                <a:moveTo>
                  <a:pt x="3470" y="558"/>
                </a:moveTo>
                <a:lnTo>
                  <a:pt x="268" y="552"/>
                </a:lnTo>
                <a:cubicBezTo>
                  <a:pt x="120" y="552"/>
                  <a:pt x="0" y="432"/>
                  <a:pt x="0" y="284"/>
                </a:cubicBezTo>
                <a:lnTo>
                  <a:pt x="0" y="268"/>
                </a:lnTo>
                <a:cubicBezTo>
                  <a:pt x="0" y="120"/>
                  <a:pt x="120" y="0"/>
                  <a:pt x="268" y="0"/>
                </a:cubicBezTo>
                <a:lnTo>
                  <a:pt x="7436" y="0"/>
                </a:lnTo>
                <a:cubicBezTo>
                  <a:pt x="7584" y="0"/>
                  <a:pt x="7704" y="120"/>
                  <a:pt x="7704" y="268"/>
                </a:cubicBezTo>
                <a:lnTo>
                  <a:pt x="7704" y="284"/>
                </a:lnTo>
                <a:cubicBezTo>
                  <a:pt x="7704" y="432"/>
                  <a:pt x="7584" y="552"/>
                  <a:pt x="7436" y="552"/>
                </a:cubicBezTo>
                <a:lnTo>
                  <a:pt x="4274" y="552"/>
                </a:lnTo>
              </a:path>
            </a:pathLst>
          </a:custGeom>
          <a:noFill/>
          <a:ln w="50800">
            <a:solidFill>
              <a:srgbClr val="7F7F7F"/>
            </a:solidFill>
            <a:head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4" name="图片 553" descr="资源 47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67717" y="7561462"/>
            <a:ext cx="985520" cy="667385"/>
          </a:xfrm>
          <a:prstGeom prst="rect">
            <a:avLst/>
          </a:prstGeom>
        </p:spPr>
      </p:pic>
      <p:grpSp>
        <p:nvGrpSpPr>
          <p:cNvPr id="569" name="组合 568"/>
          <p:cNvGrpSpPr/>
          <p:nvPr/>
        </p:nvGrpSpPr>
        <p:grpSpPr>
          <a:xfrm>
            <a:off x="3188862" y="6414652"/>
            <a:ext cx="1165225" cy="1256665"/>
            <a:chOff x="4794" y="15658"/>
            <a:chExt cx="1835" cy="1979"/>
          </a:xfrm>
        </p:grpSpPr>
        <p:sp>
          <p:nvSpPr>
            <p:cNvPr id="446" name="文本框 445"/>
            <p:cNvSpPr txBox="1"/>
            <p:nvPr/>
          </p:nvSpPr>
          <p:spPr>
            <a:xfrm>
              <a:off x="4794" y="17201"/>
              <a:ext cx="183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Initial outputs</a:t>
              </a:r>
              <a:endParaRPr lang="en-US" altLang="zh-CN" sz="1200" dirty="0"/>
            </a:p>
          </p:txBody>
        </p:sp>
        <p:grpSp>
          <p:nvGrpSpPr>
            <p:cNvPr id="557" name="组合 556"/>
            <p:cNvGrpSpPr/>
            <p:nvPr/>
          </p:nvGrpSpPr>
          <p:grpSpPr>
            <a:xfrm>
              <a:off x="4926" y="15658"/>
              <a:ext cx="1596" cy="1675"/>
              <a:chOff x="4938" y="15658"/>
              <a:chExt cx="1596" cy="1675"/>
            </a:xfrm>
          </p:grpSpPr>
          <p:sp>
            <p:nvSpPr>
              <p:cNvPr id="447" name="文本框 446"/>
              <p:cNvSpPr txBox="1"/>
              <p:nvPr/>
            </p:nvSpPr>
            <p:spPr>
              <a:xfrm>
                <a:off x="4938" y="16831"/>
                <a:ext cx="583" cy="339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mask</a:t>
                </a:r>
                <a:endParaRPr lang="en-US" altLang="zh-CN" sz="800" dirty="0"/>
              </a:p>
            </p:txBody>
          </p:sp>
          <p:sp>
            <p:nvSpPr>
              <p:cNvPr id="448" name="文本框 447"/>
              <p:cNvSpPr txBox="1"/>
              <p:nvPr/>
            </p:nvSpPr>
            <p:spPr>
              <a:xfrm>
                <a:off x="5242" y="16994"/>
                <a:ext cx="886" cy="339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diagnosis</a:t>
                </a:r>
                <a:endParaRPr lang="en-US" altLang="zh-CN" sz="800" dirty="0"/>
              </a:p>
            </p:txBody>
          </p:sp>
          <p:sp>
            <p:nvSpPr>
              <p:cNvPr id="449" name="文本框 448"/>
              <p:cNvSpPr txBox="1"/>
              <p:nvPr/>
            </p:nvSpPr>
            <p:spPr>
              <a:xfrm>
                <a:off x="5794" y="16837"/>
                <a:ext cx="740" cy="339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report</a:t>
                </a:r>
                <a:endParaRPr lang="en-US" altLang="zh-CN" sz="800" dirty="0"/>
              </a:p>
            </p:txBody>
          </p:sp>
          <p:pic>
            <p:nvPicPr>
              <p:cNvPr id="556" name="图片 555" descr="资源 49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4994" y="15658"/>
                <a:ext cx="1381" cy="1406"/>
              </a:xfrm>
              <a:prstGeom prst="rect">
                <a:avLst/>
              </a:prstGeom>
            </p:spPr>
          </p:pic>
        </p:grpSp>
      </p:grpSp>
      <p:grpSp>
        <p:nvGrpSpPr>
          <p:cNvPr id="565" name="组合 564"/>
          <p:cNvGrpSpPr/>
          <p:nvPr/>
        </p:nvGrpSpPr>
        <p:grpSpPr>
          <a:xfrm>
            <a:off x="8078362" y="8279647"/>
            <a:ext cx="1645920" cy="1256030"/>
            <a:chOff x="12493" y="18595"/>
            <a:chExt cx="2592" cy="1978"/>
          </a:xfrm>
        </p:grpSpPr>
        <p:pic>
          <p:nvPicPr>
            <p:cNvPr id="483" name="图片 482" descr="资源 44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3330" y="18595"/>
              <a:ext cx="919" cy="1239"/>
            </a:xfrm>
            <a:prstGeom prst="rect">
              <a:avLst/>
            </a:prstGeom>
          </p:spPr>
        </p:pic>
        <p:sp>
          <p:nvSpPr>
            <p:cNvPr id="521" name="文本框 520"/>
            <p:cNvSpPr txBox="1"/>
            <p:nvPr/>
          </p:nvSpPr>
          <p:spPr>
            <a:xfrm>
              <a:off x="12493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Curated feedback</a:t>
              </a:r>
              <a:endParaRPr lang="en-US" altLang="zh-CN" sz="1200" dirty="0"/>
            </a:p>
          </p:txBody>
        </p:sp>
        <p:sp>
          <p:nvSpPr>
            <p:cNvPr id="560" name="文本框 559"/>
            <p:cNvSpPr txBox="1"/>
            <p:nvPr/>
          </p:nvSpPr>
          <p:spPr>
            <a:xfrm>
              <a:off x="12603" y="19784"/>
              <a:ext cx="2372" cy="49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800" dirty="0"/>
                <a:t>Verified corrections and annotations</a:t>
              </a:r>
              <a:endParaRPr lang="en-US" altLang="zh-CN" sz="800" dirty="0"/>
            </a:p>
          </p:txBody>
        </p:sp>
      </p:grpSp>
      <p:cxnSp>
        <p:nvCxnSpPr>
          <p:cNvPr id="572" name="直接箭头连接符 571"/>
          <p:cNvCxnSpPr/>
          <p:nvPr/>
        </p:nvCxnSpPr>
        <p:spPr>
          <a:xfrm>
            <a:off x="4559827" y="7120137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3" name="直接箭头连接符 572"/>
          <p:cNvCxnSpPr/>
          <p:nvPr/>
        </p:nvCxnSpPr>
        <p:spPr>
          <a:xfrm>
            <a:off x="7156977" y="7120137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/>
          <p:nvPr/>
        </p:nvCxnSpPr>
        <p:spPr>
          <a:xfrm flipH="1">
            <a:off x="7303662" y="8551427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5" name="直接箭头连接符 574"/>
          <p:cNvCxnSpPr/>
          <p:nvPr/>
        </p:nvCxnSpPr>
        <p:spPr>
          <a:xfrm flipH="1">
            <a:off x="4752867" y="8551427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6" name="文本框 575"/>
          <p:cNvSpPr txBox="1"/>
          <p:nvPr/>
        </p:nvSpPr>
        <p:spPr>
          <a:xfrm>
            <a:off x="4354087" y="7120137"/>
            <a:ext cx="104330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/>
              <a:t>Expert review</a:t>
            </a:r>
            <a:endParaRPr lang="en-US" altLang="zh-CN" sz="900" dirty="0"/>
          </a:p>
        </p:txBody>
      </p:sp>
      <p:sp>
        <p:nvSpPr>
          <p:cNvPr id="578" name="文本框 577"/>
          <p:cNvSpPr txBox="1"/>
          <p:nvPr/>
        </p:nvSpPr>
        <p:spPr>
          <a:xfrm>
            <a:off x="6923932" y="7120137"/>
            <a:ext cx="10756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/>
              <a:t>After refinement</a:t>
            </a:r>
            <a:endParaRPr lang="en-US" altLang="zh-CN" sz="900" dirty="0"/>
          </a:p>
        </p:txBody>
      </p:sp>
      <p:sp>
        <p:nvSpPr>
          <p:cNvPr id="584" name="文本框 583"/>
          <p:cNvSpPr txBox="1"/>
          <p:nvPr/>
        </p:nvSpPr>
        <p:spPr>
          <a:xfrm>
            <a:off x="7037597" y="8321557"/>
            <a:ext cx="123317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/>
              <a:t>Stored as feedback</a:t>
            </a:r>
            <a:endParaRPr lang="en-US" altLang="zh-CN" sz="900"/>
          </a:p>
        </p:txBody>
      </p:sp>
      <p:sp>
        <p:nvSpPr>
          <p:cNvPr id="587" name="文本框 586"/>
          <p:cNvSpPr txBox="1"/>
          <p:nvPr/>
        </p:nvSpPr>
        <p:spPr>
          <a:xfrm>
            <a:off x="4480452" y="8321557"/>
            <a:ext cx="123317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/>
              <a:t>Used for updating</a:t>
            </a:r>
            <a:endParaRPr lang="en-US" altLang="zh-CN" sz="900"/>
          </a:p>
        </p:txBody>
      </p:sp>
      <p:sp>
        <p:nvSpPr>
          <p:cNvPr id="462" name="文本框 461"/>
          <p:cNvSpPr txBox="1"/>
          <p:nvPr/>
        </p:nvSpPr>
        <p:spPr>
          <a:xfrm rot="16200000">
            <a:off x="4213808" y="4076791"/>
            <a:ext cx="519076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33" name="组合 532"/>
          <p:cNvGrpSpPr/>
          <p:nvPr/>
        </p:nvGrpSpPr>
        <p:grpSpPr>
          <a:xfrm>
            <a:off x="4730750" y="5865996"/>
            <a:ext cx="2459990" cy="295910"/>
            <a:chOff x="2643785" y="2056832"/>
            <a:chExt cx="2459990" cy="349781"/>
          </a:xfrm>
        </p:grpSpPr>
        <p:grpSp>
          <p:nvGrpSpPr>
            <p:cNvPr id="489" name="组合 488"/>
            <p:cNvGrpSpPr/>
            <p:nvPr/>
          </p:nvGrpSpPr>
          <p:grpSpPr>
            <a:xfrm>
              <a:off x="2676805" y="2103083"/>
              <a:ext cx="2426970" cy="303530"/>
              <a:chOff x="7804" y="13512"/>
              <a:chExt cx="2300" cy="421"/>
            </a:xfrm>
          </p:grpSpPr>
          <p:sp>
            <p:nvSpPr>
              <p:cNvPr id="494" name="圆角矩形 157"/>
              <p:cNvSpPr/>
              <p:nvPr/>
            </p:nvSpPr>
            <p:spPr>
              <a:xfrm>
                <a:off x="7804" y="13528"/>
                <a:ext cx="2300" cy="384"/>
              </a:xfrm>
              <a:prstGeom prst="roundRect">
                <a:avLst/>
              </a:prstGeom>
              <a:solidFill>
                <a:srgbClr val="F8F8F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95" name="组合 494"/>
              <p:cNvGrpSpPr/>
              <p:nvPr/>
            </p:nvGrpSpPr>
            <p:grpSpPr>
              <a:xfrm>
                <a:off x="7804" y="13528"/>
                <a:ext cx="663" cy="384"/>
                <a:chOff x="4596" y="10896"/>
                <a:chExt cx="663" cy="384"/>
              </a:xfrm>
            </p:grpSpPr>
            <p:sp>
              <p:nvSpPr>
                <p:cNvPr id="500" name="矩形 499"/>
                <p:cNvSpPr/>
                <p:nvPr/>
              </p:nvSpPr>
              <p:spPr>
                <a:xfrm>
                  <a:off x="4659" y="10896"/>
                  <a:ext cx="600" cy="384"/>
                </a:xfrm>
                <a:prstGeom prst="rect">
                  <a:avLst/>
                </a:prstGeom>
                <a:solidFill>
                  <a:srgbClr val="66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1" name="圆角矩形 161"/>
                <p:cNvSpPr/>
                <p:nvPr/>
              </p:nvSpPr>
              <p:spPr>
                <a:xfrm>
                  <a:off x="4596" y="10896"/>
                  <a:ext cx="295" cy="384"/>
                </a:xfrm>
                <a:prstGeom prst="roundRect">
                  <a:avLst/>
                </a:prstGeom>
                <a:solidFill>
                  <a:srgbClr val="660000"/>
                </a:solidFill>
                <a:ln w="3175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97" name="文本框 496"/>
              <p:cNvSpPr txBox="1"/>
              <p:nvPr/>
            </p:nvSpPr>
            <p:spPr>
              <a:xfrm>
                <a:off x="8467" y="13512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900" dirty="0"/>
                  <a:t>148 cases videos</a:t>
                </a:r>
                <a:endParaRPr lang="en-US" altLang="zh-CN" sz="900" dirty="0"/>
              </a:p>
            </p:txBody>
          </p:sp>
        </p:grpSp>
        <p:sp>
          <p:nvSpPr>
            <p:cNvPr id="490" name="文本框 489"/>
            <p:cNvSpPr txBox="1"/>
            <p:nvPr/>
          </p:nvSpPr>
          <p:spPr>
            <a:xfrm>
              <a:off x="2643785" y="2056832"/>
              <a:ext cx="733425" cy="309245"/>
            </a:xfrm>
            <a:prstGeom prst="rect">
              <a:avLst/>
            </a:prstGeom>
            <a:noFill/>
          </p:spPr>
          <p:txBody>
            <a:bodyPr wrap="square" lIns="36195" rIns="36195" rtlCol="0">
              <a:no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TNVideo</a:t>
              </a:r>
              <a:endPara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4" name="文本框 533"/>
          <p:cNvSpPr txBox="1"/>
          <p:nvPr/>
        </p:nvSpPr>
        <p:spPr>
          <a:xfrm rot="16200000">
            <a:off x="4289497" y="3570715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535" name="文本框 534"/>
          <p:cNvSpPr txBox="1"/>
          <p:nvPr/>
        </p:nvSpPr>
        <p:spPr>
          <a:xfrm rot="16200000">
            <a:off x="4095157" y="5599577"/>
            <a:ext cx="885918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40" name="组合 539"/>
          <p:cNvGrpSpPr/>
          <p:nvPr/>
        </p:nvGrpSpPr>
        <p:grpSpPr>
          <a:xfrm>
            <a:off x="4652679" y="4060237"/>
            <a:ext cx="1270245" cy="309245"/>
            <a:chOff x="4644780" y="4060237"/>
            <a:chExt cx="1270245" cy="309245"/>
          </a:xfrm>
        </p:grpSpPr>
        <p:grpSp>
          <p:nvGrpSpPr>
            <p:cNvPr id="512" name="组合 511"/>
            <p:cNvGrpSpPr/>
            <p:nvPr/>
          </p:nvGrpSpPr>
          <p:grpSpPr>
            <a:xfrm>
              <a:off x="4644780" y="4060237"/>
              <a:ext cx="1269187" cy="309245"/>
              <a:chOff x="2643008" y="2430821"/>
              <a:chExt cx="1557789" cy="309245"/>
            </a:xfrm>
          </p:grpSpPr>
          <p:grpSp>
            <p:nvGrpSpPr>
              <p:cNvPr id="505" name="组合 504"/>
              <p:cNvGrpSpPr/>
              <p:nvPr/>
            </p:nvGrpSpPr>
            <p:grpSpPr>
              <a:xfrm>
                <a:off x="2676027" y="2448073"/>
                <a:ext cx="1524770" cy="276854"/>
                <a:chOff x="7804" y="13528"/>
                <a:chExt cx="1445" cy="384"/>
              </a:xfrm>
            </p:grpSpPr>
            <p:sp>
              <p:nvSpPr>
                <p:cNvPr id="507" name="圆角矩形 157"/>
                <p:cNvSpPr/>
                <p:nvPr/>
              </p:nvSpPr>
              <p:spPr>
                <a:xfrm>
                  <a:off x="7804" y="13528"/>
                  <a:ext cx="1445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08" name="组合 507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10" name="矩形 509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1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06" name="文本框 505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ZJH-2K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7" name="文本框 536"/>
            <p:cNvSpPr txBox="1"/>
            <p:nvPr/>
          </p:nvSpPr>
          <p:spPr>
            <a:xfrm>
              <a:off x="5244042" y="4114608"/>
              <a:ext cx="670983" cy="197961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1,854 images</a:t>
              </a:r>
              <a:endParaRPr lang="en-US" altLang="zh-CN" sz="800" dirty="0"/>
            </a:p>
          </p:txBody>
        </p:sp>
      </p:grpSp>
      <p:grpSp>
        <p:nvGrpSpPr>
          <p:cNvPr id="539" name="组合 538"/>
          <p:cNvGrpSpPr/>
          <p:nvPr/>
        </p:nvGrpSpPr>
        <p:grpSpPr>
          <a:xfrm>
            <a:off x="6018212" y="4068447"/>
            <a:ext cx="1349193" cy="309245"/>
            <a:chOff x="6042618" y="4056679"/>
            <a:chExt cx="1349193" cy="309245"/>
          </a:xfrm>
        </p:grpSpPr>
        <p:grpSp>
          <p:nvGrpSpPr>
            <p:cNvPr id="525" name="组合 524"/>
            <p:cNvGrpSpPr/>
            <p:nvPr/>
          </p:nvGrpSpPr>
          <p:grpSpPr>
            <a:xfrm>
              <a:off x="6042618" y="4056679"/>
              <a:ext cx="1349193" cy="309245"/>
              <a:chOff x="2643008" y="2430821"/>
              <a:chExt cx="1400567" cy="309245"/>
            </a:xfrm>
          </p:grpSpPr>
          <p:grpSp>
            <p:nvGrpSpPr>
              <p:cNvPr id="526" name="组合 525"/>
              <p:cNvGrpSpPr/>
              <p:nvPr/>
            </p:nvGrpSpPr>
            <p:grpSpPr>
              <a:xfrm>
                <a:off x="2676030" y="2448073"/>
                <a:ext cx="1367545" cy="276854"/>
                <a:chOff x="7804" y="13528"/>
                <a:chExt cx="1296" cy="384"/>
              </a:xfrm>
            </p:grpSpPr>
            <p:sp>
              <p:nvSpPr>
                <p:cNvPr id="528" name="圆角矩形 157"/>
                <p:cNvSpPr/>
                <p:nvPr/>
              </p:nvSpPr>
              <p:spPr>
                <a:xfrm>
                  <a:off x="7804" y="13528"/>
                  <a:ext cx="1296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29" name="组合 528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31" name="矩形 530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2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27" name="文本框 526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TNVideo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8" name="文本框 537"/>
            <p:cNvSpPr txBox="1"/>
            <p:nvPr/>
          </p:nvSpPr>
          <p:spPr>
            <a:xfrm>
              <a:off x="6744971" y="4104221"/>
              <a:ext cx="644312" cy="221187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148 cases</a:t>
              </a:r>
              <a:endParaRPr lang="en-US" altLang="zh-CN" sz="800" dirty="0"/>
            </a:p>
          </p:txBody>
        </p:sp>
      </p:grpSp>
      <p:sp>
        <p:nvSpPr>
          <p:cNvPr id="541" name="文本框 540"/>
          <p:cNvSpPr txBox="1"/>
          <p:nvPr/>
        </p:nvSpPr>
        <p:spPr>
          <a:xfrm rot="16200000">
            <a:off x="7452975" y="4089850"/>
            <a:ext cx="519076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42" name="组合 541"/>
          <p:cNvGrpSpPr/>
          <p:nvPr/>
        </p:nvGrpSpPr>
        <p:grpSpPr>
          <a:xfrm>
            <a:off x="7920951" y="4050984"/>
            <a:ext cx="1270245" cy="309245"/>
            <a:chOff x="4644780" y="4060237"/>
            <a:chExt cx="1270245" cy="309245"/>
          </a:xfrm>
        </p:grpSpPr>
        <p:grpSp>
          <p:nvGrpSpPr>
            <p:cNvPr id="544" name="组合 543"/>
            <p:cNvGrpSpPr/>
            <p:nvPr/>
          </p:nvGrpSpPr>
          <p:grpSpPr>
            <a:xfrm>
              <a:off x="4644780" y="4060237"/>
              <a:ext cx="1269187" cy="309245"/>
              <a:chOff x="2643008" y="2430821"/>
              <a:chExt cx="1557789" cy="309245"/>
            </a:xfrm>
          </p:grpSpPr>
          <p:grpSp>
            <p:nvGrpSpPr>
              <p:cNvPr id="549" name="组合 548"/>
              <p:cNvGrpSpPr/>
              <p:nvPr/>
            </p:nvGrpSpPr>
            <p:grpSpPr>
              <a:xfrm>
                <a:off x="2676027" y="2448073"/>
                <a:ext cx="1524770" cy="276854"/>
                <a:chOff x="7804" y="13528"/>
                <a:chExt cx="1445" cy="384"/>
              </a:xfrm>
            </p:grpSpPr>
            <p:sp>
              <p:nvSpPr>
                <p:cNvPr id="552" name="圆角矩形 157"/>
                <p:cNvSpPr/>
                <p:nvPr/>
              </p:nvSpPr>
              <p:spPr>
                <a:xfrm>
                  <a:off x="7804" y="13528"/>
                  <a:ext cx="1445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53" name="组合 552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55" name="矩形 554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8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51" name="文本框 550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ZJH-2K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5" name="文本框 544"/>
            <p:cNvSpPr txBox="1"/>
            <p:nvPr/>
          </p:nvSpPr>
          <p:spPr>
            <a:xfrm>
              <a:off x="5244042" y="4114608"/>
              <a:ext cx="670983" cy="197961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1,854 cases</a:t>
              </a:r>
              <a:endParaRPr lang="en-US" altLang="zh-CN" sz="800" dirty="0"/>
            </a:p>
          </p:txBody>
        </p:sp>
      </p:grpSp>
      <p:grpSp>
        <p:nvGrpSpPr>
          <p:cNvPr id="559" name="组合 558"/>
          <p:cNvGrpSpPr/>
          <p:nvPr/>
        </p:nvGrpSpPr>
        <p:grpSpPr>
          <a:xfrm>
            <a:off x="9278886" y="4035843"/>
            <a:ext cx="1349193" cy="309245"/>
            <a:chOff x="6042618" y="4056679"/>
            <a:chExt cx="1349193" cy="309245"/>
          </a:xfrm>
        </p:grpSpPr>
        <p:grpSp>
          <p:nvGrpSpPr>
            <p:cNvPr id="561" name="组合 560"/>
            <p:cNvGrpSpPr/>
            <p:nvPr/>
          </p:nvGrpSpPr>
          <p:grpSpPr>
            <a:xfrm>
              <a:off x="6042618" y="4056679"/>
              <a:ext cx="1349193" cy="309245"/>
              <a:chOff x="2643008" y="2430821"/>
              <a:chExt cx="1400567" cy="309245"/>
            </a:xfrm>
          </p:grpSpPr>
          <p:grpSp>
            <p:nvGrpSpPr>
              <p:cNvPr id="566" name="组合 565"/>
              <p:cNvGrpSpPr/>
              <p:nvPr/>
            </p:nvGrpSpPr>
            <p:grpSpPr>
              <a:xfrm>
                <a:off x="2676030" y="2448073"/>
                <a:ext cx="1367545" cy="276854"/>
                <a:chOff x="7804" y="13528"/>
                <a:chExt cx="1296" cy="384"/>
              </a:xfrm>
            </p:grpSpPr>
            <p:sp>
              <p:nvSpPr>
                <p:cNvPr id="66" name="圆角矩形 157"/>
                <p:cNvSpPr/>
                <p:nvPr/>
              </p:nvSpPr>
              <p:spPr>
                <a:xfrm>
                  <a:off x="7804" y="13528"/>
                  <a:ext cx="1296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7" name="组合 66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68" name="矩形 67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65" name="文本框 64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TNVideo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2" name="文本框 561"/>
            <p:cNvSpPr txBox="1"/>
            <p:nvPr/>
          </p:nvSpPr>
          <p:spPr>
            <a:xfrm>
              <a:off x="6744971" y="4104221"/>
              <a:ext cx="644312" cy="221187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148 cases</a:t>
              </a:r>
              <a:endParaRPr lang="en-US" altLang="zh-CN" sz="800" dirty="0"/>
            </a:p>
          </p:txBody>
        </p:sp>
      </p:grpSp>
      <p:sp>
        <p:nvSpPr>
          <p:cNvPr id="73" name="文本框 72"/>
          <p:cNvSpPr txBox="1"/>
          <p:nvPr/>
        </p:nvSpPr>
        <p:spPr>
          <a:xfrm>
            <a:off x="8366934" y="9468719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8695690" y="9711690"/>
            <a:ext cx="1689100" cy="3514725"/>
            <a:chOff x="13686" y="15294"/>
            <a:chExt cx="2660" cy="5535"/>
          </a:xfrm>
        </p:grpSpPr>
        <p:grpSp>
          <p:nvGrpSpPr>
            <p:cNvPr id="8" name="组合 7"/>
            <p:cNvGrpSpPr/>
            <p:nvPr/>
          </p:nvGrpSpPr>
          <p:grpSpPr>
            <a:xfrm>
              <a:off x="14516" y="17525"/>
              <a:ext cx="1000" cy="1073"/>
              <a:chOff x="16271" y="17056"/>
              <a:chExt cx="1175" cy="1338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16295" y="17056"/>
                <a:ext cx="1141" cy="1279"/>
              </a:xfrm>
              <a:prstGeom prst="roundRect">
                <a:avLst/>
              </a:prstGeom>
              <a:solidFill>
                <a:srgbClr val="536B8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资源 40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522" y="17102"/>
                <a:ext cx="672" cy="673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16271" y="17732"/>
                <a:ext cx="1175" cy="662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b="1" dirty="0">
                    <a:solidFill>
                      <a:schemeClr val="bg1"/>
                    </a:solidFill>
                  </a:rPr>
                  <a:t>ThyroidX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800" b="1" dirty="0">
                    <a:solidFill>
                      <a:schemeClr val="bg1"/>
                    </a:solidFill>
                  </a:rPr>
                  <a:t>Agent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13686" y="15294"/>
              <a:ext cx="2660" cy="1704"/>
              <a:chOff x="13794" y="15262"/>
              <a:chExt cx="2660" cy="1704"/>
            </a:xfrm>
          </p:grpSpPr>
          <p:pic>
            <p:nvPicPr>
              <p:cNvPr id="15" name="图片 14" descr="资源 50"/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4440" y="15572"/>
                <a:ext cx="1368" cy="969"/>
              </a:xfrm>
              <a:prstGeom prst="rect">
                <a:avLst/>
              </a:prstGeom>
            </p:spPr>
          </p:pic>
          <p:sp>
            <p:nvSpPr>
              <p:cNvPr id="33" name="文本框 32"/>
              <p:cNvSpPr txBox="1"/>
              <p:nvPr/>
            </p:nvSpPr>
            <p:spPr>
              <a:xfrm>
                <a:off x="13794" y="15262"/>
                <a:ext cx="2660" cy="362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spAutoFit/>
              </a:bodyPr>
              <a:p>
                <a:pPr algn="ctr"/>
                <a:r>
                  <a:rPr lang="en-US" altLang="zh-CN" sz="900"/>
                  <a:t>Training and internal validation</a:t>
                </a:r>
                <a:endParaRPr lang="en-US" altLang="zh-CN" sz="90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4047" y="16580"/>
                <a:ext cx="215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rgbClr val="0D3565"/>
                    </a:solidFill>
                  </a:rPr>
                  <a:t>10 centers</a:t>
                </a:r>
                <a:endParaRPr lang="en-US" altLang="zh-CN" sz="1000">
                  <a:solidFill>
                    <a:srgbClr val="0D3565"/>
                  </a:solidFill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3938" y="19125"/>
              <a:ext cx="2156" cy="1704"/>
              <a:chOff x="11900" y="21412"/>
              <a:chExt cx="3070" cy="2429"/>
            </a:xfrm>
          </p:grpSpPr>
          <p:pic>
            <p:nvPicPr>
              <p:cNvPr id="31" name="图片 30" descr="资源 51"/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2489" y="21855"/>
                <a:ext cx="1891" cy="1379"/>
              </a:xfrm>
              <a:prstGeom prst="rect">
                <a:avLst/>
              </a:prstGeom>
            </p:spPr>
          </p:pic>
          <p:sp>
            <p:nvSpPr>
              <p:cNvPr id="34" name="文本框 33"/>
              <p:cNvSpPr txBox="1"/>
              <p:nvPr/>
            </p:nvSpPr>
            <p:spPr>
              <a:xfrm>
                <a:off x="11900" y="21412"/>
                <a:ext cx="3070" cy="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External validation</a:t>
                </a:r>
                <a:endParaRPr lang="en-US" altLang="zh-CN" sz="9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900" y="23291"/>
                <a:ext cx="3070" cy="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rgbClr val="EA6F17"/>
                    </a:solidFill>
                  </a:rPr>
                  <a:t>35 centers</a:t>
                </a:r>
                <a:endParaRPr lang="en-US" altLang="zh-CN" sz="1000">
                  <a:solidFill>
                    <a:srgbClr val="EA6F17"/>
                  </a:solidFill>
                </a:endParaRPr>
              </a:p>
            </p:txBody>
          </p:sp>
        </p:grpSp>
        <p:cxnSp>
          <p:nvCxnSpPr>
            <p:cNvPr id="74" name="直接箭头连接符 73"/>
            <p:cNvCxnSpPr/>
            <p:nvPr/>
          </p:nvCxnSpPr>
          <p:spPr>
            <a:xfrm>
              <a:off x="15016" y="17023"/>
              <a:ext cx="0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>
              <a:off x="15016" y="18623"/>
              <a:ext cx="0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4730750" y="5032241"/>
            <a:ext cx="2459990" cy="282575"/>
            <a:chOff x="7773" y="13474"/>
            <a:chExt cx="2331" cy="441"/>
          </a:xfrm>
        </p:grpSpPr>
        <p:sp>
          <p:nvSpPr>
            <p:cNvPr id="27" name="圆角矩形 26"/>
            <p:cNvSpPr/>
            <p:nvPr/>
          </p:nvSpPr>
          <p:spPr>
            <a:xfrm>
              <a:off x="7804" y="13528"/>
              <a:ext cx="2300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15266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15266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7773" y="13474"/>
              <a:ext cx="2330" cy="441"/>
              <a:chOff x="7857" y="12001"/>
              <a:chExt cx="2330" cy="441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8551" y="12021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2,474 reports,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15,921 images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7857" y="12001"/>
                <a:ext cx="695" cy="429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KMVE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 rot="16200000">
            <a:off x="4365308" y="5027831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82" name="文本框 81"/>
          <p:cNvSpPr txBox="1"/>
          <p:nvPr/>
        </p:nvSpPr>
        <p:spPr>
          <a:xfrm>
            <a:off x="4728845" y="5309235"/>
            <a:ext cx="733425" cy="28130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SMU-HMC</a:t>
            </a:r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2" name="组合 811"/>
          <p:cNvGrpSpPr/>
          <p:nvPr/>
        </p:nvGrpSpPr>
        <p:grpSpPr>
          <a:xfrm>
            <a:off x="3107758" y="9641205"/>
            <a:ext cx="3557270" cy="3558540"/>
            <a:chOff x="4532" y="15183"/>
            <a:chExt cx="5602" cy="5604"/>
          </a:xfrm>
        </p:grpSpPr>
        <p:sp>
          <p:nvSpPr>
            <p:cNvPr id="813" name="弧形 812"/>
            <p:cNvSpPr/>
            <p:nvPr/>
          </p:nvSpPr>
          <p:spPr>
            <a:xfrm>
              <a:off x="5862" y="16522"/>
              <a:ext cx="2943" cy="2927"/>
            </a:xfrm>
            <a:prstGeom prst="arc">
              <a:avLst/>
            </a:prstGeom>
            <a:ln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14" name="组合 813"/>
            <p:cNvGrpSpPr/>
            <p:nvPr/>
          </p:nvGrpSpPr>
          <p:grpSpPr>
            <a:xfrm>
              <a:off x="4532" y="15183"/>
              <a:ext cx="5602" cy="5604"/>
              <a:chOff x="4532" y="15183"/>
              <a:chExt cx="5602" cy="5604"/>
            </a:xfrm>
          </p:grpSpPr>
          <p:sp>
            <p:nvSpPr>
              <p:cNvPr id="815" name="弧形 814"/>
              <p:cNvSpPr/>
              <p:nvPr/>
            </p:nvSpPr>
            <p:spPr>
              <a:xfrm rot="16200000">
                <a:off x="5862" y="16522"/>
                <a:ext cx="2943" cy="2927"/>
              </a:xfrm>
              <a:prstGeom prst="arc">
                <a:avLst/>
              </a:prstGeom>
              <a:ln>
                <a:solidFill>
                  <a:srgbClr val="7F7F7F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16" name="组合 815"/>
              <p:cNvGrpSpPr/>
              <p:nvPr/>
            </p:nvGrpSpPr>
            <p:grpSpPr>
              <a:xfrm>
                <a:off x="4532" y="15183"/>
                <a:ext cx="5602" cy="5604"/>
                <a:chOff x="4532" y="15183"/>
                <a:chExt cx="5602" cy="5604"/>
              </a:xfrm>
            </p:grpSpPr>
            <p:sp>
              <p:nvSpPr>
                <p:cNvPr id="817" name="弧形 816"/>
                <p:cNvSpPr/>
                <p:nvPr/>
              </p:nvSpPr>
              <p:spPr>
                <a:xfrm rot="10800000">
                  <a:off x="5862" y="16522"/>
                  <a:ext cx="2943" cy="2927"/>
                </a:xfrm>
                <a:prstGeom prst="arc">
                  <a:avLst/>
                </a:prstGeom>
                <a:ln>
                  <a:solidFill>
                    <a:srgbClr val="7F7F7F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18" name="组合 817"/>
                <p:cNvGrpSpPr/>
                <p:nvPr/>
              </p:nvGrpSpPr>
              <p:grpSpPr>
                <a:xfrm>
                  <a:off x="4532" y="15183"/>
                  <a:ext cx="5602" cy="5604"/>
                  <a:chOff x="4532" y="15183"/>
                  <a:chExt cx="5602" cy="5604"/>
                </a:xfrm>
              </p:grpSpPr>
              <p:sp>
                <p:nvSpPr>
                  <p:cNvPr id="819" name="椭圆 818"/>
                  <p:cNvSpPr/>
                  <p:nvPr/>
                </p:nvSpPr>
                <p:spPr>
                  <a:xfrm>
                    <a:off x="5990" y="16642"/>
                    <a:ext cx="2686" cy="2686"/>
                  </a:xfrm>
                  <a:prstGeom prst="ellipse">
                    <a:avLst/>
                  </a:prstGeom>
                  <a:solidFill>
                    <a:srgbClr val="536B8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820" name="组合 819"/>
                  <p:cNvGrpSpPr/>
                  <p:nvPr/>
                </p:nvGrpSpPr>
                <p:grpSpPr>
                  <a:xfrm>
                    <a:off x="5870" y="16514"/>
                    <a:ext cx="2927" cy="2943"/>
                    <a:chOff x="7920" y="14906"/>
                    <a:chExt cx="2927" cy="2943"/>
                  </a:xfrm>
                </p:grpSpPr>
                <p:sp>
                  <p:nvSpPr>
                    <p:cNvPr id="821" name="弧形 820"/>
                    <p:cNvSpPr/>
                    <p:nvPr/>
                  </p:nvSpPr>
                  <p:spPr>
                    <a:xfrm rot="5400000">
                      <a:off x="7912" y="14914"/>
                      <a:ext cx="2943" cy="2927"/>
                    </a:xfrm>
                    <a:prstGeom prst="arc">
                      <a:avLst/>
                    </a:prstGeom>
                    <a:ln>
                      <a:solidFill>
                        <a:srgbClr val="7F7F7F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822" name="组合 821"/>
                    <p:cNvGrpSpPr/>
                    <p:nvPr/>
                  </p:nvGrpSpPr>
                  <p:grpSpPr>
                    <a:xfrm>
                      <a:off x="8056" y="15588"/>
                      <a:ext cx="2653" cy="1526"/>
                      <a:chOff x="8056" y="15611"/>
                      <a:chExt cx="2653" cy="1526"/>
                    </a:xfrm>
                  </p:grpSpPr>
                  <p:sp>
                    <p:nvSpPr>
                      <p:cNvPr id="823" name="文本框 822"/>
                      <p:cNvSpPr txBox="1"/>
                      <p:nvPr/>
                    </p:nvSpPr>
                    <p:spPr>
                      <a:xfrm>
                        <a:off x="8056" y="16652"/>
                        <a:ext cx="2653" cy="48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17780" rIns="1778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400" b="1" dirty="0">
                            <a:solidFill>
                              <a:schemeClr val="bg1"/>
                            </a:solidFill>
                          </a:rPr>
                          <a:t>ThyroidXAgent</a:t>
                        </a:r>
                        <a:endParaRPr lang="en-US" altLang="zh-CN" sz="1400" b="1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824" name="图片 823" descr="资源 40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32" y="15611"/>
                        <a:ext cx="1101" cy="1101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825" name="组合 824"/>
                  <p:cNvGrpSpPr/>
                  <p:nvPr/>
                </p:nvGrpSpPr>
                <p:grpSpPr>
                  <a:xfrm>
                    <a:off x="4532" y="15183"/>
                    <a:ext cx="5602" cy="5604"/>
                    <a:chOff x="4532" y="15183"/>
                    <a:chExt cx="5602" cy="5604"/>
                  </a:xfrm>
                </p:grpSpPr>
                <p:grpSp>
                  <p:nvGrpSpPr>
                    <p:cNvPr id="826" name="组合 825"/>
                    <p:cNvGrpSpPr/>
                    <p:nvPr/>
                  </p:nvGrpSpPr>
                  <p:grpSpPr>
                    <a:xfrm>
                      <a:off x="4532" y="15183"/>
                      <a:ext cx="5603" cy="5604"/>
                      <a:chOff x="6582" y="13575"/>
                      <a:chExt cx="5603" cy="5604"/>
                    </a:xfr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grpSpPr>
                  <p:grpSp>
                    <p:nvGrpSpPr>
                      <p:cNvPr id="827" name="组合 826"/>
                      <p:cNvGrpSpPr/>
                      <p:nvPr/>
                    </p:nvGrpSpPr>
                    <p:grpSpPr>
                      <a:xfrm>
                        <a:off x="6582" y="13575"/>
                        <a:ext cx="5603" cy="5604"/>
                        <a:chOff x="7005" y="7091"/>
                        <a:chExt cx="4805" cy="4806"/>
                      </a:xfrm>
                    </p:grpSpPr>
                    <p:sp>
                      <p:nvSpPr>
                        <p:cNvPr id="828" name="任意多边形 827"/>
                        <p:cNvSpPr/>
                        <p:nvPr/>
                      </p:nvSpPr>
                      <p:spPr>
                        <a:xfrm>
                          <a:off x="7005" y="7099"/>
                          <a:ext cx="2403" cy="2389"/>
                        </a:xfrm>
                        <a:custGeom>
                          <a:avLst/>
                          <a:gdLst>
                            <a:gd name="connisteX0" fmla="*/ 1501140 w 1741170"/>
                            <a:gd name="connsiteY0" fmla="*/ 0 h 1771650"/>
                            <a:gd name="connisteX1" fmla="*/ 1741170 w 1741170"/>
                            <a:gd name="connsiteY1" fmla="*/ 499110 h 1771650"/>
                            <a:gd name="connisteX2" fmla="*/ 1611630 w 1741170"/>
                            <a:gd name="connsiteY2" fmla="*/ 922020 h 1771650"/>
                            <a:gd name="connisteX3" fmla="*/ 1207770 w 1741170"/>
                            <a:gd name="connsiteY3" fmla="*/ 1352550 h 1771650"/>
                            <a:gd name="connisteX4" fmla="*/ 853440 w 1741170"/>
                            <a:gd name="connsiteY4" fmla="*/ 1756410 h 1771650"/>
                            <a:gd name="connisteX5" fmla="*/ 495300 w 1741170"/>
                            <a:gd name="connsiteY5" fmla="*/ 1664970 h 1771650"/>
                            <a:gd name="connisteX6" fmla="*/ 0 w 1741170"/>
                            <a:gd name="connsiteY6" fmla="*/ 1771650 h 1771650"/>
                            <a:gd name="connisteX7" fmla="*/ 156210 w 1741170"/>
                            <a:gd name="connsiteY7" fmla="*/ 975360 h 1771650"/>
                            <a:gd name="connisteX8" fmla="*/ 765810 w 1741170"/>
                            <a:gd name="connsiteY8" fmla="*/ 240030 h 1771650"/>
                            <a:gd name="connisteX9" fmla="*/ 1501140 w 1741170"/>
                            <a:gd name="connsiteY9" fmla="*/ 0 h 177165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</a:cxnLst>
                          <a:rect l="l" t="t" r="r" b="b"/>
                          <a:pathLst>
                            <a:path w="2403" h="2389">
                              <a:moveTo>
                                <a:pt x="2177" y="0"/>
                              </a:moveTo>
                              <a:lnTo>
                                <a:pt x="2403" y="538"/>
                              </a:lnTo>
                              <a:lnTo>
                                <a:pt x="2182" y="1070"/>
                              </a:lnTo>
                              <a:lnTo>
                                <a:pt x="2172" y="1071"/>
                              </a:lnTo>
                              <a:cubicBezTo>
                                <a:pt x="1553" y="1180"/>
                                <a:pt x="1080" y="1713"/>
                                <a:pt x="1063" y="2359"/>
                              </a:cubicBezTo>
                              <a:lnTo>
                                <a:pt x="1063" y="2389"/>
                              </a:lnTo>
                              <a:lnTo>
                                <a:pt x="549" y="2148"/>
                              </a:lnTo>
                              <a:lnTo>
                                <a:pt x="0" y="2369"/>
                              </a:lnTo>
                              <a:lnTo>
                                <a:pt x="0" y="2363"/>
                              </a:lnTo>
                              <a:cubicBezTo>
                                <a:pt x="16" y="1131"/>
                                <a:pt x="958" y="122"/>
                                <a:pt x="2161" y="1"/>
                              </a:cubicBezTo>
                              <a:lnTo>
                                <a:pt x="217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DE0DE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29" name="任意多边形 828"/>
                        <p:cNvSpPr/>
                        <p:nvPr/>
                      </p:nvSpPr>
                      <p:spPr>
                        <a:xfrm>
                          <a:off x="9427" y="7091"/>
                          <a:ext cx="2373" cy="2381"/>
                        </a:xfrm>
                        <a:custGeom>
                          <a:avLst/>
                          <a:gdLst>
                            <a:gd name="connisteX0" fmla="*/ 0 w 1788160"/>
                            <a:gd name="connsiteY0" fmla="*/ 0 h 1783080"/>
                            <a:gd name="connisteX1" fmla="*/ 106680 w 1788160"/>
                            <a:gd name="connsiteY1" fmla="*/ 467360 h 1783080"/>
                            <a:gd name="connisteX2" fmla="*/ 20320 w 1788160"/>
                            <a:gd name="connsiteY2" fmla="*/ 1010920 h 1783080"/>
                            <a:gd name="connisteX3" fmla="*/ 995680 w 1788160"/>
                            <a:gd name="connsiteY3" fmla="*/ 1701800 h 1783080"/>
                            <a:gd name="connisteX4" fmla="*/ 1280160 w 1788160"/>
                            <a:gd name="connsiteY4" fmla="*/ 1783080 h 1783080"/>
                            <a:gd name="connisteX5" fmla="*/ 1788160 w 1788160"/>
                            <a:gd name="connsiteY5" fmla="*/ 1600200 h 1783080"/>
                            <a:gd name="connisteX6" fmla="*/ 1153160 w 1788160"/>
                            <a:gd name="connsiteY6" fmla="*/ 330200 h 1783080"/>
                            <a:gd name="connisteX7" fmla="*/ 218440 w 1788160"/>
                            <a:gd name="connsiteY7" fmla="*/ 127000 h 1783080"/>
                            <a:gd name="connisteX8" fmla="*/ 10160 w 1788160"/>
                            <a:gd name="connsiteY8" fmla="*/ 35560 h 1783080"/>
                            <a:gd name="connisteX9" fmla="*/ 0 w 1788160"/>
                            <a:gd name="connsiteY9" fmla="*/ 0 h 178308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</a:cxnLst>
                          <a:rect l="l" t="t" r="r" b="b"/>
                          <a:pathLst>
                            <a:path w="2373" h="2381">
                              <a:moveTo>
                                <a:pt x="0" y="0"/>
                              </a:moveTo>
                              <a:lnTo>
                                <a:pt x="14" y="0"/>
                              </a:lnTo>
                              <a:cubicBezTo>
                                <a:pt x="1226" y="15"/>
                                <a:pt x="2222" y="926"/>
                                <a:pt x="2370" y="2101"/>
                              </a:cubicBezTo>
                              <a:lnTo>
                                <a:pt x="2373" y="2130"/>
                              </a:lnTo>
                              <a:lnTo>
                                <a:pt x="1861" y="2381"/>
                              </a:lnTo>
                              <a:lnTo>
                                <a:pt x="1299" y="2133"/>
                              </a:lnTo>
                              <a:lnTo>
                                <a:pt x="1293" y="2106"/>
                              </a:lnTo>
                              <a:cubicBezTo>
                                <a:pt x="1160" y="1519"/>
                                <a:pt x="642" y="1078"/>
                                <a:pt x="19" y="1063"/>
                              </a:cubicBezTo>
                              <a:lnTo>
                                <a:pt x="4" y="1062"/>
                              </a:lnTo>
                              <a:lnTo>
                                <a:pt x="221" y="545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7DBE4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30" name="任意多边形 829"/>
                        <p:cNvSpPr/>
                        <p:nvPr/>
                      </p:nvSpPr>
                      <p:spPr>
                        <a:xfrm>
                          <a:off x="7013" y="9497"/>
                          <a:ext cx="2383" cy="2400"/>
                        </a:xfrm>
                        <a:custGeom>
                          <a:avLst/>
                          <a:gdLst>
                            <a:gd name="connisteX0" fmla="*/ 0 w 1803400"/>
                            <a:gd name="connsiteY0" fmla="*/ 187960 h 1686560"/>
                            <a:gd name="connisteX1" fmla="*/ 533400 w 1803400"/>
                            <a:gd name="connsiteY1" fmla="*/ 0 h 1686560"/>
                            <a:gd name="connisteX2" fmla="*/ 1051560 w 1803400"/>
                            <a:gd name="connsiteY2" fmla="*/ 198120 h 1686560"/>
                            <a:gd name="connisteX3" fmla="*/ 1132840 w 1803400"/>
                            <a:gd name="connsiteY3" fmla="*/ 482600 h 1686560"/>
                            <a:gd name="connisteX4" fmla="*/ 1615440 w 1803400"/>
                            <a:gd name="connsiteY4" fmla="*/ 751840 h 1686560"/>
                            <a:gd name="connisteX5" fmla="*/ 1803400 w 1803400"/>
                            <a:gd name="connsiteY5" fmla="*/ 914400 h 1686560"/>
                            <a:gd name="connisteX6" fmla="*/ 1671320 w 1803400"/>
                            <a:gd name="connsiteY6" fmla="*/ 1214120 h 1686560"/>
                            <a:gd name="connisteX7" fmla="*/ 1793240 w 1803400"/>
                            <a:gd name="connsiteY7" fmla="*/ 1630680 h 1686560"/>
                            <a:gd name="connisteX8" fmla="*/ 1727200 w 1803400"/>
                            <a:gd name="connsiteY8" fmla="*/ 1686560 h 1686560"/>
                            <a:gd name="connisteX9" fmla="*/ 889000 w 1803400"/>
                            <a:gd name="connsiteY9" fmla="*/ 1544320 h 1686560"/>
                            <a:gd name="connisteX10" fmla="*/ 487680 w 1803400"/>
                            <a:gd name="connsiteY10" fmla="*/ 1127760 h 1686560"/>
                            <a:gd name="connisteX11" fmla="*/ 228600 w 1803400"/>
                            <a:gd name="connsiteY11" fmla="*/ 604520 h 1686560"/>
                            <a:gd name="connisteX12" fmla="*/ 0 w 1803400"/>
                            <a:gd name="connsiteY12" fmla="*/ 187960 h 168656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</a:cxnLst>
                          <a:rect l="l" t="t" r="r" b="b"/>
                          <a:pathLst>
                            <a:path w="2383" h="2400">
                              <a:moveTo>
                                <a:pt x="523" y="0"/>
                              </a:moveTo>
                              <a:lnTo>
                                <a:pt x="1075" y="241"/>
                              </a:lnTo>
                              <a:lnTo>
                                <a:pt x="1079" y="265"/>
                              </a:lnTo>
                              <a:cubicBezTo>
                                <a:pt x="1202" y="867"/>
                                <a:pt x="1729" y="1323"/>
                                <a:pt x="2364" y="1337"/>
                              </a:cubicBezTo>
                              <a:lnTo>
                                <a:pt x="2372" y="1337"/>
                              </a:lnTo>
                              <a:lnTo>
                                <a:pt x="2153" y="1850"/>
                              </a:lnTo>
                              <a:lnTo>
                                <a:pt x="2383" y="2400"/>
                              </a:lnTo>
                              <a:lnTo>
                                <a:pt x="2336" y="2399"/>
                              </a:lnTo>
                              <a:cubicBezTo>
                                <a:pt x="1117" y="2370"/>
                                <a:pt x="123" y="1434"/>
                                <a:pt x="1" y="240"/>
                              </a:cubicBezTo>
                              <a:lnTo>
                                <a:pt x="0" y="229"/>
                              </a:lnTo>
                              <a:lnTo>
                                <a:pt x="52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6D4AE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31" name="任意多边形 830"/>
                        <p:cNvSpPr/>
                        <p:nvPr/>
                      </p:nvSpPr>
                      <p:spPr>
                        <a:xfrm>
                          <a:off x="9408" y="9505"/>
                          <a:ext cx="2403" cy="2389"/>
                        </a:xfrm>
                        <a:custGeom>
                          <a:avLst/>
                          <a:gdLst>
                            <a:gd name="connisteX0" fmla="*/ 868680 w 1671320"/>
                            <a:gd name="connsiteY0" fmla="*/ 0 h 1676400"/>
                            <a:gd name="connisteX1" fmla="*/ 1244600 w 1671320"/>
                            <a:gd name="connsiteY1" fmla="*/ 157480 h 1676400"/>
                            <a:gd name="connisteX2" fmla="*/ 1656080 w 1671320"/>
                            <a:gd name="connsiteY2" fmla="*/ 10160 h 1676400"/>
                            <a:gd name="connisteX3" fmla="*/ 1671320 w 1671320"/>
                            <a:gd name="connsiteY3" fmla="*/ 523240 h 1676400"/>
                            <a:gd name="connisteX4" fmla="*/ 1503680 w 1671320"/>
                            <a:gd name="connsiteY4" fmla="*/ 949960 h 1676400"/>
                            <a:gd name="connisteX5" fmla="*/ 1244600 w 1671320"/>
                            <a:gd name="connsiteY5" fmla="*/ 1259840 h 1676400"/>
                            <a:gd name="connisteX6" fmla="*/ 985520 w 1671320"/>
                            <a:gd name="connsiteY6" fmla="*/ 1432560 h 1676400"/>
                            <a:gd name="connisteX7" fmla="*/ 579120 w 1671320"/>
                            <a:gd name="connsiteY7" fmla="*/ 1600200 h 1676400"/>
                            <a:gd name="connisteX8" fmla="*/ 182880 w 1671320"/>
                            <a:gd name="connsiteY8" fmla="*/ 1676400 h 1676400"/>
                            <a:gd name="connisteX9" fmla="*/ 0 w 1671320"/>
                            <a:gd name="connsiteY9" fmla="*/ 1305560 h 1676400"/>
                            <a:gd name="connisteX10" fmla="*/ 111760 w 1671320"/>
                            <a:gd name="connsiteY10" fmla="*/ 955040 h 1676400"/>
                            <a:gd name="connisteX11" fmla="*/ 365760 w 1671320"/>
                            <a:gd name="connsiteY11" fmla="*/ 787400 h 1676400"/>
                            <a:gd name="connisteX12" fmla="*/ 690880 w 1671320"/>
                            <a:gd name="connsiteY12" fmla="*/ 614680 h 1676400"/>
                            <a:gd name="connisteX13" fmla="*/ 812800 w 1671320"/>
                            <a:gd name="connsiteY13" fmla="*/ 340360 h 1676400"/>
                            <a:gd name="connisteX14" fmla="*/ 868680 w 1671320"/>
                            <a:gd name="connsiteY14" fmla="*/ 0 h 167640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</a:cxnLst>
                          <a:rect l="l" t="t" r="r" b="b"/>
                          <a:pathLst>
                            <a:path w="2403" h="2389">
                              <a:moveTo>
                                <a:pt x="1341" y="0"/>
                              </a:moveTo>
                              <a:lnTo>
                                <a:pt x="1859" y="246"/>
                              </a:lnTo>
                              <a:lnTo>
                                <a:pt x="2403" y="21"/>
                              </a:lnTo>
                              <a:lnTo>
                                <a:pt x="2403" y="25"/>
                              </a:lnTo>
                              <a:cubicBezTo>
                                <a:pt x="2387" y="1258"/>
                                <a:pt x="1445" y="2266"/>
                                <a:pt x="241" y="2388"/>
                              </a:cubicBezTo>
                              <a:lnTo>
                                <a:pt x="231" y="2389"/>
                              </a:lnTo>
                              <a:lnTo>
                                <a:pt x="0" y="1866"/>
                              </a:lnTo>
                              <a:lnTo>
                                <a:pt x="233" y="1317"/>
                              </a:lnTo>
                              <a:lnTo>
                                <a:pt x="264" y="1311"/>
                              </a:lnTo>
                              <a:cubicBezTo>
                                <a:pt x="867" y="1189"/>
                                <a:pt x="1324" y="664"/>
                                <a:pt x="1340" y="29"/>
                              </a:cubicBezTo>
                              <a:lnTo>
                                <a:pt x="134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1CDAB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pic>
                    <p:nvPicPr>
                      <p:cNvPr id="832" name="图片 831" descr="资源 30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extLst>
                          <a:ext uri="{96DAC541-7B7A-43D3-8B79-37D633B846F1}">
                            <asvg:svgBlip xmlns:asvg="http://schemas.microsoft.com/office/drawing/2016/SVG/main" r:embed="rId31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9649" y="13845"/>
                        <a:ext cx="1155" cy="89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33" name="图片 832" descr="资源 31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extLst>
                          <a:ext uri="{96DAC541-7B7A-43D3-8B79-37D633B846F1}">
                            <asvg:svgBlip xmlns:asvg="http://schemas.microsoft.com/office/drawing/2016/SVG/main" r:embed="rId3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994" y="16628"/>
                        <a:ext cx="698" cy="895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34" name="组合 833"/>
                      <p:cNvGrpSpPr/>
                      <p:nvPr/>
                    </p:nvGrpSpPr>
                    <p:grpSpPr>
                      <a:xfrm>
                        <a:off x="8100" y="18033"/>
                        <a:ext cx="927" cy="823"/>
                        <a:chOff x="10628" y="19486"/>
                        <a:chExt cx="908" cy="805"/>
                      </a:xfrm>
                    </p:grpSpPr>
                    <p:sp>
                      <p:nvSpPr>
                        <p:cNvPr id="835" name="任意多边形 834"/>
                        <p:cNvSpPr/>
                        <p:nvPr/>
                      </p:nvSpPr>
                      <p:spPr>
                        <a:xfrm>
                          <a:off x="10634" y="19785"/>
                          <a:ext cx="639" cy="504"/>
                        </a:xfrm>
                        <a:custGeom>
                          <a:avLst/>
                          <a:gdLst>
                            <a:gd name="connisteX0" fmla="*/ 0 w 405765"/>
                            <a:gd name="connsiteY0" fmla="*/ 281940 h 320040"/>
                            <a:gd name="connisteX1" fmla="*/ 219075 w 405765"/>
                            <a:gd name="connsiteY1" fmla="*/ 318135 h 320040"/>
                            <a:gd name="connisteX2" fmla="*/ 211455 w 405765"/>
                            <a:gd name="connsiteY2" fmla="*/ 272415 h 320040"/>
                            <a:gd name="connisteX3" fmla="*/ 236220 w 405765"/>
                            <a:gd name="connsiteY3" fmla="*/ 306705 h 320040"/>
                            <a:gd name="connisteX4" fmla="*/ 274320 w 405765"/>
                            <a:gd name="connsiteY4" fmla="*/ 320040 h 320040"/>
                            <a:gd name="connisteX5" fmla="*/ 308610 w 405765"/>
                            <a:gd name="connsiteY5" fmla="*/ 308610 h 320040"/>
                            <a:gd name="connisteX6" fmla="*/ 356235 w 405765"/>
                            <a:gd name="connsiteY6" fmla="*/ 281940 h 320040"/>
                            <a:gd name="connisteX7" fmla="*/ 398145 w 405765"/>
                            <a:gd name="connsiteY7" fmla="*/ 253365 h 320040"/>
                            <a:gd name="connisteX8" fmla="*/ 405765 w 405765"/>
                            <a:gd name="connsiteY8" fmla="*/ 236220 h 320040"/>
                            <a:gd name="connisteX9" fmla="*/ 400050 w 405765"/>
                            <a:gd name="connsiteY9" fmla="*/ 201930 h 320040"/>
                            <a:gd name="connisteX10" fmla="*/ 382905 w 405765"/>
                            <a:gd name="connsiteY10" fmla="*/ 179070 h 320040"/>
                            <a:gd name="connisteX11" fmla="*/ 293370 w 405765"/>
                            <a:gd name="connsiteY11" fmla="*/ 219075 h 320040"/>
                            <a:gd name="connisteX12" fmla="*/ 289560 w 405765"/>
                            <a:gd name="connsiteY12" fmla="*/ 219075 h 320040"/>
                            <a:gd name="connisteX13" fmla="*/ 236220 w 405765"/>
                            <a:gd name="connsiteY13" fmla="*/ 97155 h 320040"/>
                            <a:gd name="connisteX14" fmla="*/ 182880 w 405765"/>
                            <a:gd name="connsiteY14" fmla="*/ 51435 h 320040"/>
                            <a:gd name="connisteX15" fmla="*/ 177165 w 405765"/>
                            <a:gd name="connsiteY15" fmla="*/ 43815 h 320040"/>
                            <a:gd name="connisteX16" fmla="*/ 158115 w 405765"/>
                            <a:gd name="connsiteY16" fmla="*/ 17145 h 320040"/>
                            <a:gd name="connisteX17" fmla="*/ 131445 w 405765"/>
                            <a:gd name="connsiteY17" fmla="*/ 5715 h 320040"/>
                            <a:gd name="connisteX18" fmla="*/ 97155 w 405765"/>
                            <a:gd name="connsiteY18" fmla="*/ 0 h 320040"/>
                            <a:gd name="connisteX19" fmla="*/ 83820 w 405765"/>
                            <a:gd name="connsiteY19" fmla="*/ 0 h 320040"/>
                            <a:gd name="connisteX20" fmla="*/ 74295 w 405765"/>
                            <a:gd name="connsiteY20" fmla="*/ 15240 h 320040"/>
                            <a:gd name="connisteX21" fmla="*/ 70485 w 405765"/>
                            <a:gd name="connsiteY21" fmla="*/ 26670 h 320040"/>
                            <a:gd name="connisteX22" fmla="*/ 38100 w 405765"/>
                            <a:gd name="connsiteY22" fmla="*/ 53340 h 320040"/>
                            <a:gd name="connisteX23" fmla="*/ 24765 w 405765"/>
                            <a:gd name="connsiteY23" fmla="*/ 76200 h 320040"/>
                            <a:gd name="connisteX24" fmla="*/ 17145 w 405765"/>
                            <a:gd name="connsiteY24" fmla="*/ 99060 h 320040"/>
                            <a:gd name="connisteX25" fmla="*/ 9525 w 405765"/>
                            <a:gd name="connsiteY25" fmla="*/ 131445 h 320040"/>
                            <a:gd name="connisteX26" fmla="*/ 3810 w 405765"/>
                            <a:gd name="connsiteY26" fmla="*/ 196215 h 320040"/>
                            <a:gd name="connisteX27" fmla="*/ 0 w 405765"/>
                            <a:gd name="connsiteY27" fmla="*/ 247650 h 320040"/>
                            <a:gd name="connisteX28" fmla="*/ 0 w 405765"/>
                            <a:gd name="connsiteY28" fmla="*/ 281940 h 32004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  <a:cxn ang="0">
                              <a:pos x="connisteX20" y="connsiteY20"/>
                            </a:cxn>
                            <a:cxn ang="0">
                              <a:pos x="connisteX21" y="connsiteY21"/>
                            </a:cxn>
                            <a:cxn ang="0">
                              <a:pos x="connisteX22" y="connsiteY22"/>
                            </a:cxn>
                            <a:cxn ang="0">
                              <a:pos x="connisteX23" y="connsiteY23"/>
                            </a:cxn>
                            <a:cxn ang="0">
                              <a:pos x="connisteX24" y="connsiteY24"/>
                            </a:cxn>
                            <a:cxn ang="0">
                              <a:pos x="connisteX25" y="connsiteY25"/>
                            </a:cxn>
                            <a:cxn ang="0">
                              <a:pos x="connisteX26" y="connsiteY26"/>
                            </a:cxn>
                            <a:cxn ang="0">
                              <a:pos x="connisteX27" y="connsiteY27"/>
                            </a:cxn>
                            <a:cxn ang="0">
                              <a:pos x="connisteX28" y="connsiteY28"/>
                            </a:cxn>
                          </a:cxnLst>
                          <a:rect l="l" t="t" r="r" b="b"/>
                          <a:pathLst>
                            <a:path w="405765" h="320040">
                              <a:moveTo>
                                <a:pt x="0" y="281940"/>
                              </a:moveTo>
                              <a:lnTo>
                                <a:pt x="219075" y="318135"/>
                              </a:lnTo>
                              <a:lnTo>
                                <a:pt x="211455" y="272415"/>
                              </a:lnTo>
                              <a:lnTo>
                                <a:pt x="236220" y="306705"/>
                              </a:lnTo>
                              <a:lnTo>
                                <a:pt x="274320" y="320040"/>
                              </a:lnTo>
                              <a:lnTo>
                                <a:pt x="308610" y="308610"/>
                              </a:lnTo>
                              <a:lnTo>
                                <a:pt x="356235" y="281940"/>
                              </a:lnTo>
                              <a:lnTo>
                                <a:pt x="398145" y="253365"/>
                              </a:lnTo>
                              <a:lnTo>
                                <a:pt x="405765" y="236220"/>
                              </a:lnTo>
                              <a:lnTo>
                                <a:pt x="400050" y="201930"/>
                              </a:lnTo>
                              <a:lnTo>
                                <a:pt x="382905" y="179070"/>
                              </a:lnTo>
                              <a:lnTo>
                                <a:pt x="293370" y="219075"/>
                              </a:lnTo>
                              <a:lnTo>
                                <a:pt x="289560" y="219075"/>
                              </a:lnTo>
                              <a:lnTo>
                                <a:pt x="236220" y="97155"/>
                              </a:lnTo>
                              <a:lnTo>
                                <a:pt x="182880" y="51435"/>
                              </a:lnTo>
                              <a:lnTo>
                                <a:pt x="177165" y="43815"/>
                              </a:lnTo>
                              <a:lnTo>
                                <a:pt x="158115" y="17145"/>
                              </a:lnTo>
                              <a:lnTo>
                                <a:pt x="131445" y="5715"/>
                              </a:lnTo>
                              <a:lnTo>
                                <a:pt x="97155" y="0"/>
                              </a:lnTo>
                              <a:lnTo>
                                <a:pt x="83820" y="0"/>
                              </a:lnTo>
                              <a:lnTo>
                                <a:pt x="74295" y="15240"/>
                              </a:lnTo>
                              <a:lnTo>
                                <a:pt x="70485" y="26670"/>
                              </a:lnTo>
                              <a:lnTo>
                                <a:pt x="38100" y="53340"/>
                              </a:lnTo>
                              <a:lnTo>
                                <a:pt x="24765" y="76200"/>
                              </a:lnTo>
                              <a:lnTo>
                                <a:pt x="17145" y="99060"/>
                              </a:lnTo>
                              <a:lnTo>
                                <a:pt x="9525" y="131445"/>
                              </a:lnTo>
                              <a:lnTo>
                                <a:pt x="3810" y="196215"/>
                              </a:lnTo>
                              <a:lnTo>
                                <a:pt x="0" y="247650"/>
                              </a:lnTo>
                              <a:lnTo>
                                <a:pt x="0" y="28194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36" name="图片 835" descr="资源 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>
                          <a:extLst>
                            <a:ext uri="{96DAC541-7B7A-43D3-8B79-37D633B846F1}">
                              <asvg:svgBlip xmlns:asvg="http://schemas.microsoft.com/office/drawing/2016/SVG/main" r:embed="rId3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28" y="19486"/>
                          <a:ext cx="908" cy="805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837" name="组合 836"/>
                      <p:cNvGrpSpPr/>
                      <p:nvPr/>
                    </p:nvGrpSpPr>
                    <p:grpSpPr>
                      <a:xfrm>
                        <a:off x="7623" y="17523"/>
                        <a:ext cx="639" cy="687"/>
                        <a:chOff x="7623" y="17523"/>
                        <a:chExt cx="639" cy="687"/>
                      </a:xfrm>
                    </p:grpSpPr>
                    <p:cxnSp>
                      <p:nvCxnSpPr>
                        <p:cNvPr id="838" name="曲线连接符 837"/>
                        <p:cNvCxnSpPr/>
                        <p:nvPr/>
                      </p:nvCxnSpPr>
                      <p:spPr>
                        <a:xfrm rot="5400000" flipV="1">
                          <a:off x="7567" y="17700"/>
                          <a:ext cx="567" cy="454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44964F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9" name="曲线连接符 838"/>
                        <p:cNvCxnSpPr/>
                        <p:nvPr/>
                      </p:nvCxnSpPr>
                      <p:spPr>
                        <a:xfrm rot="5400000" flipH="1">
                          <a:off x="7752" y="17523"/>
                          <a:ext cx="510" cy="51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459950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pic>
                    <p:nvPicPr>
                      <p:cNvPr id="840" name="图片 839" descr="资源 35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extLst>
                          <a:ext uri="{96DAC541-7B7A-43D3-8B79-37D633B846F1}">
                            <asvg:svgBlip xmlns:asvg="http://schemas.microsoft.com/office/drawing/2016/SVG/main" r:embed="rId3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65" y="16750"/>
                        <a:ext cx="834" cy="743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41" name="组合 840"/>
                      <p:cNvGrpSpPr/>
                      <p:nvPr/>
                    </p:nvGrpSpPr>
                    <p:grpSpPr>
                      <a:xfrm>
                        <a:off x="11005" y="15361"/>
                        <a:ext cx="987" cy="680"/>
                        <a:chOff x="9855" y="19656"/>
                        <a:chExt cx="1110" cy="764"/>
                      </a:xfrm>
                    </p:grpSpPr>
                    <p:sp>
                      <p:nvSpPr>
                        <p:cNvPr id="842" name="任意多边形 841"/>
                        <p:cNvSpPr/>
                        <p:nvPr/>
                      </p:nvSpPr>
                      <p:spPr>
                        <a:xfrm>
                          <a:off x="9861" y="20013"/>
                          <a:ext cx="654" cy="399"/>
                        </a:xfrm>
                        <a:custGeom>
                          <a:avLst/>
                          <a:gdLst>
                            <a:gd name="connisteX0" fmla="*/ 0 w 415290"/>
                            <a:gd name="connsiteY0" fmla="*/ 249555 h 253365"/>
                            <a:gd name="connisteX1" fmla="*/ 215265 w 415290"/>
                            <a:gd name="connsiteY1" fmla="*/ 251460 h 253365"/>
                            <a:gd name="connisteX2" fmla="*/ 215265 w 415290"/>
                            <a:gd name="connsiteY2" fmla="*/ 224790 h 253365"/>
                            <a:gd name="connisteX3" fmla="*/ 234315 w 415290"/>
                            <a:gd name="connsiteY3" fmla="*/ 251460 h 253365"/>
                            <a:gd name="connisteX4" fmla="*/ 340995 w 415290"/>
                            <a:gd name="connsiteY4" fmla="*/ 253365 h 253365"/>
                            <a:gd name="connisteX5" fmla="*/ 415290 w 415290"/>
                            <a:gd name="connsiteY5" fmla="*/ 180975 h 253365"/>
                            <a:gd name="connisteX6" fmla="*/ 401955 w 415290"/>
                            <a:gd name="connsiteY6" fmla="*/ 139065 h 253365"/>
                            <a:gd name="connisteX7" fmla="*/ 382905 w 415290"/>
                            <a:gd name="connsiteY7" fmla="*/ 123825 h 253365"/>
                            <a:gd name="connisteX8" fmla="*/ 297180 w 415290"/>
                            <a:gd name="connsiteY8" fmla="*/ 169545 h 253365"/>
                            <a:gd name="connisteX9" fmla="*/ 257175 w 415290"/>
                            <a:gd name="connsiteY9" fmla="*/ 104775 h 253365"/>
                            <a:gd name="connisteX10" fmla="*/ 220980 w 415290"/>
                            <a:gd name="connsiteY10" fmla="*/ 49530 h 253365"/>
                            <a:gd name="connisteX11" fmla="*/ 190500 w 415290"/>
                            <a:gd name="connsiteY11" fmla="*/ 30480 h 253365"/>
                            <a:gd name="connisteX12" fmla="*/ 148590 w 415290"/>
                            <a:gd name="connsiteY12" fmla="*/ 13335 h 253365"/>
                            <a:gd name="connisteX13" fmla="*/ 83820 w 415290"/>
                            <a:gd name="connsiteY13" fmla="*/ 0 h 253365"/>
                            <a:gd name="connisteX14" fmla="*/ 66675 w 415290"/>
                            <a:gd name="connsiteY14" fmla="*/ 0 h 253365"/>
                            <a:gd name="connisteX15" fmla="*/ 28575 w 415290"/>
                            <a:gd name="connsiteY15" fmla="*/ 28575 h 253365"/>
                            <a:gd name="connisteX16" fmla="*/ 9525 w 415290"/>
                            <a:gd name="connsiteY16" fmla="*/ 72390 h 253365"/>
                            <a:gd name="connisteX17" fmla="*/ 1905 w 415290"/>
                            <a:gd name="connsiteY17" fmla="*/ 112395 h 253365"/>
                            <a:gd name="connisteX18" fmla="*/ 0 w 415290"/>
                            <a:gd name="connsiteY18" fmla="*/ 163830 h 253365"/>
                            <a:gd name="connisteX19" fmla="*/ 0 w 415290"/>
                            <a:gd name="connsiteY19" fmla="*/ 249555 h 253365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</a:cxnLst>
                          <a:rect l="l" t="t" r="r" b="b"/>
                          <a:pathLst>
                            <a:path w="415290" h="253365">
                              <a:moveTo>
                                <a:pt x="0" y="249555"/>
                              </a:moveTo>
                              <a:lnTo>
                                <a:pt x="215265" y="251460"/>
                              </a:lnTo>
                              <a:lnTo>
                                <a:pt x="215265" y="224790"/>
                              </a:lnTo>
                              <a:lnTo>
                                <a:pt x="234315" y="251460"/>
                              </a:lnTo>
                              <a:lnTo>
                                <a:pt x="340995" y="253365"/>
                              </a:lnTo>
                              <a:lnTo>
                                <a:pt x="415290" y="180975"/>
                              </a:lnTo>
                              <a:lnTo>
                                <a:pt x="401955" y="139065"/>
                              </a:lnTo>
                              <a:lnTo>
                                <a:pt x="382905" y="123825"/>
                              </a:lnTo>
                              <a:lnTo>
                                <a:pt x="297180" y="169545"/>
                              </a:lnTo>
                              <a:lnTo>
                                <a:pt x="257175" y="104775"/>
                              </a:lnTo>
                              <a:lnTo>
                                <a:pt x="220980" y="49530"/>
                              </a:lnTo>
                              <a:lnTo>
                                <a:pt x="190500" y="30480"/>
                              </a:lnTo>
                              <a:lnTo>
                                <a:pt x="148590" y="13335"/>
                              </a:lnTo>
                              <a:lnTo>
                                <a:pt x="83820" y="0"/>
                              </a:lnTo>
                              <a:lnTo>
                                <a:pt x="66675" y="0"/>
                              </a:lnTo>
                              <a:lnTo>
                                <a:pt x="28575" y="28575"/>
                              </a:lnTo>
                              <a:lnTo>
                                <a:pt x="9525" y="72390"/>
                              </a:lnTo>
                              <a:lnTo>
                                <a:pt x="1905" y="112395"/>
                              </a:lnTo>
                              <a:lnTo>
                                <a:pt x="0" y="163830"/>
                              </a:lnTo>
                              <a:lnTo>
                                <a:pt x="0" y="24955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43" name="图片 842" descr="资源 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>
                          <a:extLst>
                            <a:ext uri="{96DAC541-7B7A-43D3-8B79-37D633B846F1}">
                              <asvg:svgBlip xmlns:asvg="http://schemas.microsoft.com/office/drawing/2016/SVG/main" r:embed="rId39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855" y="19656"/>
                          <a:ext cx="1110" cy="765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844" name="组合 843"/>
                      <p:cNvGrpSpPr/>
                      <p:nvPr/>
                    </p:nvGrpSpPr>
                    <p:grpSpPr>
                      <a:xfrm>
                        <a:off x="6825" y="15159"/>
                        <a:ext cx="1109" cy="728"/>
                        <a:chOff x="8903" y="20128"/>
                        <a:chExt cx="1700" cy="1196"/>
                      </a:xfrm>
                    </p:grpSpPr>
                    <p:sp>
                      <p:nvSpPr>
                        <p:cNvPr id="845" name="任意多边形 844"/>
                        <p:cNvSpPr/>
                        <p:nvPr/>
                      </p:nvSpPr>
                      <p:spPr>
                        <a:xfrm>
                          <a:off x="8908" y="20627"/>
                          <a:ext cx="1044" cy="688"/>
                        </a:xfrm>
                        <a:custGeom>
                          <a:avLst/>
                          <a:gdLst>
                            <a:gd name="connisteX0" fmla="*/ 0 w 662940"/>
                            <a:gd name="connsiteY0" fmla="*/ 434340 h 436880"/>
                            <a:gd name="connisteX1" fmla="*/ 358140 w 662940"/>
                            <a:gd name="connsiteY1" fmla="*/ 424180 h 436880"/>
                            <a:gd name="connisteX2" fmla="*/ 353060 w 662940"/>
                            <a:gd name="connsiteY2" fmla="*/ 347980 h 436880"/>
                            <a:gd name="connisteX3" fmla="*/ 401320 w 662940"/>
                            <a:gd name="connsiteY3" fmla="*/ 406400 h 436880"/>
                            <a:gd name="connisteX4" fmla="*/ 449580 w 662940"/>
                            <a:gd name="connsiteY4" fmla="*/ 436880 h 436880"/>
                            <a:gd name="connisteX5" fmla="*/ 513080 w 662940"/>
                            <a:gd name="connsiteY5" fmla="*/ 426720 h 436880"/>
                            <a:gd name="connisteX6" fmla="*/ 612140 w 662940"/>
                            <a:gd name="connsiteY6" fmla="*/ 353060 h 436880"/>
                            <a:gd name="connisteX7" fmla="*/ 662940 w 662940"/>
                            <a:gd name="connsiteY7" fmla="*/ 294640 h 436880"/>
                            <a:gd name="connisteX8" fmla="*/ 635000 w 662940"/>
                            <a:gd name="connsiteY8" fmla="*/ 226060 h 436880"/>
                            <a:gd name="connisteX9" fmla="*/ 601980 w 662940"/>
                            <a:gd name="connsiteY9" fmla="*/ 205740 h 436880"/>
                            <a:gd name="connisteX10" fmla="*/ 485140 w 662940"/>
                            <a:gd name="connsiteY10" fmla="*/ 281940 h 436880"/>
                            <a:gd name="connisteX11" fmla="*/ 421640 w 662940"/>
                            <a:gd name="connsiteY11" fmla="*/ 172720 h 436880"/>
                            <a:gd name="connisteX12" fmla="*/ 373380 w 662940"/>
                            <a:gd name="connsiteY12" fmla="*/ 88900 h 436880"/>
                            <a:gd name="connisteX13" fmla="*/ 317500 w 662940"/>
                            <a:gd name="connsiteY13" fmla="*/ 50800 h 436880"/>
                            <a:gd name="connisteX14" fmla="*/ 254000 w 662940"/>
                            <a:gd name="connsiteY14" fmla="*/ 20320 h 436880"/>
                            <a:gd name="connisteX15" fmla="*/ 144780 w 662940"/>
                            <a:gd name="connsiteY15" fmla="*/ 0 h 436880"/>
                            <a:gd name="connisteX16" fmla="*/ 104140 w 662940"/>
                            <a:gd name="connsiteY16" fmla="*/ 15240 h 436880"/>
                            <a:gd name="connisteX17" fmla="*/ 58420 w 662940"/>
                            <a:gd name="connsiteY17" fmla="*/ 53340 h 436880"/>
                            <a:gd name="connisteX18" fmla="*/ 33020 w 662940"/>
                            <a:gd name="connsiteY18" fmla="*/ 111760 h 436880"/>
                            <a:gd name="connisteX19" fmla="*/ 15240 w 662940"/>
                            <a:gd name="connsiteY19" fmla="*/ 200660 h 436880"/>
                            <a:gd name="connisteX20" fmla="*/ 5080 w 662940"/>
                            <a:gd name="connsiteY20" fmla="*/ 309880 h 436880"/>
                            <a:gd name="connisteX21" fmla="*/ 0 w 662940"/>
                            <a:gd name="connsiteY21" fmla="*/ 434340 h 43688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  <a:cxn ang="0">
                              <a:pos x="connisteX20" y="connsiteY20"/>
                            </a:cxn>
                            <a:cxn ang="0">
                              <a:pos x="connisteX21" y="connsiteY21"/>
                            </a:cxn>
                          </a:cxnLst>
                          <a:rect l="l" t="t" r="r" b="b"/>
                          <a:pathLst>
                            <a:path w="662940" h="436880">
                              <a:moveTo>
                                <a:pt x="0" y="434340"/>
                              </a:moveTo>
                              <a:lnTo>
                                <a:pt x="358140" y="424180"/>
                              </a:lnTo>
                              <a:lnTo>
                                <a:pt x="353060" y="347980"/>
                              </a:lnTo>
                              <a:lnTo>
                                <a:pt x="401320" y="406400"/>
                              </a:lnTo>
                              <a:lnTo>
                                <a:pt x="449580" y="436880"/>
                              </a:lnTo>
                              <a:lnTo>
                                <a:pt x="513080" y="426720"/>
                              </a:lnTo>
                              <a:lnTo>
                                <a:pt x="612140" y="353060"/>
                              </a:lnTo>
                              <a:lnTo>
                                <a:pt x="662940" y="294640"/>
                              </a:lnTo>
                              <a:lnTo>
                                <a:pt x="635000" y="226060"/>
                              </a:lnTo>
                              <a:lnTo>
                                <a:pt x="601980" y="205740"/>
                              </a:lnTo>
                              <a:lnTo>
                                <a:pt x="485140" y="281940"/>
                              </a:lnTo>
                              <a:lnTo>
                                <a:pt x="421640" y="172720"/>
                              </a:lnTo>
                              <a:lnTo>
                                <a:pt x="373380" y="88900"/>
                              </a:lnTo>
                              <a:lnTo>
                                <a:pt x="317500" y="50800"/>
                              </a:lnTo>
                              <a:lnTo>
                                <a:pt x="254000" y="20320"/>
                              </a:lnTo>
                              <a:lnTo>
                                <a:pt x="144780" y="0"/>
                              </a:lnTo>
                              <a:lnTo>
                                <a:pt x="104140" y="15240"/>
                              </a:lnTo>
                              <a:lnTo>
                                <a:pt x="58420" y="53340"/>
                              </a:lnTo>
                              <a:lnTo>
                                <a:pt x="33020" y="111760"/>
                              </a:lnTo>
                              <a:lnTo>
                                <a:pt x="15240" y="200660"/>
                              </a:lnTo>
                              <a:lnTo>
                                <a:pt x="5080" y="309880"/>
                              </a:lnTo>
                              <a:lnTo>
                                <a:pt x="0" y="43434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46" name="图片 845" descr="资源 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>
                          <a:extLst>
                            <a:ext uri="{96DAC541-7B7A-43D3-8B79-37D633B846F1}">
                              <asvg:svgBlip xmlns:asvg="http://schemas.microsoft.com/office/drawing/2016/SVG/main" r:embed="rId41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903" y="20128"/>
                          <a:ext cx="1701" cy="1196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847" name="图片 846" descr="资源 39"/>
                      <p:cNvPicPr>
                        <a:picLocks noChangeAspect="1"/>
                      </p:cNvPicPr>
                      <p:nvPr/>
                    </p:nvPicPr>
                    <p:blipFill>
                      <a:blip r:embed="rId42">
                        <a:extLst>
                          <a:ext uri="{96DAC541-7B7A-43D3-8B79-37D633B846F1}">
                            <asvg:svgBlip xmlns:asvg="http://schemas.microsoft.com/office/drawing/2016/SVG/main" r:embed="rId4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228" y="13845"/>
                        <a:ext cx="837" cy="81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48" name="组合 847"/>
                      <p:cNvGrpSpPr/>
                      <p:nvPr/>
                    </p:nvGrpSpPr>
                    <p:grpSpPr>
                      <a:xfrm>
                        <a:off x="7522" y="14479"/>
                        <a:ext cx="730" cy="662"/>
                        <a:chOff x="7403" y="14447"/>
                        <a:chExt cx="730" cy="662"/>
                      </a:xfrm>
                    </p:grpSpPr>
                    <p:cxnSp>
                      <p:nvCxnSpPr>
                        <p:cNvPr id="849" name="曲线连接符 848"/>
                        <p:cNvCxnSpPr/>
                        <p:nvPr/>
                      </p:nvCxnSpPr>
                      <p:spPr>
                        <a:xfrm rot="10380000" flipV="1">
                          <a:off x="7403" y="14447"/>
                          <a:ext cx="597" cy="52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527E74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0" name="曲线连接符 849"/>
                        <p:cNvCxnSpPr/>
                        <p:nvPr/>
                      </p:nvCxnSpPr>
                      <p:spPr>
                        <a:xfrm rot="10560000" flipH="1">
                          <a:off x="7641" y="14579"/>
                          <a:ext cx="493" cy="531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527E74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851" name="组合 850"/>
                      <p:cNvGrpSpPr/>
                      <p:nvPr/>
                    </p:nvGrpSpPr>
                    <p:grpSpPr>
                      <a:xfrm rot="16740000">
                        <a:off x="10563" y="14704"/>
                        <a:ext cx="730" cy="662"/>
                        <a:chOff x="7403" y="14447"/>
                        <a:chExt cx="730" cy="662"/>
                      </a:xfrm>
                    </p:grpSpPr>
                    <p:cxnSp>
                      <p:nvCxnSpPr>
                        <p:cNvPr id="852" name="曲线连接符 851"/>
                        <p:cNvCxnSpPr/>
                        <p:nvPr/>
                      </p:nvCxnSpPr>
                      <p:spPr>
                        <a:xfrm rot="10380000" flipV="1">
                          <a:off x="7403" y="14447"/>
                          <a:ext cx="597" cy="52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6F7389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3" name="曲线连接符 852"/>
                        <p:cNvCxnSpPr/>
                        <p:nvPr/>
                      </p:nvCxnSpPr>
                      <p:spPr>
                        <a:xfrm rot="10560000" flipH="1">
                          <a:off x="7641" y="14579"/>
                          <a:ext cx="493" cy="531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6F7389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854" name="组合 853"/>
                      <p:cNvGrpSpPr/>
                      <p:nvPr/>
                    </p:nvGrpSpPr>
                    <p:grpSpPr>
                      <a:xfrm rot="4560000">
                        <a:off x="10614" y="17567"/>
                        <a:ext cx="639" cy="687"/>
                        <a:chOff x="7623" y="17523"/>
                        <a:chExt cx="639" cy="687"/>
                      </a:xfrm>
                    </p:grpSpPr>
                    <p:cxnSp>
                      <p:nvCxnSpPr>
                        <p:cNvPr id="855" name="曲线连接符 854"/>
                        <p:cNvCxnSpPr/>
                        <p:nvPr/>
                      </p:nvCxnSpPr>
                      <p:spPr>
                        <a:xfrm rot="5400000" flipV="1">
                          <a:off x="7567" y="17700"/>
                          <a:ext cx="567" cy="454"/>
                        </a:xfrm>
                        <a:prstGeom prst="curvedConnector2">
                          <a:avLst/>
                        </a:prstGeom>
                        <a:ln>
                          <a:solidFill>
                            <a:schemeClr val="accent2">
                              <a:lumMod val="75000"/>
                            </a:schemeClr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6" name="曲线连接符 855"/>
                        <p:cNvCxnSpPr/>
                        <p:nvPr/>
                      </p:nvCxnSpPr>
                      <p:spPr>
                        <a:xfrm rot="5400000" flipH="1">
                          <a:off x="7752" y="17523"/>
                          <a:ext cx="510" cy="510"/>
                        </a:xfrm>
                        <a:prstGeom prst="curvedConnector2">
                          <a:avLst/>
                        </a:prstGeom>
                        <a:ln>
                          <a:solidFill>
                            <a:schemeClr val="accent2">
                              <a:lumMod val="75000"/>
                            </a:schemeClr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857" name="组合 856"/>
                    <p:cNvGrpSpPr/>
                    <p:nvPr/>
                  </p:nvGrpSpPr>
                  <p:grpSpPr>
                    <a:xfrm>
                      <a:off x="7610" y="19733"/>
                      <a:ext cx="1022" cy="734"/>
                      <a:chOff x="11083" y="21618"/>
                      <a:chExt cx="4306" cy="3090"/>
                    </a:xfrm>
                  </p:grpSpPr>
                  <p:sp>
                    <p:nvSpPr>
                      <p:cNvPr id="858" name="任意多边形 857"/>
                      <p:cNvSpPr/>
                      <p:nvPr/>
                    </p:nvSpPr>
                    <p:spPr>
                      <a:xfrm>
                        <a:off x="11106" y="22913"/>
                        <a:ext cx="2472" cy="1769"/>
                      </a:xfrm>
                      <a:custGeom>
                        <a:avLst/>
                        <a:gdLst>
                          <a:gd name="connisteX0" fmla="*/ 0 w 1569720"/>
                          <a:gd name="connsiteY0" fmla="*/ 1069975 h 1123315"/>
                          <a:gd name="connisteX1" fmla="*/ 899160 w 1569720"/>
                          <a:gd name="connsiteY1" fmla="*/ 1085215 h 1123315"/>
                          <a:gd name="connisteX2" fmla="*/ 891540 w 1569720"/>
                          <a:gd name="connsiteY2" fmla="*/ 948690 h 1123315"/>
                          <a:gd name="connisteX3" fmla="*/ 963930 w 1569720"/>
                          <a:gd name="connsiteY3" fmla="*/ 1047115 h 1123315"/>
                          <a:gd name="connisteX4" fmla="*/ 1036320 w 1569720"/>
                          <a:gd name="connsiteY4" fmla="*/ 1096645 h 1123315"/>
                          <a:gd name="connisteX5" fmla="*/ 1127760 w 1569720"/>
                          <a:gd name="connsiteY5" fmla="*/ 1123315 h 1123315"/>
                          <a:gd name="connisteX6" fmla="*/ 1234440 w 1569720"/>
                          <a:gd name="connsiteY6" fmla="*/ 1104265 h 1123315"/>
                          <a:gd name="connisteX7" fmla="*/ 1390650 w 1569720"/>
                          <a:gd name="connsiteY7" fmla="*/ 993775 h 1123315"/>
                          <a:gd name="connisteX8" fmla="*/ 1569720 w 1569720"/>
                          <a:gd name="connsiteY8" fmla="*/ 842010 h 1123315"/>
                          <a:gd name="connisteX9" fmla="*/ 1558290 w 1569720"/>
                          <a:gd name="connsiteY9" fmla="*/ 727710 h 1123315"/>
                          <a:gd name="connisteX10" fmla="*/ 1497330 w 1569720"/>
                          <a:gd name="connsiteY10" fmla="*/ 628650 h 1123315"/>
                          <a:gd name="connisteX11" fmla="*/ 1440180 w 1569720"/>
                          <a:gd name="connsiteY11" fmla="*/ 598170 h 1123315"/>
                          <a:gd name="connisteX12" fmla="*/ 1188720 w 1569720"/>
                          <a:gd name="connsiteY12" fmla="*/ 739140 h 1123315"/>
                          <a:gd name="connisteX13" fmla="*/ 1150620 w 1569720"/>
                          <a:gd name="connsiteY13" fmla="*/ 681990 h 1123315"/>
                          <a:gd name="connisteX14" fmla="*/ 1047750 w 1569720"/>
                          <a:gd name="connsiteY14" fmla="*/ 419100 h 1123315"/>
                          <a:gd name="connisteX15" fmla="*/ 979170 w 1569720"/>
                          <a:gd name="connsiteY15" fmla="*/ 281940 h 1123315"/>
                          <a:gd name="connisteX16" fmla="*/ 899160 w 1569720"/>
                          <a:gd name="connsiteY16" fmla="*/ 186690 h 1123315"/>
                          <a:gd name="connisteX17" fmla="*/ 762000 w 1569720"/>
                          <a:gd name="connsiteY17" fmla="*/ 99060 h 1123315"/>
                          <a:gd name="connisteX18" fmla="*/ 636270 w 1569720"/>
                          <a:gd name="connsiteY18" fmla="*/ 53340 h 1123315"/>
                          <a:gd name="connisteX19" fmla="*/ 502920 w 1569720"/>
                          <a:gd name="connsiteY19" fmla="*/ 7620 h 1123315"/>
                          <a:gd name="connisteX20" fmla="*/ 350520 w 1569720"/>
                          <a:gd name="connsiteY20" fmla="*/ 0 h 1123315"/>
                          <a:gd name="connisteX21" fmla="*/ 240030 w 1569720"/>
                          <a:gd name="connsiteY21" fmla="*/ 57150 h 1123315"/>
                          <a:gd name="connisteX22" fmla="*/ 114300 w 1569720"/>
                          <a:gd name="connsiteY22" fmla="*/ 198120 h 1123315"/>
                          <a:gd name="connisteX23" fmla="*/ 49530 w 1569720"/>
                          <a:gd name="connsiteY23" fmla="*/ 400050 h 1123315"/>
                          <a:gd name="connisteX24" fmla="*/ 22860 w 1569720"/>
                          <a:gd name="connsiteY24" fmla="*/ 643890 h 1123315"/>
                          <a:gd name="connisteX25" fmla="*/ 7620 w 1569720"/>
                          <a:gd name="connsiteY25" fmla="*/ 861060 h 1123315"/>
                          <a:gd name="connisteX26" fmla="*/ 0 w 1569720"/>
                          <a:gd name="connsiteY26" fmla="*/ 1069975 h 1123315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  <a:cxn ang="0">
                            <a:pos x="connisteX4" y="connsiteY4"/>
                          </a:cxn>
                          <a:cxn ang="0">
                            <a:pos x="connisteX5" y="connsiteY5"/>
                          </a:cxn>
                          <a:cxn ang="0">
                            <a:pos x="connisteX6" y="connsiteY6"/>
                          </a:cxn>
                          <a:cxn ang="0">
                            <a:pos x="connisteX7" y="connsiteY7"/>
                          </a:cxn>
                          <a:cxn ang="0">
                            <a:pos x="connisteX8" y="connsiteY8"/>
                          </a:cxn>
                          <a:cxn ang="0">
                            <a:pos x="connisteX9" y="connsiteY9"/>
                          </a:cxn>
                          <a:cxn ang="0">
                            <a:pos x="connisteX10" y="connsiteY10"/>
                          </a:cxn>
                          <a:cxn ang="0">
                            <a:pos x="connisteX11" y="connsiteY11"/>
                          </a:cxn>
                          <a:cxn ang="0">
                            <a:pos x="connisteX12" y="connsiteY12"/>
                          </a:cxn>
                          <a:cxn ang="0">
                            <a:pos x="connisteX13" y="connsiteY13"/>
                          </a:cxn>
                          <a:cxn ang="0">
                            <a:pos x="connisteX14" y="connsiteY14"/>
                          </a:cxn>
                          <a:cxn ang="0">
                            <a:pos x="connisteX15" y="connsiteY15"/>
                          </a:cxn>
                          <a:cxn ang="0">
                            <a:pos x="connisteX16" y="connsiteY16"/>
                          </a:cxn>
                          <a:cxn ang="0">
                            <a:pos x="connisteX17" y="connsiteY17"/>
                          </a:cxn>
                          <a:cxn ang="0">
                            <a:pos x="connisteX18" y="connsiteY18"/>
                          </a:cxn>
                          <a:cxn ang="0">
                            <a:pos x="connisteX19" y="connsiteY19"/>
                          </a:cxn>
                          <a:cxn ang="0">
                            <a:pos x="connisteX20" y="connsiteY20"/>
                          </a:cxn>
                          <a:cxn ang="0">
                            <a:pos x="connisteX21" y="connsiteY21"/>
                          </a:cxn>
                          <a:cxn ang="0">
                            <a:pos x="connisteX22" y="connsiteY22"/>
                          </a:cxn>
                          <a:cxn ang="0">
                            <a:pos x="connisteX23" y="connsiteY23"/>
                          </a:cxn>
                          <a:cxn ang="0">
                            <a:pos x="connisteX24" y="connsiteY24"/>
                          </a:cxn>
                          <a:cxn ang="0">
                            <a:pos x="connisteX25" y="connsiteY25"/>
                          </a:cxn>
                          <a:cxn ang="0">
                            <a:pos x="connisteX26" y="connsiteY26"/>
                          </a:cxn>
                        </a:cxnLst>
                        <a:rect l="l" t="t" r="r" b="b"/>
                        <a:pathLst>
                          <a:path w="1569720" h="1123315">
                            <a:moveTo>
                              <a:pt x="0" y="1069975"/>
                            </a:moveTo>
                            <a:lnTo>
                              <a:pt x="899160" y="1085215"/>
                            </a:lnTo>
                            <a:lnTo>
                              <a:pt x="891540" y="948690"/>
                            </a:lnTo>
                            <a:lnTo>
                              <a:pt x="963930" y="1047115"/>
                            </a:lnTo>
                            <a:lnTo>
                              <a:pt x="1036320" y="1096645"/>
                            </a:lnTo>
                            <a:lnTo>
                              <a:pt x="1127760" y="1123315"/>
                            </a:lnTo>
                            <a:lnTo>
                              <a:pt x="1234440" y="1104265"/>
                            </a:lnTo>
                            <a:lnTo>
                              <a:pt x="1390650" y="993775"/>
                            </a:lnTo>
                            <a:lnTo>
                              <a:pt x="1569720" y="842010"/>
                            </a:lnTo>
                            <a:lnTo>
                              <a:pt x="1558290" y="727710"/>
                            </a:lnTo>
                            <a:lnTo>
                              <a:pt x="1497330" y="628650"/>
                            </a:lnTo>
                            <a:lnTo>
                              <a:pt x="1440180" y="598170"/>
                            </a:lnTo>
                            <a:lnTo>
                              <a:pt x="1188720" y="739140"/>
                            </a:lnTo>
                            <a:lnTo>
                              <a:pt x="1150620" y="681990"/>
                            </a:lnTo>
                            <a:lnTo>
                              <a:pt x="1047750" y="419100"/>
                            </a:lnTo>
                            <a:lnTo>
                              <a:pt x="979170" y="281940"/>
                            </a:lnTo>
                            <a:lnTo>
                              <a:pt x="899160" y="186690"/>
                            </a:lnTo>
                            <a:lnTo>
                              <a:pt x="762000" y="99060"/>
                            </a:lnTo>
                            <a:lnTo>
                              <a:pt x="636270" y="53340"/>
                            </a:lnTo>
                            <a:lnTo>
                              <a:pt x="502920" y="7620"/>
                            </a:lnTo>
                            <a:lnTo>
                              <a:pt x="350520" y="0"/>
                            </a:lnTo>
                            <a:lnTo>
                              <a:pt x="240030" y="57150"/>
                            </a:lnTo>
                            <a:lnTo>
                              <a:pt x="114300" y="198120"/>
                            </a:lnTo>
                            <a:lnTo>
                              <a:pt x="49530" y="400050"/>
                            </a:lnTo>
                            <a:lnTo>
                              <a:pt x="22860" y="643890"/>
                            </a:lnTo>
                            <a:lnTo>
                              <a:pt x="7620" y="861060"/>
                            </a:lnTo>
                            <a:lnTo>
                              <a:pt x="0" y="1069975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859" name="图片 858" descr="资源 52"/>
                      <p:cNvPicPr>
                        <a:picLocks noChangeAspect="1"/>
                      </p:cNvPicPr>
                      <p:nvPr/>
                    </p:nvPicPr>
                    <p:blipFill>
                      <a:blip r:embed="rId44">
                        <a:extLst>
                          <a:ext uri="{96DAC541-7B7A-43D3-8B79-37D633B846F1}">
                            <asvg:svgBlip xmlns:asvg="http://schemas.microsoft.com/office/drawing/2016/SVG/main" r:embed="rId4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1083" y="21618"/>
                        <a:ext cx="4307" cy="3090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</p:grpSp>
        </p:grpSp>
      </p:grpSp>
      <p:sp>
        <p:nvSpPr>
          <p:cNvPr id="860" name="椭圆 859"/>
          <p:cNvSpPr/>
          <p:nvPr/>
        </p:nvSpPr>
        <p:spPr>
          <a:xfrm>
            <a:off x="1701825" y="10178415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3" name="椭圆 862"/>
          <p:cNvSpPr/>
          <p:nvPr/>
        </p:nvSpPr>
        <p:spPr>
          <a:xfrm>
            <a:off x="1701190" y="10581665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4" name="椭圆 863"/>
          <p:cNvSpPr/>
          <p:nvPr/>
        </p:nvSpPr>
        <p:spPr>
          <a:xfrm>
            <a:off x="1700530" y="10984890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5" name="椭圆 864"/>
          <p:cNvSpPr/>
          <p:nvPr/>
        </p:nvSpPr>
        <p:spPr>
          <a:xfrm>
            <a:off x="7987043" y="10178415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6" name="椭圆 865"/>
          <p:cNvSpPr/>
          <p:nvPr/>
        </p:nvSpPr>
        <p:spPr>
          <a:xfrm>
            <a:off x="7987043" y="10581665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7" name="椭圆 866"/>
          <p:cNvSpPr/>
          <p:nvPr/>
        </p:nvSpPr>
        <p:spPr>
          <a:xfrm>
            <a:off x="7987030" y="10984890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8" name="椭圆 867"/>
          <p:cNvSpPr/>
          <p:nvPr/>
        </p:nvSpPr>
        <p:spPr>
          <a:xfrm>
            <a:off x="1706270" y="11903710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9" name="椭圆 868"/>
          <p:cNvSpPr/>
          <p:nvPr/>
        </p:nvSpPr>
        <p:spPr>
          <a:xfrm>
            <a:off x="1705635" y="12306960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0" name="椭圆 869"/>
          <p:cNvSpPr/>
          <p:nvPr/>
        </p:nvSpPr>
        <p:spPr>
          <a:xfrm>
            <a:off x="1704975" y="12778130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1" name="文本框 870"/>
          <p:cNvSpPr txBox="1"/>
          <p:nvPr/>
        </p:nvSpPr>
        <p:spPr>
          <a:xfrm>
            <a:off x="1746885" y="12660630"/>
            <a:ext cx="1974850" cy="294005"/>
          </a:xfrm>
          <a:prstGeom prst="rect">
            <a:avLst/>
          </a:prstGeom>
          <a:noFill/>
        </p:spPr>
        <p:txBody>
          <a:bodyPr wrap="square" lIns="36195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zh-CN" sz="1200" dirty="0">
                <a:sym typeface="+mn-ea"/>
              </a:rPr>
              <a:t>Traceable tool-call records</a:t>
            </a:r>
            <a:endParaRPr lang="en-US" altLang="zh-CN" sz="1200" dirty="0">
              <a:sym typeface="+mn-ea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6191885" y="12802870"/>
            <a:ext cx="1781810" cy="275590"/>
          </a:xfrm>
          <a:prstGeom prst="rect">
            <a:avLst/>
          </a:prstGeom>
        </p:spPr>
        <p:txBody>
          <a:bodyPr wrap="square" lIns="36195" rIns="36195">
            <a:spAutoFit/>
          </a:bodyPr>
          <a:lstStyle/>
          <a:p>
            <a:pPr algn="r"/>
            <a:r>
              <a:rPr lang="en-US" altLang="zh-CN" sz="1200" dirty="0">
                <a:sym typeface="+mn-ea"/>
              </a:rPr>
              <a:t>Fast model development</a:t>
            </a:r>
            <a:endParaRPr lang="en-US" altLang="zh-CN" sz="1200" dirty="0"/>
          </a:p>
        </p:txBody>
      </p:sp>
      <p:sp>
        <p:nvSpPr>
          <p:cNvPr id="872" name="文本框 871"/>
          <p:cNvSpPr txBox="1"/>
          <p:nvPr/>
        </p:nvSpPr>
        <p:spPr>
          <a:xfrm>
            <a:off x="5734050" y="12411075"/>
            <a:ext cx="2239645" cy="460375"/>
          </a:xfrm>
          <a:prstGeom prst="rect">
            <a:avLst/>
          </a:prstGeom>
        </p:spPr>
        <p:txBody>
          <a:bodyPr wrap="square" rIns="36195">
            <a:spAutoFit/>
          </a:bodyPr>
          <a:p>
            <a:pPr algn="r"/>
            <a:r>
              <a:rPr lang="en-US" altLang="zh-CN" sz="1200"/>
              <a:t>Lymph-node metastasis</a:t>
            </a:r>
            <a:endParaRPr lang="en-US" altLang="zh-CN" sz="1200"/>
          </a:p>
          <a:p>
            <a:pPr algn="r"/>
            <a:r>
              <a:rPr lang="en-US" altLang="zh-CN" sz="1200"/>
              <a:t>prediction</a:t>
            </a:r>
            <a:endParaRPr lang="en-US" altLang="zh-CN" sz="1200"/>
          </a:p>
        </p:txBody>
      </p:sp>
      <p:sp>
        <p:nvSpPr>
          <p:cNvPr id="873" name="文本框 872"/>
          <p:cNvSpPr txBox="1"/>
          <p:nvPr/>
        </p:nvSpPr>
        <p:spPr>
          <a:xfrm>
            <a:off x="6198235" y="12011660"/>
            <a:ext cx="1781810" cy="460375"/>
          </a:xfrm>
          <a:prstGeom prst="rect">
            <a:avLst/>
          </a:prstGeom>
        </p:spPr>
        <p:txBody>
          <a:bodyPr wrap="square" lIns="36195" rIns="36195">
            <a:spAutoFit/>
          </a:bodyPr>
          <a:lstStyle/>
          <a:p>
            <a:pPr algn="r"/>
            <a:r>
              <a:rPr lang="en-US" altLang="zh-CN" sz="1200" dirty="0"/>
              <a:t>Explainable risk prediction</a:t>
            </a:r>
            <a:endParaRPr lang="en-US" altLang="zh-CN" sz="1200" dirty="0"/>
          </a:p>
        </p:txBody>
      </p:sp>
      <p:sp>
        <p:nvSpPr>
          <p:cNvPr id="875" name="椭圆 874"/>
          <p:cNvSpPr/>
          <p:nvPr/>
        </p:nvSpPr>
        <p:spPr>
          <a:xfrm>
            <a:off x="7986738" y="12136120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6" name="椭圆 875"/>
          <p:cNvSpPr/>
          <p:nvPr/>
        </p:nvSpPr>
        <p:spPr>
          <a:xfrm>
            <a:off x="7986738" y="12526670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7" name="椭圆 876"/>
          <p:cNvSpPr/>
          <p:nvPr/>
        </p:nvSpPr>
        <p:spPr>
          <a:xfrm>
            <a:off x="7986725" y="12917195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图表 15"/>
          <p:cNvGraphicFramePr/>
          <p:nvPr/>
        </p:nvGraphicFramePr>
        <p:xfrm>
          <a:off x="7613508" y="2916875"/>
          <a:ext cx="3325495" cy="1657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1" name="图表 70"/>
          <p:cNvGraphicFramePr/>
          <p:nvPr/>
        </p:nvGraphicFramePr>
        <p:xfrm>
          <a:off x="4355465" y="2917510"/>
          <a:ext cx="3325495" cy="1657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50" name="任意多边形 549"/>
          <p:cNvSpPr/>
          <p:nvPr/>
        </p:nvSpPr>
        <p:spPr>
          <a:xfrm>
            <a:off x="2067418" y="6988693"/>
            <a:ext cx="8525510" cy="1695450"/>
          </a:xfrm>
          <a:custGeom>
            <a:avLst/>
            <a:gdLst>
              <a:gd name="connsiteX0" fmla="*/ 1184 w 13426"/>
              <a:gd name="connsiteY0" fmla="*/ 0 h 2670"/>
              <a:gd name="connsiteX1" fmla="*/ 12580 w 13426"/>
              <a:gd name="connsiteY1" fmla="*/ 0 h 2670"/>
              <a:gd name="connsiteX2" fmla="*/ 13426 w 13426"/>
              <a:gd name="connsiteY2" fmla="*/ 782 h 2670"/>
              <a:gd name="connsiteX3" fmla="*/ 13426 w 13426"/>
              <a:gd name="connsiteY3" fmla="*/ 1888 h 2670"/>
              <a:gd name="connsiteX4" fmla="*/ 12580 w 13426"/>
              <a:gd name="connsiteY4" fmla="*/ 2669 h 2670"/>
              <a:gd name="connsiteX5" fmla="*/ 718 w 13426"/>
              <a:gd name="connsiteY5" fmla="*/ 2670 h 2670"/>
              <a:gd name="connsiteX6" fmla="*/ 0 w 13426"/>
              <a:gd name="connsiteY6" fmla="*/ 2145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26" h="2670">
                <a:moveTo>
                  <a:pt x="1184" y="0"/>
                </a:moveTo>
                <a:lnTo>
                  <a:pt x="12580" y="0"/>
                </a:lnTo>
                <a:cubicBezTo>
                  <a:pt x="13012" y="0"/>
                  <a:pt x="13426" y="350"/>
                  <a:pt x="13426" y="782"/>
                </a:cubicBezTo>
                <a:lnTo>
                  <a:pt x="13426" y="1888"/>
                </a:lnTo>
                <a:cubicBezTo>
                  <a:pt x="13426" y="2320"/>
                  <a:pt x="13012" y="2669"/>
                  <a:pt x="12580" y="2669"/>
                </a:cubicBezTo>
                <a:lnTo>
                  <a:pt x="718" y="2670"/>
                </a:lnTo>
                <a:cubicBezTo>
                  <a:pt x="286" y="2670"/>
                  <a:pt x="96" y="2541"/>
                  <a:pt x="0" y="2145"/>
                </a:cubicBezTo>
              </a:path>
            </a:pathLst>
          </a:custGeom>
          <a:noFill/>
          <a:ln w="127000">
            <a:solidFill>
              <a:srgbClr val="91A488"/>
            </a:solidFill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/>
          <p:cNvSpPr/>
          <p:nvPr/>
        </p:nvSpPr>
        <p:spPr>
          <a:xfrm>
            <a:off x="1652270" y="9762491"/>
            <a:ext cx="6447155" cy="3315970"/>
          </a:xfrm>
          <a:prstGeom prst="rect">
            <a:avLst/>
          </a:prstGeom>
          <a:solidFill>
            <a:srgbClr val="E6F4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1571058" y="9763027"/>
            <a:ext cx="6630670" cy="3315335"/>
            <a:chOff x="4524" y="13767"/>
            <a:chExt cx="10442" cy="5221"/>
          </a:xfrm>
        </p:grpSpPr>
        <p:grpSp>
          <p:nvGrpSpPr>
            <p:cNvPr id="56" name="组合 55"/>
            <p:cNvGrpSpPr/>
            <p:nvPr/>
          </p:nvGrpSpPr>
          <p:grpSpPr>
            <a:xfrm>
              <a:off x="9284" y="16514"/>
              <a:ext cx="5674" cy="2474"/>
              <a:chOff x="14528" y="6958"/>
              <a:chExt cx="3180" cy="1853"/>
            </a:xfrm>
          </p:grpSpPr>
          <p:sp>
            <p:nvSpPr>
              <p:cNvPr id="57" name="圆角矩形 56"/>
              <p:cNvSpPr/>
              <p:nvPr/>
            </p:nvSpPr>
            <p:spPr>
              <a:xfrm>
                <a:off x="14528" y="6958"/>
                <a:ext cx="3174" cy="1853"/>
              </a:xfrm>
              <a:prstGeom prst="roundRect">
                <a:avLst>
                  <a:gd name="adj" fmla="val 7339"/>
                </a:avLst>
              </a:prstGeom>
              <a:solidFill>
                <a:srgbClr val="F1CDA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15359" y="6958"/>
                <a:ext cx="2349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DBB7A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 flipH="1">
              <a:off x="4529" y="16514"/>
              <a:ext cx="4593" cy="2474"/>
              <a:chOff x="14528" y="6958"/>
              <a:chExt cx="2700" cy="1853"/>
            </a:xfrm>
          </p:grpSpPr>
          <p:sp>
            <p:nvSpPr>
              <p:cNvPr id="60" name="圆角矩形 59"/>
              <p:cNvSpPr/>
              <p:nvPr/>
            </p:nvSpPr>
            <p:spPr>
              <a:xfrm>
                <a:off x="14528" y="6958"/>
                <a:ext cx="2700" cy="1853"/>
              </a:xfrm>
              <a:prstGeom prst="roundRect">
                <a:avLst>
                  <a:gd name="adj" fmla="val 7339"/>
                </a:avLst>
              </a:prstGeom>
              <a:solidFill>
                <a:srgbClr val="B6D4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>
                <a:off x="15359" y="6958"/>
                <a:ext cx="1869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84C2A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9286" y="13767"/>
              <a:ext cx="5680" cy="2474"/>
              <a:chOff x="14528" y="6958"/>
              <a:chExt cx="3183" cy="1853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14528" y="6958"/>
                <a:ext cx="3183" cy="1853"/>
              </a:xfrm>
              <a:prstGeom prst="roundRect">
                <a:avLst>
                  <a:gd name="adj" fmla="val 7339"/>
                </a:avLst>
              </a:prstGeom>
              <a:solidFill>
                <a:srgbClr val="D7DBE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>
                <a:off x="15359" y="6958"/>
                <a:ext cx="2347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7D7F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 flipH="1">
              <a:off x="4524" y="13768"/>
              <a:ext cx="4604" cy="2476"/>
              <a:chOff x="14527" y="6957"/>
              <a:chExt cx="2707" cy="1854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14527" y="6957"/>
                <a:ext cx="2702" cy="1853"/>
              </a:xfrm>
              <a:prstGeom prst="roundRect">
                <a:avLst>
                  <a:gd name="adj" fmla="val 7339"/>
                </a:avLst>
              </a:prstGeom>
              <a:solidFill>
                <a:srgbClr val="CDE0D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>
                <a:off x="15359" y="6958"/>
                <a:ext cx="1875" cy="1853"/>
              </a:xfrm>
              <a:custGeom>
                <a:avLst/>
                <a:gdLst>
                  <a:gd name="adj" fmla="val 7339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2" h="1853">
                    <a:moveTo>
                      <a:pt x="16" y="0"/>
                    </a:moveTo>
                    <a:lnTo>
                      <a:pt x="4006" y="0"/>
                    </a:lnTo>
                    <a:cubicBezTo>
                      <a:pt x="4081" y="0"/>
                      <a:pt x="4142" y="61"/>
                      <a:pt x="4142" y="136"/>
                    </a:cubicBezTo>
                    <a:lnTo>
                      <a:pt x="4142" y="1717"/>
                    </a:lnTo>
                    <a:cubicBezTo>
                      <a:pt x="4142" y="1792"/>
                      <a:pt x="4081" y="1853"/>
                      <a:pt x="4006" y="1853"/>
                    </a:cubicBezTo>
                    <a:lnTo>
                      <a:pt x="3957" y="1853"/>
                    </a:lnTo>
                    <a:lnTo>
                      <a:pt x="3957" y="1"/>
                    </a:lnTo>
                    <a:lnTo>
                      <a:pt x="0" y="1"/>
                    </a:lnTo>
                    <a:lnTo>
                      <a:pt x="2" y="1"/>
                    </a:lnTo>
                    <a:cubicBezTo>
                      <a:pt x="7" y="0"/>
                      <a:pt x="11" y="0"/>
                      <a:pt x="16" y="0"/>
                    </a:cubicBezTo>
                    <a:close/>
                  </a:path>
                </a:pathLst>
              </a:custGeom>
              <a:solidFill>
                <a:srgbClr val="8BA3A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6" name="组合 155"/>
          <p:cNvGrpSpPr/>
          <p:nvPr/>
        </p:nvGrpSpPr>
        <p:grpSpPr>
          <a:xfrm>
            <a:off x="3188403" y="9762709"/>
            <a:ext cx="3322320" cy="3310890"/>
            <a:chOff x="7071" y="13766"/>
            <a:chExt cx="5232" cy="5214"/>
          </a:xfrm>
        </p:grpSpPr>
        <p:grpSp>
          <p:nvGrpSpPr>
            <p:cNvPr id="70" name="组合 69"/>
            <p:cNvGrpSpPr/>
            <p:nvPr/>
          </p:nvGrpSpPr>
          <p:grpSpPr>
            <a:xfrm>
              <a:off x="7856" y="13766"/>
              <a:ext cx="3456" cy="5214"/>
              <a:chOff x="7822" y="13767"/>
              <a:chExt cx="3456" cy="5214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7822" y="14372"/>
                <a:ext cx="3456" cy="3955"/>
              </a:xfrm>
              <a:prstGeom prst="rect">
                <a:avLst/>
              </a:prstGeom>
              <a:solidFill>
                <a:srgbClr val="E6F4F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8606" y="13767"/>
                <a:ext cx="1759" cy="5214"/>
              </a:xfrm>
              <a:prstGeom prst="rect">
                <a:avLst/>
              </a:prstGeom>
              <a:solidFill>
                <a:srgbClr val="E6F4F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7" name="矩形 146"/>
            <p:cNvSpPr/>
            <p:nvPr/>
          </p:nvSpPr>
          <p:spPr>
            <a:xfrm>
              <a:off x="7071" y="16017"/>
              <a:ext cx="4707" cy="279"/>
            </a:xfrm>
            <a:prstGeom prst="rect">
              <a:avLst/>
            </a:prstGeom>
            <a:solidFill>
              <a:srgbClr val="E6F4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/>
            <p:cNvSpPr/>
            <p:nvPr/>
          </p:nvSpPr>
          <p:spPr>
            <a:xfrm>
              <a:off x="7255" y="16459"/>
              <a:ext cx="5048" cy="230"/>
            </a:xfrm>
            <a:prstGeom prst="rect">
              <a:avLst/>
            </a:prstGeom>
            <a:solidFill>
              <a:srgbClr val="E6F4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1652269" y="9805283"/>
            <a:ext cx="24080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Segmentation</a:t>
            </a:r>
            <a:endParaRPr lang="en-US" altLang="zh-CN" sz="1600" b="1" dirty="0"/>
          </a:p>
        </p:txBody>
      </p:sp>
      <p:sp>
        <p:nvSpPr>
          <p:cNvPr id="201" name="文本框 200"/>
          <p:cNvSpPr txBox="1"/>
          <p:nvPr/>
        </p:nvSpPr>
        <p:spPr>
          <a:xfrm>
            <a:off x="5195003" y="9816685"/>
            <a:ext cx="288487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/>
              <a:t>Classification</a:t>
            </a:r>
            <a:endParaRPr lang="en-US" altLang="zh-CN" sz="1600" b="1" dirty="0"/>
          </a:p>
        </p:txBody>
      </p:sp>
      <p:sp>
        <p:nvSpPr>
          <p:cNvPr id="202" name="文本框 201"/>
          <p:cNvSpPr txBox="1"/>
          <p:nvPr/>
        </p:nvSpPr>
        <p:spPr>
          <a:xfrm>
            <a:off x="1662495" y="11511684"/>
            <a:ext cx="2453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Reporting </a:t>
            </a:r>
            <a:endParaRPr lang="en-US" altLang="zh-CN" sz="1600" b="1" dirty="0"/>
          </a:p>
        </p:txBody>
      </p:sp>
      <p:sp>
        <p:nvSpPr>
          <p:cNvPr id="203" name="文本框 202"/>
          <p:cNvSpPr txBox="1"/>
          <p:nvPr/>
        </p:nvSpPr>
        <p:spPr>
          <a:xfrm>
            <a:off x="6365663" y="11517948"/>
            <a:ext cx="17142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/>
              <a:t>Opportunistic</a:t>
            </a:r>
            <a:endParaRPr lang="en-US" altLang="zh-CN" sz="1600" b="1" dirty="0"/>
          </a:p>
          <a:p>
            <a:pPr algn="r"/>
            <a:r>
              <a:rPr lang="en-US" altLang="zh-CN" sz="1600" b="1" dirty="0"/>
              <a:t>screening</a:t>
            </a:r>
            <a:endParaRPr lang="en-US" altLang="zh-CN" sz="1600" b="1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191895" y="2876235"/>
            <a:ext cx="3017520" cy="3299460"/>
            <a:chOff x="1877" y="12725"/>
            <a:chExt cx="4752" cy="5260"/>
          </a:xfrm>
        </p:grpSpPr>
        <p:sp>
          <p:nvSpPr>
            <p:cNvPr id="215" name="圆角矩形 214"/>
            <p:cNvSpPr/>
            <p:nvPr/>
          </p:nvSpPr>
          <p:spPr>
            <a:xfrm>
              <a:off x="1877" y="12725"/>
              <a:ext cx="4752" cy="5260"/>
            </a:xfrm>
            <a:prstGeom prst="roundRect">
              <a:avLst>
                <a:gd name="adj" fmla="val 7575"/>
              </a:avLst>
            </a:prstGeom>
            <a:solidFill>
              <a:srgbClr val="002057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2260" y="14497"/>
              <a:ext cx="3987" cy="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OpenThyroidDB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17" name="文本框 216"/>
            <p:cNvSpPr txBox="1"/>
            <p:nvPr/>
          </p:nvSpPr>
          <p:spPr>
            <a:xfrm>
              <a:off x="2587" y="15222"/>
              <a:ext cx="3333" cy="6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</a:rPr>
                <a:t>A multitask thyroid ultrasound database</a:t>
              </a:r>
              <a:endParaRPr lang="en-US" altLang="zh-CN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218" name="直接连接符 217"/>
            <p:cNvCxnSpPr/>
            <p:nvPr/>
          </p:nvCxnSpPr>
          <p:spPr>
            <a:xfrm>
              <a:off x="2261" y="16040"/>
              <a:ext cx="3984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22" name="图片 221" descr="资源 2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3" y="13174"/>
              <a:ext cx="1848" cy="1320"/>
            </a:xfrm>
            <a:prstGeom prst="rect">
              <a:avLst/>
            </a:prstGeom>
          </p:spPr>
        </p:pic>
        <p:grpSp>
          <p:nvGrpSpPr>
            <p:cNvPr id="230" name="组合 229"/>
            <p:cNvGrpSpPr/>
            <p:nvPr/>
          </p:nvGrpSpPr>
          <p:grpSpPr>
            <a:xfrm>
              <a:off x="2923" y="16108"/>
              <a:ext cx="2698" cy="488"/>
              <a:chOff x="2789" y="16757"/>
              <a:chExt cx="2698" cy="488"/>
            </a:xfrm>
          </p:grpSpPr>
          <p:sp>
            <p:nvSpPr>
              <p:cNvPr id="223" name="文本框 222"/>
              <p:cNvSpPr txBox="1"/>
              <p:nvPr/>
            </p:nvSpPr>
            <p:spPr>
              <a:xfrm>
                <a:off x="2800" y="16806"/>
                <a:ext cx="2687" cy="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B0ECF4"/>
                    </a:solidFill>
                  </a:rPr>
                  <a:t>Scanner Diversity</a:t>
                </a:r>
                <a:endParaRPr lang="en-US" altLang="zh-CN" sz="1200" dirty="0">
                  <a:solidFill>
                    <a:srgbClr val="B0ECF4"/>
                  </a:solidFill>
                </a:endParaRPr>
              </a:p>
            </p:txBody>
          </p:sp>
          <p:pic>
            <p:nvPicPr>
              <p:cNvPr id="229" name="图片 228" descr="资源 17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789" y="16757"/>
                <a:ext cx="323" cy="440"/>
              </a:xfrm>
              <a:prstGeom prst="rect">
                <a:avLst/>
              </a:prstGeom>
            </p:spPr>
          </p:pic>
        </p:grpSp>
        <p:sp>
          <p:nvSpPr>
            <p:cNvPr id="231" name="文本框 230"/>
            <p:cNvSpPr txBox="1"/>
            <p:nvPr/>
          </p:nvSpPr>
          <p:spPr>
            <a:xfrm>
              <a:off x="1923" y="16595"/>
              <a:ext cx="4660" cy="10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900" dirty="0">
                  <a:solidFill>
                    <a:schemeClr val="bg1"/>
                  </a:solidFill>
                </a:rPr>
                <a:t>GE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Logiq</a:t>
              </a:r>
              <a:r>
                <a:rPr lang="en-US" altLang="zh-CN" sz="900" dirty="0">
                  <a:solidFill>
                    <a:schemeClr val="bg1"/>
                  </a:solidFill>
                </a:rPr>
                <a:t> E9 · GE S7 · ARIETTA 850 RESONA 70B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>
                  <a:solidFill>
                    <a:schemeClr val="bg1"/>
                  </a:solidFill>
                </a:rPr>
                <a:t>TOSHIBA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Nemio</a:t>
              </a:r>
              <a:r>
                <a:rPr lang="en-US" altLang="zh-CN" sz="900" dirty="0">
                  <a:solidFill>
                    <a:schemeClr val="bg1"/>
                  </a:solidFill>
                </a:rPr>
                <a:t> 30/MX · Hitachi Aloka Arietta V70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 err="1">
                  <a:solidFill>
                    <a:schemeClr val="bg1"/>
                  </a:solidFill>
                </a:rPr>
                <a:t>Esaote</a:t>
              </a:r>
              <a:r>
                <a:rPr lang="en-US" altLang="zh-CN" sz="900" dirty="0">
                  <a:solidFill>
                    <a:schemeClr val="bg1"/>
                  </a:solidFill>
                </a:rPr>
                <a:t>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MyLab</a:t>
              </a:r>
              <a:r>
                <a:rPr lang="en-US" altLang="zh-CN" sz="900" dirty="0">
                  <a:solidFill>
                    <a:schemeClr val="bg1"/>
                  </a:solidFill>
                </a:rPr>
                <a:t> · Samsung Medison RS80 · 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algn="l"/>
              <a:r>
                <a:rPr lang="en-US" altLang="zh-CN" sz="900" dirty="0" err="1">
                  <a:solidFill>
                    <a:schemeClr val="bg1"/>
                  </a:solidFill>
                </a:rPr>
                <a:t>SuperSonic</a:t>
              </a:r>
              <a:r>
                <a:rPr lang="en-US" altLang="zh-CN" sz="900" dirty="0">
                  <a:solidFill>
                    <a:schemeClr val="bg1"/>
                  </a:solidFill>
                </a:rPr>
                <a:t> Imagine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AixPlorer</a:t>
              </a:r>
              <a:r>
                <a:rPr lang="en-US" altLang="zh-CN" sz="900" dirty="0">
                  <a:solidFill>
                    <a:schemeClr val="bg1"/>
                  </a:solidFill>
                </a:rPr>
                <a:t> Ultimate …</a:t>
              </a:r>
              <a:endParaRPr lang="en-US" altLang="zh-CN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65295" y="4613595"/>
            <a:ext cx="3045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Report generation</a:t>
            </a:r>
            <a:endParaRPr lang="en-US" altLang="zh-CN" sz="1400" dirty="0"/>
          </a:p>
        </p:txBody>
      </p:sp>
      <p:sp>
        <p:nvSpPr>
          <p:cNvPr id="312" name="圆角矩形 311"/>
          <p:cNvSpPr/>
          <p:nvPr/>
        </p:nvSpPr>
        <p:spPr>
          <a:xfrm>
            <a:off x="7546833" y="3014030"/>
            <a:ext cx="3212465" cy="1524635"/>
          </a:xfrm>
          <a:prstGeom prst="roundRect">
            <a:avLst>
              <a:gd name="adj" fmla="val 5250"/>
            </a:avLst>
          </a:prstGeom>
          <a:noFill/>
          <a:ln>
            <a:solidFill>
              <a:srgbClr val="5D309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14" name="圆角矩形 313"/>
          <p:cNvSpPr/>
          <p:nvPr/>
        </p:nvSpPr>
        <p:spPr>
          <a:xfrm>
            <a:off x="4280535" y="4647250"/>
            <a:ext cx="3212465" cy="1528445"/>
          </a:xfrm>
          <a:prstGeom prst="roundRect">
            <a:avLst>
              <a:gd name="adj" fmla="val 5250"/>
            </a:avLst>
          </a:prstGeom>
          <a:noFill/>
          <a:ln>
            <a:solidFill>
              <a:srgbClr val="368030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15" name="圆角矩形 314"/>
          <p:cNvSpPr/>
          <p:nvPr/>
        </p:nvSpPr>
        <p:spPr>
          <a:xfrm>
            <a:off x="7548880" y="4647885"/>
            <a:ext cx="3212465" cy="1528445"/>
          </a:xfrm>
          <a:prstGeom prst="roundRect">
            <a:avLst>
              <a:gd name="adj" fmla="val 5250"/>
            </a:avLst>
          </a:prstGeom>
          <a:noFill/>
          <a:ln>
            <a:solidFill>
              <a:srgbClr val="D85C18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8" name="圆角矩形 307"/>
          <p:cNvSpPr/>
          <p:nvPr/>
        </p:nvSpPr>
        <p:spPr>
          <a:xfrm>
            <a:off x="4279900" y="3010220"/>
            <a:ext cx="3212465" cy="1529080"/>
          </a:xfrm>
          <a:prstGeom prst="roundRect">
            <a:avLst>
              <a:gd name="adj" fmla="val 5250"/>
            </a:avLst>
          </a:prstGeom>
          <a:noFill/>
          <a:ln>
            <a:solidFill>
              <a:srgbClr val="23929A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35" name="文本框 334"/>
          <p:cNvSpPr txBox="1"/>
          <p:nvPr/>
        </p:nvSpPr>
        <p:spPr>
          <a:xfrm>
            <a:off x="4273016" y="3006608"/>
            <a:ext cx="3045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Segmentation</a:t>
            </a:r>
            <a:endParaRPr lang="en-US" altLang="zh-CN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295140" y="3289620"/>
            <a:ext cx="2728595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Pixel-level delineation of thyroid structures</a:t>
            </a:r>
            <a:endParaRPr lang="en-US" altLang="zh-CN" sz="900"/>
          </a:p>
        </p:txBody>
      </p:sp>
      <p:sp>
        <p:nvSpPr>
          <p:cNvPr id="13" name="文本框 12"/>
          <p:cNvSpPr txBox="1"/>
          <p:nvPr/>
        </p:nvSpPr>
        <p:spPr>
          <a:xfrm>
            <a:off x="7547468" y="3014030"/>
            <a:ext cx="3045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Classification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7562708" y="3289620"/>
            <a:ext cx="2728595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Thyroid nodule diagnosis and categorization</a:t>
            </a:r>
            <a:endParaRPr lang="en-US" altLang="zh-CN" sz="900"/>
          </a:p>
        </p:txBody>
      </p:sp>
      <p:sp>
        <p:nvSpPr>
          <p:cNvPr id="17" name="文本框 16"/>
          <p:cNvSpPr txBox="1"/>
          <p:nvPr/>
        </p:nvSpPr>
        <p:spPr>
          <a:xfrm>
            <a:off x="7931643" y="3562035"/>
            <a:ext cx="575310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AHU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125,896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92348" y="3560765"/>
            <a:ext cx="54038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ThyroidXL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11,635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32733" y="3586165"/>
            <a:ext cx="476250" cy="3359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</a:rPr>
              <a:t>ThyUS2Path</a:t>
            </a:r>
            <a:endParaRPr lang="en-US" altLang="zh-CN" sz="6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8,508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530573" y="3562035"/>
            <a:ext cx="422910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TN5K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5,000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953483" y="3560765"/>
            <a:ext cx="38036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TN3K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3,493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31943" y="3562035"/>
            <a:ext cx="365125" cy="36131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DDTI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349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 rot="16200000">
            <a:off x="7546198" y="3562670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279900" y="4830000"/>
            <a:ext cx="2880360" cy="205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dirty="0"/>
              <a:t>Images-report pairs for standardized reporting</a:t>
            </a:r>
            <a:endParaRPr lang="en-US" altLang="zh-CN" sz="900" dirty="0"/>
          </a:p>
        </p:txBody>
      </p:sp>
      <p:grpSp>
        <p:nvGrpSpPr>
          <p:cNvPr id="177" name="组合 176"/>
          <p:cNvGrpSpPr/>
          <p:nvPr/>
        </p:nvGrpSpPr>
        <p:grpSpPr>
          <a:xfrm>
            <a:off x="4730750" y="5592947"/>
            <a:ext cx="2459990" cy="278765"/>
            <a:chOff x="7123" y="16928"/>
            <a:chExt cx="3874" cy="498"/>
          </a:xfrm>
        </p:grpSpPr>
        <p:grpSp>
          <p:nvGrpSpPr>
            <p:cNvPr id="157" name="组合 156"/>
            <p:cNvGrpSpPr/>
            <p:nvPr/>
          </p:nvGrpSpPr>
          <p:grpSpPr>
            <a:xfrm>
              <a:off x="7175" y="16945"/>
              <a:ext cx="3822" cy="481"/>
              <a:chOff x="7804" y="13488"/>
              <a:chExt cx="2300" cy="424"/>
            </a:xfrm>
          </p:grpSpPr>
          <p:sp>
            <p:nvSpPr>
              <p:cNvPr id="158" name="圆角矩形 157"/>
              <p:cNvSpPr/>
              <p:nvPr/>
            </p:nvSpPr>
            <p:spPr>
              <a:xfrm>
                <a:off x="7804" y="13528"/>
                <a:ext cx="2300" cy="384"/>
              </a:xfrm>
              <a:prstGeom prst="roundRect">
                <a:avLst/>
              </a:prstGeom>
              <a:solidFill>
                <a:srgbClr val="F8F8F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9" name="组合 158"/>
              <p:cNvGrpSpPr/>
              <p:nvPr/>
            </p:nvGrpSpPr>
            <p:grpSpPr>
              <a:xfrm>
                <a:off x="7804" y="13528"/>
                <a:ext cx="663" cy="384"/>
                <a:chOff x="4596" y="10896"/>
                <a:chExt cx="663" cy="384"/>
              </a:xfrm>
            </p:grpSpPr>
            <p:sp>
              <p:nvSpPr>
                <p:cNvPr id="161" name="矩形 160"/>
                <p:cNvSpPr/>
                <p:nvPr/>
              </p:nvSpPr>
              <p:spPr>
                <a:xfrm>
                  <a:off x="4659" y="10896"/>
                  <a:ext cx="600" cy="384"/>
                </a:xfrm>
                <a:prstGeom prst="rect">
                  <a:avLst/>
                </a:prstGeom>
                <a:solidFill>
                  <a:srgbClr val="66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圆角矩形 161"/>
                <p:cNvSpPr/>
                <p:nvPr/>
              </p:nvSpPr>
              <p:spPr>
                <a:xfrm>
                  <a:off x="4596" y="10896"/>
                  <a:ext cx="295" cy="384"/>
                </a:xfrm>
                <a:prstGeom prst="roundRect">
                  <a:avLst/>
                </a:prstGeom>
                <a:solidFill>
                  <a:srgbClr val="660000"/>
                </a:solidFill>
                <a:ln w="3175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64" name="文本框 163"/>
              <p:cNvSpPr txBox="1"/>
              <p:nvPr/>
            </p:nvSpPr>
            <p:spPr>
              <a:xfrm>
                <a:off x="8467" y="13488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353 reports,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4,471 images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7" name="文本框 166"/>
            <p:cNvSpPr txBox="1"/>
            <p:nvPr/>
          </p:nvSpPr>
          <p:spPr>
            <a:xfrm>
              <a:off x="7123" y="16928"/>
              <a:ext cx="1155" cy="487"/>
            </a:xfrm>
            <a:prstGeom prst="rect">
              <a:avLst/>
            </a:prstGeom>
            <a:noFill/>
          </p:spPr>
          <p:txBody>
            <a:bodyPr wrap="square" lIns="36195" rIns="36195" rtlCol="0">
              <a:no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ZJH-TS</a:t>
              </a:r>
              <a:endPara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 rot="0">
            <a:off x="4763135" y="5330191"/>
            <a:ext cx="2426970" cy="276225"/>
            <a:chOff x="7804" y="13506"/>
            <a:chExt cx="2300" cy="421"/>
          </a:xfrm>
        </p:grpSpPr>
        <p:sp>
          <p:nvSpPr>
            <p:cNvPr id="169" name="圆角矩形 168"/>
            <p:cNvSpPr/>
            <p:nvPr/>
          </p:nvSpPr>
          <p:spPr>
            <a:xfrm>
              <a:off x="7804" y="13528"/>
              <a:ext cx="2300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0" name="组合 169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66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66000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4" name="文本框 173"/>
            <p:cNvSpPr txBox="1"/>
            <p:nvPr/>
          </p:nvSpPr>
          <p:spPr>
            <a:xfrm>
              <a:off x="8467" y="13506"/>
              <a:ext cx="1636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rPr>
                <a:t>23,955 reports,</a:t>
              </a:r>
              <a:endParaRPr lang="en-US" altLang="zh-CN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rPr>
                <a:t>248,194 images</a:t>
              </a:r>
              <a:endParaRPr lang="en-US" altLang="zh-CN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0" name="文本框 179"/>
          <p:cNvSpPr txBox="1"/>
          <p:nvPr/>
        </p:nvSpPr>
        <p:spPr>
          <a:xfrm>
            <a:off x="7548880" y="4658680"/>
            <a:ext cx="3045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Opportunistic diagnosis</a:t>
            </a:r>
            <a:endParaRPr lang="en-US" altLang="zh-CN" sz="1400" dirty="0"/>
          </a:p>
        </p:txBody>
      </p:sp>
      <p:sp>
        <p:nvSpPr>
          <p:cNvPr id="181" name="文本框 180"/>
          <p:cNvSpPr txBox="1"/>
          <p:nvPr/>
        </p:nvSpPr>
        <p:spPr>
          <a:xfrm>
            <a:off x="7564120" y="4934270"/>
            <a:ext cx="2880360" cy="295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/>
              <a:t>LNM prediction and FTC/PTC subtype classification</a:t>
            </a:r>
            <a:endParaRPr lang="en-US" altLang="zh-CN" sz="900"/>
          </a:p>
        </p:txBody>
      </p:sp>
      <p:grpSp>
        <p:nvGrpSpPr>
          <p:cNvPr id="2" name="组合 1"/>
          <p:cNvGrpSpPr/>
          <p:nvPr/>
        </p:nvGrpSpPr>
        <p:grpSpPr>
          <a:xfrm>
            <a:off x="7781290" y="5240975"/>
            <a:ext cx="2638425" cy="303530"/>
            <a:chOff x="7773" y="13497"/>
            <a:chExt cx="2500" cy="421"/>
          </a:xfrm>
        </p:grpSpPr>
        <p:sp>
          <p:nvSpPr>
            <p:cNvPr id="9" name="圆角矩形 8"/>
            <p:cNvSpPr/>
            <p:nvPr/>
          </p:nvSpPr>
          <p:spPr>
            <a:xfrm>
              <a:off x="7804" y="13528"/>
              <a:ext cx="2469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8C260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8C260B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773" y="13497"/>
              <a:ext cx="1615" cy="421"/>
              <a:chOff x="7857" y="12024"/>
              <a:chExt cx="1615" cy="421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8604" y="12024"/>
                <a:ext cx="868" cy="421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Public dataset</a:t>
                </a:r>
                <a:endPara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200 images</a:t>
                </a:r>
                <a:endPara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7857" y="12096"/>
                <a:ext cx="695" cy="346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0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FTC / PTC</a:t>
                </a:r>
                <a:endParaRPr lang="en-US" altLang="zh-CN" sz="1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7814310" y="5596575"/>
            <a:ext cx="2605405" cy="276860"/>
            <a:chOff x="7804" y="13528"/>
            <a:chExt cx="2469" cy="384"/>
          </a:xfrm>
        </p:grpSpPr>
        <p:sp>
          <p:nvSpPr>
            <p:cNvPr id="29" name="圆角矩形 28"/>
            <p:cNvSpPr/>
            <p:nvPr/>
          </p:nvSpPr>
          <p:spPr>
            <a:xfrm>
              <a:off x="7804" y="13528"/>
              <a:ext cx="2469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07382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07382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3" name="直接连接符 52"/>
          <p:cNvCxnSpPr/>
          <p:nvPr/>
        </p:nvCxnSpPr>
        <p:spPr>
          <a:xfrm>
            <a:off x="9521825" y="5273995"/>
            <a:ext cx="0" cy="27051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9531985" y="5240975"/>
            <a:ext cx="916305" cy="303530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Ours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496 images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781290" y="5620070"/>
            <a:ext cx="733425" cy="25717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LNM</a:t>
            </a:r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514080" y="5585145"/>
            <a:ext cx="1904365" cy="303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800" dirty="0" err="1">
                <a:latin typeface="Arial" panose="020B0604020202020204" pitchFamily="34" charset="0"/>
                <a:cs typeface="Arial" panose="020B0604020202020204" pitchFamily="34" charset="0"/>
              </a:rPr>
              <a:t>LymphUs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338 images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671695" y="3565845"/>
            <a:ext cx="45720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Cline-clip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17,417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128895" y="3565210"/>
            <a:ext cx="429895" cy="361950"/>
          </a:xfrm>
          <a:prstGeom prst="rect">
            <a:avLst/>
          </a:prstGeom>
          <a:noFill/>
        </p:spPr>
        <p:txBody>
          <a:bodyPr wrap="square" lIns="10795" rIns="10795" rtlCol="0">
            <a:noAutofit/>
          </a:bodyPr>
          <a:lstStyle/>
          <a:p>
            <a:pPr algn="ctr"/>
            <a:r>
              <a:rPr lang="en-US" altLang="zh-CN" sz="800" dirty="0" err="1">
                <a:solidFill>
                  <a:schemeClr val="bg1"/>
                </a:solidFill>
              </a:rPr>
              <a:t>TGVideo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15,186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558790" y="3581085"/>
            <a:ext cx="419735" cy="34544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700" dirty="0" err="1">
                <a:solidFill>
                  <a:schemeClr val="bg1"/>
                </a:solidFill>
              </a:rPr>
              <a:t>ThyroidXL</a:t>
            </a:r>
            <a:endParaRPr lang="en-US" altLang="zh-CN" sz="7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11,635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374765" y="3565210"/>
            <a:ext cx="370205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TN3K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3,493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978525" y="3565846"/>
            <a:ext cx="396240" cy="356234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700" dirty="0">
                <a:solidFill>
                  <a:schemeClr val="bg1"/>
                </a:solidFill>
              </a:rPr>
              <a:t>RJH-7K</a:t>
            </a:r>
            <a:endParaRPr lang="en-US" altLang="zh-CN" sz="5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zh-CN" sz="800" dirty="0">
                <a:solidFill>
                  <a:schemeClr val="bg1"/>
                </a:solidFill>
              </a:rPr>
              <a:t>7,288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733540" y="3565210"/>
            <a:ext cx="36576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>
                <a:solidFill>
                  <a:schemeClr val="bg1"/>
                </a:solidFill>
              </a:rPr>
              <a:t>PKTN</a:t>
            </a:r>
            <a:endParaRPr lang="en-US" altLang="zh-CN" sz="800">
              <a:solidFill>
                <a:schemeClr val="bg1"/>
              </a:solidFill>
            </a:endParaRPr>
          </a:p>
          <a:p>
            <a:pPr algn="ctr"/>
            <a:r>
              <a:rPr lang="en-US" altLang="zh-CN" sz="800">
                <a:solidFill>
                  <a:schemeClr val="bg1"/>
                </a:solidFill>
              </a:rPr>
              <a:t>1,005</a:t>
            </a:r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099300" y="3565210"/>
            <a:ext cx="340360" cy="3613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DDTI</a:t>
            </a:r>
            <a:endParaRPr lang="en-US" altLang="zh-CN" sz="800" dirty="0">
              <a:solidFill>
                <a:schemeClr val="bg1"/>
              </a:solidFill>
            </a:endParaRPr>
          </a:p>
          <a:p>
            <a:pPr algn="ctr"/>
            <a:r>
              <a:rPr lang="en-US" altLang="zh-CN" sz="800" dirty="0">
                <a:solidFill>
                  <a:schemeClr val="bg1"/>
                </a:solidFill>
              </a:rPr>
              <a:t>637</a:t>
            </a:r>
            <a:endParaRPr lang="en-US" altLang="zh-CN" sz="800" dirty="0">
              <a:solidFill>
                <a:schemeClr val="bg1"/>
              </a:solidFill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1759585" y="10055226"/>
            <a:ext cx="1609725" cy="1104265"/>
          </a:xfrm>
          <a:prstGeom prst="rect">
            <a:avLst/>
          </a:prstGeom>
        </p:spPr>
        <p:txBody>
          <a:bodyPr wrap="square" lIns="36195">
            <a:spAutoFit/>
          </a:bodyPr>
          <a:lstStyle/>
          <a:p>
            <a:pPr indent="0" algn="l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Agentic nodule mask generation</a:t>
            </a:r>
            <a:endParaRPr lang="en-US" altLang="zh-CN" sz="1200" dirty="0"/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Clinician-auditable refinement</a:t>
            </a:r>
            <a:endParaRPr lang="en-US" altLang="zh-CN" sz="1200" dirty="0"/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200" dirty="0"/>
              <a:t>Traceable tool calls</a:t>
            </a:r>
            <a:endParaRPr lang="en-US" altLang="zh-CN" sz="1200" dirty="0"/>
          </a:p>
        </p:txBody>
      </p:sp>
      <p:sp>
        <p:nvSpPr>
          <p:cNvPr id="356" name="文本框 355"/>
          <p:cNvSpPr txBox="1"/>
          <p:nvPr/>
        </p:nvSpPr>
        <p:spPr>
          <a:xfrm>
            <a:off x="6210300" y="10055226"/>
            <a:ext cx="1773555" cy="1306830"/>
          </a:xfrm>
          <a:prstGeom prst="rect">
            <a:avLst/>
          </a:prstGeom>
        </p:spPr>
        <p:txBody>
          <a:bodyPr wrap="square" rIns="36195">
            <a:spAutoFit/>
          </a:bodyPr>
          <a:lstStyle/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Auditable malignancy assessment</a:t>
            </a:r>
            <a:endParaRPr lang="en-US" altLang="zh-CN" sz="1200" dirty="0"/>
          </a:p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Radiomic feature analysis</a:t>
            </a:r>
            <a:endParaRPr lang="en-US" altLang="zh-CN" sz="1200" dirty="0"/>
          </a:p>
          <a:p>
            <a:pPr algn="r">
              <a:lnSpc>
                <a:spcPct val="110000"/>
              </a:lnSpc>
              <a:buClrTx/>
              <a:buSzTx/>
              <a:buFontTx/>
            </a:pPr>
            <a:r>
              <a:rPr lang="en-US" altLang="zh-CN" sz="1200" dirty="0"/>
              <a:t>SHAP-based explanation</a:t>
            </a:r>
            <a:endParaRPr lang="en-US" altLang="zh-CN" sz="1200" dirty="0"/>
          </a:p>
        </p:txBody>
      </p:sp>
      <p:sp>
        <p:nvSpPr>
          <p:cNvPr id="357" name="文本框 356"/>
          <p:cNvSpPr txBox="1"/>
          <p:nvPr/>
        </p:nvSpPr>
        <p:spPr>
          <a:xfrm>
            <a:off x="1746885" y="11779886"/>
            <a:ext cx="1562100" cy="975995"/>
          </a:xfrm>
          <a:prstGeom prst="rect">
            <a:avLst/>
          </a:prstGeom>
        </p:spPr>
        <p:txBody>
          <a:bodyPr wrap="square" lIns="36195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/>
              <a:t>Ultrasound-based report drafting</a:t>
            </a: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en-US" altLang="zh-CN" sz="1200" dirty="0"/>
              <a:t>Image and video interpretation</a:t>
            </a:r>
            <a:endParaRPr lang="en-US" altLang="zh-CN" sz="1200" dirty="0"/>
          </a:p>
        </p:txBody>
      </p:sp>
      <p:sp>
        <p:nvSpPr>
          <p:cNvPr id="360" name="文本框 359"/>
          <p:cNvSpPr txBox="1"/>
          <p:nvPr/>
        </p:nvSpPr>
        <p:spPr>
          <a:xfrm>
            <a:off x="1223645" y="2489840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223644" y="6175695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1223644" y="9468720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4" name="组合 433"/>
          <p:cNvGrpSpPr/>
          <p:nvPr/>
        </p:nvGrpSpPr>
        <p:grpSpPr>
          <a:xfrm>
            <a:off x="1305452" y="6692148"/>
            <a:ext cx="1523365" cy="1657985"/>
            <a:chOff x="1947" y="12438"/>
            <a:chExt cx="2399" cy="26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7" name="圆角矩形 406"/>
            <p:cNvSpPr/>
            <p:nvPr/>
          </p:nvSpPr>
          <p:spPr>
            <a:xfrm>
              <a:off x="1996" y="12438"/>
              <a:ext cx="2329" cy="2611"/>
            </a:xfrm>
            <a:prstGeom prst="roundRect">
              <a:avLst/>
            </a:prstGeom>
            <a:solidFill>
              <a:srgbClr val="536B8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8" name="图片 407" descr="资源 4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60" y="12876"/>
              <a:ext cx="1373" cy="1373"/>
            </a:xfrm>
            <a:prstGeom prst="rect">
              <a:avLst/>
            </a:prstGeom>
          </p:spPr>
        </p:pic>
        <p:sp>
          <p:nvSpPr>
            <p:cNvPr id="409" name="文本框 408"/>
            <p:cNvSpPr txBox="1"/>
            <p:nvPr/>
          </p:nvSpPr>
          <p:spPr>
            <a:xfrm>
              <a:off x="1947" y="14284"/>
              <a:ext cx="2399" cy="483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ThyroidXAgent</a:t>
              </a:r>
              <a:endParaRPr lang="en-US" altLang="zh-CN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9" name="图片 438" descr="用户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29192" y="7795143"/>
            <a:ext cx="448310" cy="447040"/>
          </a:xfrm>
          <a:prstGeom prst="rect">
            <a:avLst/>
          </a:prstGeom>
        </p:spPr>
      </p:pic>
      <p:grpSp>
        <p:nvGrpSpPr>
          <p:cNvPr id="437" name="组合 436"/>
          <p:cNvGrpSpPr/>
          <p:nvPr/>
        </p:nvGrpSpPr>
        <p:grpSpPr>
          <a:xfrm>
            <a:off x="2949467" y="7795143"/>
            <a:ext cx="553720" cy="140335"/>
            <a:chOff x="4417" y="13630"/>
            <a:chExt cx="872" cy="221"/>
          </a:xfrm>
        </p:grpSpPr>
        <p:cxnSp>
          <p:nvCxnSpPr>
            <p:cNvPr id="435" name="直接箭头连接符 434"/>
            <p:cNvCxnSpPr/>
            <p:nvPr/>
          </p:nvCxnSpPr>
          <p:spPr>
            <a:xfrm>
              <a:off x="4417" y="13630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6" name="直接箭头连接符 435"/>
            <p:cNvCxnSpPr/>
            <p:nvPr/>
          </p:nvCxnSpPr>
          <p:spPr>
            <a:xfrm flipH="1">
              <a:off x="4417" y="13851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0" name="组合 569"/>
          <p:cNvGrpSpPr/>
          <p:nvPr/>
        </p:nvGrpSpPr>
        <p:grpSpPr>
          <a:xfrm>
            <a:off x="5389772" y="6440371"/>
            <a:ext cx="1352550" cy="1156970"/>
            <a:chOff x="8259" y="15739"/>
            <a:chExt cx="2130" cy="1822"/>
          </a:xfrm>
        </p:grpSpPr>
        <p:grpSp>
          <p:nvGrpSpPr>
            <p:cNvPr id="568" name="组合 567"/>
            <p:cNvGrpSpPr/>
            <p:nvPr/>
          </p:nvGrpSpPr>
          <p:grpSpPr>
            <a:xfrm>
              <a:off x="8351" y="15739"/>
              <a:ext cx="2038" cy="1541"/>
              <a:chOff x="8351" y="15730"/>
              <a:chExt cx="2038" cy="1541"/>
            </a:xfrm>
          </p:grpSpPr>
          <p:grpSp>
            <p:nvGrpSpPr>
              <p:cNvPr id="452" name="组合 451"/>
              <p:cNvGrpSpPr/>
              <p:nvPr/>
            </p:nvGrpSpPr>
            <p:grpSpPr>
              <a:xfrm>
                <a:off x="8671" y="15730"/>
                <a:ext cx="1718" cy="1158"/>
                <a:chOff x="6023" y="14919"/>
                <a:chExt cx="1718" cy="1158"/>
              </a:xfrm>
            </p:grpSpPr>
            <p:sp>
              <p:nvSpPr>
                <p:cNvPr id="451" name="任意多边形 450"/>
                <p:cNvSpPr/>
                <p:nvPr/>
              </p:nvSpPr>
              <p:spPr>
                <a:xfrm>
                  <a:off x="6042" y="15647"/>
                  <a:ext cx="957" cy="420"/>
                </a:xfrm>
                <a:custGeom>
                  <a:avLst/>
                  <a:gdLst>
                    <a:gd name="connisteX0" fmla="*/ 0 w 607695"/>
                    <a:gd name="connsiteY0" fmla="*/ 266700 h 266700"/>
                    <a:gd name="connisteX1" fmla="*/ 314325 w 607695"/>
                    <a:gd name="connsiteY1" fmla="*/ 266700 h 266700"/>
                    <a:gd name="connisteX2" fmla="*/ 468630 w 607695"/>
                    <a:gd name="connsiteY2" fmla="*/ 264795 h 266700"/>
                    <a:gd name="connisteX3" fmla="*/ 539115 w 607695"/>
                    <a:gd name="connsiteY3" fmla="*/ 257175 h 266700"/>
                    <a:gd name="connisteX4" fmla="*/ 579120 w 607695"/>
                    <a:gd name="connsiteY4" fmla="*/ 232410 h 266700"/>
                    <a:gd name="connisteX5" fmla="*/ 607695 w 607695"/>
                    <a:gd name="connsiteY5" fmla="*/ 194310 h 266700"/>
                    <a:gd name="connisteX6" fmla="*/ 607695 w 607695"/>
                    <a:gd name="connsiteY6" fmla="*/ 171450 h 266700"/>
                    <a:gd name="connisteX7" fmla="*/ 605790 w 607695"/>
                    <a:gd name="connsiteY7" fmla="*/ 127635 h 266700"/>
                    <a:gd name="connisteX8" fmla="*/ 590550 w 607695"/>
                    <a:gd name="connsiteY8" fmla="*/ 80010 h 266700"/>
                    <a:gd name="connisteX9" fmla="*/ 554355 w 607695"/>
                    <a:gd name="connsiteY9" fmla="*/ 49530 h 266700"/>
                    <a:gd name="connisteX10" fmla="*/ 520065 w 607695"/>
                    <a:gd name="connsiteY10" fmla="*/ 30480 h 266700"/>
                    <a:gd name="connisteX11" fmla="*/ 478155 w 607695"/>
                    <a:gd name="connsiteY11" fmla="*/ 17145 h 266700"/>
                    <a:gd name="connisteX12" fmla="*/ 449580 w 607695"/>
                    <a:gd name="connsiteY12" fmla="*/ 0 h 266700"/>
                    <a:gd name="connisteX13" fmla="*/ 436245 w 607695"/>
                    <a:gd name="connsiteY13" fmla="*/ 9525 h 266700"/>
                    <a:gd name="connisteX14" fmla="*/ 445770 w 607695"/>
                    <a:gd name="connsiteY14" fmla="*/ 38100 h 266700"/>
                    <a:gd name="connisteX15" fmla="*/ 453390 w 607695"/>
                    <a:gd name="connsiteY15" fmla="*/ 49530 h 266700"/>
                    <a:gd name="connisteX16" fmla="*/ 430530 w 607695"/>
                    <a:gd name="connsiteY16" fmla="*/ 62865 h 266700"/>
                    <a:gd name="connisteX17" fmla="*/ 417195 w 607695"/>
                    <a:gd name="connsiteY17" fmla="*/ 70485 h 266700"/>
                    <a:gd name="connisteX18" fmla="*/ 417195 w 607695"/>
                    <a:gd name="connsiteY18" fmla="*/ 85725 h 266700"/>
                    <a:gd name="connisteX19" fmla="*/ 384810 w 607695"/>
                    <a:gd name="connsiteY19" fmla="*/ 99060 h 266700"/>
                    <a:gd name="connisteX20" fmla="*/ 316230 w 607695"/>
                    <a:gd name="connsiteY20" fmla="*/ 123825 h 266700"/>
                    <a:gd name="connisteX21" fmla="*/ 262890 w 607695"/>
                    <a:gd name="connsiteY21" fmla="*/ 100965 h 266700"/>
                    <a:gd name="connisteX22" fmla="*/ 173355 w 607695"/>
                    <a:gd name="connsiteY22" fmla="*/ 47625 h 266700"/>
                    <a:gd name="connisteX23" fmla="*/ 180975 w 607695"/>
                    <a:gd name="connsiteY23" fmla="*/ 13335 h 266700"/>
                    <a:gd name="connisteX24" fmla="*/ 158115 w 607695"/>
                    <a:gd name="connsiteY24" fmla="*/ 9525 h 266700"/>
                    <a:gd name="connisteX25" fmla="*/ 41910 w 607695"/>
                    <a:gd name="connsiteY25" fmla="*/ 66675 h 266700"/>
                    <a:gd name="connisteX26" fmla="*/ 7620 w 607695"/>
                    <a:gd name="connsiteY26" fmla="*/ 116205 h 266700"/>
                    <a:gd name="connisteX27" fmla="*/ 1905 w 607695"/>
                    <a:gd name="connsiteY27" fmla="*/ 184785 h 266700"/>
                    <a:gd name="connisteX28" fmla="*/ 0 w 607695"/>
                    <a:gd name="connsiteY28" fmla="*/ 266700 h 266700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  <a:cxn ang="0">
                      <a:pos x="connisteX11" y="connsiteY11"/>
                    </a:cxn>
                    <a:cxn ang="0">
                      <a:pos x="connisteX12" y="connsiteY12"/>
                    </a:cxn>
                    <a:cxn ang="0">
                      <a:pos x="connisteX13" y="connsiteY13"/>
                    </a:cxn>
                    <a:cxn ang="0">
                      <a:pos x="connisteX14" y="connsiteY14"/>
                    </a:cxn>
                    <a:cxn ang="0">
                      <a:pos x="connisteX15" y="connsiteY15"/>
                    </a:cxn>
                    <a:cxn ang="0">
                      <a:pos x="connisteX16" y="connsiteY16"/>
                    </a:cxn>
                    <a:cxn ang="0">
                      <a:pos x="connisteX17" y="connsiteY17"/>
                    </a:cxn>
                    <a:cxn ang="0">
                      <a:pos x="connisteX18" y="connsiteY18"/>
                    </a:cxn>
                    <a:cxn ang="0">
                      <a:pos x="connisteX19" y="connsiteY19"/>
                    </a:cxn>
                    <a:cxn ang="0">
                      <a:pos x="connisteX20" y="connsiteY20"/>
                    </a:cxn>
                    <a:cxn ang="0">
                      <a:pos x="connisteX21" y="connsiteY21"/>
                    </a:cxn>
                    <a:cxn ang="0">
                      <a:pos x="connisteX22" y="connsiteY22"/>
                    </a:cxn>
                    <a:cxn ang="0">
                      <a:pos x="connisteX23" y="connsiteY23"/>
                    </a:cxn>
                    <a:cxn ang="0">
                      <a:pos x="connisteX24" y="connsiteY24"/>
                    </a:cxn>
                    <a:cxn ang="0">
                      <a:pos x="connisteX25" y="connsiteY25"/>
                    </a:cxn>
                    <a:cxn ang="0">
                      <a:pos x="connisteX26" y="connsiteY26"/>
                    </a:cxn>
                    <a:cxn ang="0">
                      <a:pos x="connisteX27" y="connsiteY27"/>
                    </a:cxn>
                    <a:cxn ang="0">
                      <a:pos x="connisteX28" y="connsiteY28"/>
                    </a:cxn>
                  </a:cxnLst>
                  <a:rect l="l" t="t" r="r" b="b"/>
                  <a:pathLst>
                    <a:path w="607695" h="266700">
                      <a:moveTo>
                        <a:pt x="0" y="266700"/>
                      </a:moveTo>
                      <a:lnTo>
                        <a:pt x="314325" y="266700"/>
                      </a:lnTo>
                      <a:lnTo>
                        <a:pt x="468630" y="264795"/>
                      </a:lnTo>
                      <a:lnTo>
                        <a:pt x="539115" y="257175"/>
                      </a:lnTo>
                      <a:lnTo>
                        <a:pt x="579120" y="232410"/>
                      </a:lnTo>
                      <a:lnTo>
                        <a:pt x="607695" y="194310"/>
                      </a:lnTo>
                      <a:lnTo>
                        <a:pt x="607695" y="171450"/>
                      </a:lnTo>
                      <a:lnTo>
                        <a:pt x="605790" y="127635"/>
                      </a:lnTo>
                      <a:lnTo>
                        <a:pt x="590550" y="80010"/>
                      </a:lnTo>
                      <a:lnTo>
                        <a:pt x="554355" y="49530"/>
                      </a:lnTo>
                      <a:lnTo>
                        <a:pt x="520065" y="30480"/>
                      </a:lnTo>
                      <a:lnTo>
                        <a:pt x="478155" y="17145"/>
                      </a:lnTo>
                      <a:lnTo>
                        <a:pt x="449580" y="0"/>
                      </a:lnTo>
                      <a:lnTo>
                        <a:pt x="436245" y="9525"/>
                      </a:lnTo>
                      <a:lnTo>
                        <a:pt x="445770" y="38100"/>
                      </a:lnTo>
                      <a:lnTo>
                        <a:pt x="453390" y="49530"/>
                      </a:lnTo>
                      <a:lnTo>
                        <a:pt x="430530" y="62865"/>
                      </a:lnTo>
                      <a:lnTo>
                        <a:pt x="417195" y="70485"/>
                      </a:lnTo>
                      <a:lnTo>
                        <a:pt x="417195" y="85725"/>
                      </a:lnTo>
                      <a:lnTo>
                        <a:pt x="384810" y="99060"/>
                      </a:lnTo>
                      <a:lnTo>
                        <a:pt x="316230" y="123825"/>
                      </a:lnTo>
                      <a:lnTo>
                        <a:pt x="262890" y="100965"/>
                      </a:lnTo>
                      <a:lnTo>
                        <a:pt x="173355" y="47625"/>
                      </a:lnTo>
                      <a:lnTo>
                        <a:pt x="180975" y="13335"/>
                      </a:lnTo>
                      <a:lnTo>
                        <a:pt x="158115" y="9525"/>
                      </a:lnTo>
                      <a:lnTo>
                        <a:pt x="41910" y="66675"/>
                      </a:lnTo>
                      <a:lnTo>
                        <a:pt x="7620" y="116205"/>
                      </a:lnTo>
                      <a:lnTo>
                        <a:pt x="1905" y="184785"/>
                      </a:lnTo>
                      <a:lnTo>
                        <a:pt x="0" y="2667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450" name="图片 449" descr="资源 42"/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3" y="14919"/>
                  <a:ext cx="1718" cy="1159"/>
                </a:xfrm>
                <a:prstGeom prst="rect">
                  <a:avLst/>
                </a:prstGeom>
              </p:spPr>
            </p:pic>
          </p:grpSp>
          <p:sp>
            <p:nvSpPr>
              <p:cNvPr id="460" name="文本框 459"/>
              <p:cNvSpPr txBox="1"/>
              <p:nvPr/>
            </p:nvSpPr>
            <p:spPr>
              <a:xfrm>
                <a:off x="8351" y="16934"/>
                <a:ext cx="1879" cy="337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Review and correction</a:t>
                </a:r>
                <a:endParaRPr lang="en-US" altLang="zh-CN" sz="800" dirty="0"/>
              </a:p>
            </p:txBody>
          </p:sp>
        </p:grpSp>
        <p:sp>
          <p:nvSpPr>
            <p:cNvPr id="461" name="文本框 460"/>
            <p:cNvSpPr txBox="1"/>
            <p:nvPr/>
          </p:nvSpPr>
          <p:spPr>
            <a:xfrm>
              <a:off x="8259" y="17127"/>
              <a:ext cx="2089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Expert refinement</a:t>
              </a:r>
              <a:endParaRPr lang="en-US" altLang="zh-CN" sz="1200" dirty="0"/>
            </a:p>
          </p:txBody>
        </p:sp>
      </p:grpSp>
      <p:grpSp>
        <p:nvGrpSpPr>
          <p:cNvPr id="571" name="组合 570"/>
          <p:cNvGrpSpPr/>
          <p:nvPr/>
        </p:nvGrpSpPr>
        <p:grpSpPr>
          <a:xfrm>
            <a:off x="8099317" y="6441006"/>
            <a:ext cx="1889760" cy="1141730"/>
            <a:chOff x="12526" y="15741"/>
            <a:chExt cx="2976" cy="1798"/>
          </a:xfrm>
        </p:grpSpPr>
        <p:sp>
          <p:nvSpPr>
            <p:cNvPr id="470" name="文本框 469"/>
            <p:cNvSpPr txBox="1"/>
            <p:nvPr/>
          </p:nvSpPr>
          <p:spPr>
            <a:xfrm>
              <a:off x="12904" y="17105"/>
              <a:ext cx="22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Refined outputs</a:t>
              </a:r>
              <a:endParaRPr lang="en-US" altLang="zh-CN" sz="1200" dirty="0"/>
            </a:p>
          </p:txBody>
        </p:sp>
        <p:grpSp>
          <p:nvGrpSpPr>
            <p:cNvPr id="567" name="组合 566"/>
            <p:cNvGrpSpPr/>
            <p:nvPr/>
          </p:nvGrpSpPr>
          <p:grpSpPr>
            <a:xfrm>
              <a:off x="12526" y="15741"/>
              <a:ext cx="2976" cy="1504"/>
              <a:chOff x="12526" y="15747"/>
              <a:chExt cx="2976" cy="1504"/>
            </a:xfrm>
          </p:grpSpPr>
          <p:grpSp>
            <p:nvGrpSpPr>
              <p:cNvPr id="467" name="组合 466"/>
              <p:cNvGrpSpPr/>
              <p:nvPr/>
            </p:nvGrpSpPr>
            <p:grpSpPr>
              <a:xfrm>
                <a:off x="12526" y="15747"/>
                <a:ext cx="2976" cy="992"/>
                <a:chOff x="5520" y="15218"/>
                <a:chExt cx="2976" cy="992"/>
              </a:xfrm>
            </p:grpSpPr>
            <p:sp>
              <p:nvSpPr>
                <p:cNvPr id="466" name="任意多边形 465"/>
                <p:cNvSpPr/>
                <p:nvPr/>
              </p:nvSpPr>
              <p:spPr>
                <a:xfrm>
                  <a:off x="7693" y="15228"/>
                  <a:ext cx="690" cy="939"/>
                </a:xfrm>
                <a:custGeom>
                  <a:avLst/>
                  <a:gdLst>
                    <a:gd name="connisteX0" fmla="*/ 17145 w 438150"/>
                    <a:gd name="connsiteY0" fmla="*/ 0 h 596265"/>
                    <a:gd name="connisteX1" fmla="*/ 318135 w 438150"/>
                    <a:gd name="connsiteY1" fmla="*/ 1905 h 596265"/>
                    <a:gd name="connisteX2" fmla="*/ 320040 w 438150"/>
                    <a:gd name="connsiteY2" fmla="*/ 116205 h 596265"/>
                    <a:gd name="connisteX3" fmla="*/ 438150 w 438150"/>
                    <a:gd name="connsiteY3" fmla="*/ 120015 h 596265"/>
                    <a:gd name="connisteX4" fmla="*/ 434340 w 438150"/>
                    <a:gd name="connsiteY4" fmla="*/ 325755 h 596265"/>
                    <a:gd name="connisteX5" fmla="*/ 434340 w 438150"/>
                    <a:gd name="connsiteY5" fmla="*/ 361950 h 596265"/>
                    <a:gd name="connisteX6" fmla="*/ 369570 w 438150"/>
                    <a:gd name="connsiteY6" fmla="*/ 352425 h 596265"/>
                    <a:gd name="connisteX7" fmla="*/ 321945 w 438150"/>
                    <a:gd name="connsiteY7" fmla="*/ 367665 h 596265"/>
                    <a:gd name="connisteX8" fmla="*/ 268605 w 438150"/>
                    <a:gd name="connsiteY8" fmla="*/ 411480 h 596265"/>
                    <a:gd name="connisteX9" fmla="*/ 257175 w 438150"/>
                    <a:gd name="connsiteY9" fmla="*/ 453390 h 596265"/>
                    <a:gd name="connisteX10" fmla="*/ 255270 w 438150"/>
                    <a:gd name="connsiteY10" fmla="*/ 525780 h 596265"/>
                    <a:gd name="connisteX11" fmla="*/ 264795 w 438150"/>
                    <a:gd name="connsiteY11" fmla="*/ 541020 h 596265"/>
                    <a:gd name="connisteX12" fmla="*/ 280035 w 438150"/>
                    <a:gd name="connsiteY12" fmla="*/ 565785 h 596265"/>
                    <a:gd name="connisteX13" fmla="*/ 302895 w 438150"/>
                    <a:gd name="connsiteY13" fmla="*/ 581025 h 596265"/>
                    <a:gd name="connisteX14" fmla="*/ 300990 w 438150"/>
                    <a:gd name="connsiteY14" fmla="*/ 596265 h 596265"/>
                    <a:gd name="connisteX15" fmla="*/ 19050 w 438150"/>
                    <a:gd name="connsiteY15" fmla="*/ 594360 h 596265"/>
                    <a:gd name="connisteX16" fmla="*/ 0 w 438150"/>
                    <a:gd name="connsiteY16" fmla="*/ 575310 h 596265"/>
                    <a:gd name="connisteX17" fmla="*/ 17145 w 438150"/>
                    <a:gd name="connsiteY17" fmla="*/ 0 h 59626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  <a:cxn ang="0">
                      <a:pos x="connisteX11" y="connsiteY11"/>
                    </a:cxn>
                    <a:cxn ang="0">
                      <a:pos x="connisteX12" y="connsiteY12"/>
                    </a:cxn>
                    <a:cxn ang="0">
                      <a:pos x="connisteX13" y="connsiteY13"/>
                    </a:cxn>
                    <a:cxn ang="0">
                      <a:pos x="connisteX14" y="connsiteY14"/>
                    </a:cxn>
                    <a:cxn ang="0">
                      <a:pos x="connisteX15" y="connsiteY15"/>
                    </a:cxn>
                    <a:cxn ang="0">
                      <a:pos x="connisteX16" y="connsiteY16"/>
                    </a:cxn>
                    <a:cxn ang="0">
                      <a:pos x="connisteX17" y="connsiteY17"/>
                    </a:cxn>
                  </a:cxnLst>
                  <a:rect l="l" t="t" r="r" b="b"/>
                  <a:pathLst>
                    <a:path w="438150" h="596265">
                      <a:moveTo>
                        <a:pt x="17145" y="0"/>
                      </a:moveTo>
                      <a:lnTo>
                        <a:pt x="318135" y="1905"/>
                      </a:lnTo>
                      <a:lnTo>
                        <a:pt x="320040" y="116205"/>
                      </a:lnTo>
                      <a:lnTo>
                        <a:pt x="438150" y="120015"/>
                      </a:lnTo>
                      <a:lnTo>
                        <a:pt x="434340" y="325755"/>
                      </a:lnTo>
                      <a:lnTo>
                        <a:pt x="434340" y="361950"/>
                      </a:lnTo>
                      <a:lnTo>
                        <a:pt x="369570" y="352425"/>
                      </a:lnTo>
                      <a:lnTo>
                        <a:pt x="321945" y="367665"/>
                      </a:lnTo>
                      <a:lnTo>
                        <a:pt x="268605" y="411480"/>
                      </a:lnTo>
                      <a:lnTo>
                        <a:pt x="257175" y="453390"/>
                      </a:lnTo>
                      <a:lnTo>
                        <a:pt x="255270" y="525780"/>
                      </a:lnTo>
                      <a:lnTo>
                        <a:pt x="264795" y="541020"/>
                      </a:lnTo>
                      <a:lnTo>
                        <a:pt x="280035" y="565785"/>
                      </a:lnTo>
                      <a:lnTo>
                        <a:pt x="302895" y="581025"/>
                      </a:lnTo>
                      <a:lnTo>
                        <a:pt x="300990" y="596265"/>
                      </a:lnTo>
                      <a:lnTo>
                        <a:pt x="19050" y="594360"/>
                      </a:lnTo>
                      <a:lnTo>
                        <a:pt x="0" y="575310"/>
                      </a:lnTo>
                      <a:lnTo>
                        <a:pt x="1714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465" name="图片 464" descr="资源 43"/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20" y="15218"/>
                  <a:ext cx="2976" cy="992"/>
                </a:xfrm>
                <a:prstGeom prst="rect">
                  <a:avLst/>
                </a:prstGeom>
              </p:spPr>
            </p:pic>
          </p:grpSp>
          <p:sp>
            <p:nvSpPr>
              <p:cNvPr id="473" name="文本框 472"/>
              <p:cNvSpPr txBox="1"/>
              <p:nvPr/>
            </p:nvSpPr>
            <p:spPr>
              <a:xfrm>
                <a:off x="12527" y="16720"/>
                <a:ext cx="936" cy="531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Refined mask</a:t>
                </a:r>
                <a:endParaRPr lang="en-US" altLang="zh-CN" sz="800" dirty="0"/>
              </a:p>
            </p:txBody>
          </p:sp>
          <p:sp>
            <p:nvSpPr>
              <p:cNvPr id="474" name="文本框 473"/>
              <p:cNvSpPr txBox="1"/>
              <p:nvPr/>
            </p:nvSpPr>
            <p:spPr>
              <a:xfrm>
                <a:off x="13619" y="16716"/>
                <a:ext cx="936" cy="530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Verified</a:t>
                </a:r>
                <a:endParaRPr lang="en-US" altLang="zh-CN" sz="800" dirty="0"/>
              </a:p>
              <a:p>
                <a:pPr algn="ctr"/>
                <a:r>
                  <a:rPr lang="en-US" altLang="zh-CN" sz="800" dirty="0"/>
                  <a:t>diagnosis</a:t>
                </a:r>
                <a:endParaRPr lang="en-US" altLang="zh-CN" sz="800" dirty="0"/>
              </a:p>
            </p:txBody>
          </p:sp>
          <p:sp>
            <p:nvSpPr>
              <p:cNvPr id="475" name="文本框 474"/>
              <p:cNvSpPr txBox="1"/>
              <p:nvPr/>
            </p:nvSpPr>
            <p:spPr>
              <a:xfrm>
                <a:off x="14566" y="16716"/>
                <a:ext cx="936" cy="530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Corrected</a:t>
                </a:r>
                <a:endParaRPr lang="en-US" altLang="zh-CN" sz="800" dirty="0"/>
              </a:p>
              <a:p>
                <a:pPr algn="ctr"/>
                <a:r>
                  <a:rPr lang="en-US" altLang="zh-CN" sz="800" dirty="0"/>
                  <a:t>report</a:t>
                </a:r>
                <a:endParaRPr lang="en-US" altLang="zh-CN" sz="800" dirty="0"/>
              </a:p>
            </p:txBody>
          </p:sp>
        </p:grpSp>
      </p:grpSp>
      <p:grpSp>
        <p:nvGrpSpPr>
          <p:cNvPr id="496" name="组合 495"/>
          <p:cNvGrpSpPr/>
          <p:nvPr/>
        </p:nvGrpSpPr>
        <p:grpSpPr>
          <a:xfrm>
            <a:off x="8653037" y="7795143"/>
            <a:ext cx="553720" cy="140335"/>
            <a:chOff x="4417" y="13630"/>
            <a:chExt cx="872" cy="221"/>
          </a:xfrm>
        </p:grpSpPr>
        <p:cxnSp>
          <p:nvCxnSpPr>
            <p:cNvPr id="498" name="直接箭头连接符 497"/>
            <p:cNvCxnSpPr/>
            <p:nvPr/>
          </p:nvCxnSpPr>
          <p:spPr>
            <a:xfrm>
              <a:off x="4417" y="13630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9" name="直接箭头连接符 498"/>
            <p:cNvCxnSpPr/>
            <p:nvPr/>
          </p:nvCxnSpPr>
          <p:spPr>
            <a:xfrm flipH="1">
              <a:off x="4417" y="13851"/>
              <a:ext cx="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64" name="组合 563"/>
          <p:cNvGrpSpPr/>
          <p:nvPr/>
        </p:nvGrpSpPr>
        <p:grpSpPr>
          <a:xfrm>
            <a:off x="5527567" y="8285681"/>
            <a:ext cx="1645920" cy="1243965"/>
            <a:chOff x="8490" y="18614"/>
            <a:chExt cx="2592" cy="1959"/>
          </a:xfrm>
        </p:grpSpPr>
        <p:grpSp>
          <p:nvGrpSpPr>
            <p:cNvPr id="492" name="组合 491"/>
            <p:cNvGrpSpPr/>
            <p:nvPr/>
          </p:nvGrpSpPr>
          <p:grpSpPr>
            <a:xfrm>
              <a:off x="9209" y="18614"/>
              <a:ext cx="1154" cy="1200"/>
              <a:chOff x="14618" y="16366"/>
              <a:chExt cx="1154" cy="1200"/>
            </a:xfrm>
          </p:grpSpPr>
          <p:sp>
            <p:nvSpPr>
              <p:cNvPr id="491" name="任意多边形 490"/>
              <p:cNvSpPr/>
              <p:nvPr/>
            </p:nvSpPr>
            <p:spPr>
              <a:xfrm>
                <a:off x="14628" y="16380"/>
                <a:ext cx="1020" cy="1128"/>
              </a:xfrm>
              <a:custGeom>
                <a:avLst/>
                <a:gdLst>
                  <a:gd name="connisteX0" fmla="*/ 3810 w 647700"/>
                  <a:gd name="connsiteY0" fmla="*/ 102870 h 716280"/>
                  <a:gd name="connisteX1" fmla="*/ 45720 w 647700"/>
                  <a:gd name="connsiteY1" fmla="*/ 53340 h 716280"/>
                  <a:gd name="connisteX2" fmla="*/ 144780 w 647700"/>
                  <a:gd name="connsiteY2" fmla="*/ 19050 h 716280"/>
                  <a:gd name="connisteX3" fmla="*/ 251460 w 647700"/>
                  <a:gd name="connsiteY3" fmla="*/ 1905 h 716280"/>
                  <a:gd name="connisteX4" fmla="*/ 339090 w 647700"/>
                  <a:gd name="connsiteY4" fmla="*/ 0 h 716280"/>
                  <a:gd name="connisteX5" fmla="*/ 440055 w 647700"/>
                  <a:gd name="connsiteY5" fmla="*/ 7620 h 716280"/>
                  <a:gd name="connisteX6" fmla="*/ 510540 w 647700"/>
                  <a:gd name="connsiteY6" fmla="*/ 19050 h 716280"/>
                  <a:gd name="connisteX7" fmla="*/ 571500 w 647700"/>
                  <a:gd name="connsiteY7" fmla="*/ 45720 h 716280"/>
                  <a:gd name="connisteX8" fmla="*/ 615315 w 647700"/>
                  <a:gd name="connsiteY8" fmla="*/ 68580 h 716280"/>
                  <a:gd name="connisteX9" fmla="*/ 641985 w 647700"/>
                  <a:gd name="connsiteY9" fmla="*/ 99060 h 716280"/>
                  <a:gd name="connisteX10" fmla="*/ 641985 w 647700"/>
                  <a:gd name="connsiteY10" fmla="*/ 144780 h 716280"/>
                  <a:gd name="connisteX11" fmla="*/ 640080 w 647700"/>
                  <a:gd name="connsiteY11" fmla="*/ 240030 h 716280"/>
                  <a:gd name="connisteX12" fmla="*/ 643890 w 647700"/>
                  <a:gd name="connsiteY12" fmla="*/ 314325 h 716280"/>
                  <a:gd name="connisteX13" fmla="*/ 647700 w 647700"/>
                  <a:gd name="connsiteY13" fmla="*/ 379095 h 716280"/>
                  <a:gd name="connisteX14" fmla="*/ 647700 w 647700"/>
                  <a:gd name="connsiteY14" fmla="*/ 426720 h 716280"/>
                  <a:gd name="connisteX15" fmla="*/ 647700 w 647700"/>
                  <a:gd name="connsiteY15" fmla="*/ 474345 h 716280"/>
                  <a:gd name="connisteX16" fmla="*/ 581025 w 647700"/>
                  <a:gd name="connsiteY16" fmla="*/ 459105 h 716280"/>
                  <a:gd name="connisteX17" fmla="*/ 483870 w 647700"/>
                  <a:gd name="connsiteY17" fmla="*/ 489585 h 716280"/>
                  <a:gd name="connisteX18" fmla="*/ 447675 w 647700"/>
                  <a:gd name="connsiteY18" fmla="*/ 529590 h 716280"/>
                  <a:gd name="connisteX19" fmla="*/ 430530 w 647700"/>
                  <a:gd name="connsiteY19" fmla="*/ 611505 h 716280"/>
                  <a:gd name="connisteX20" fmla="*/ 453390 w 647700"/>
                  <a:gd name="connsiteY20" fmla="*/ 670560 h 716280"/>
                  <a:gd name="connisteX21" fmla="*/ 462915 w 647700"/>
                  <a:gd name="connsiteY21" fmla="*/ 691515 h 716280"/>
                  <a:gd name="connisteX22" fmla="*/ 405765 w 647700"/>
                  <a:gd name="connsiteY22" fmla="*/ 706755 h 716280"/>
                  <a:gd name="connisteX23" fmla="*/ 289560 w 647700"/>
                  <a:gd name="connsiteY23" fmla="*/ 716280 h 716280"/>
                  <a:gd name="connisteX24" fmla="*/ 177165 w 647700"/>
                  <a:gd name="connsiteY24" fmla="*/ 701040 h 716280"/>
                  <a:gd name="connisteX25" fmla="*/ 99060 w 647700"/>
                  <a:gd name="connsiteY25" fmla="*/ 685800 h 716280"/>
                  <a:gd name="connisteX26" fmla="*/ 53340 w 647700"/>
                  <a:gd name="connsiteY26" fmla="*/ 659130 h 716280"/>
                  <a:gd name="connisteX27" fmla="*/ 13335 w 647700"/>
                  <a:gd name="connsiteY27" fmla="*/ 636270 h 716280"/>
                  <a:gd name="connisteX28" fmla="*/ 0 w 647700"/>
                  <a:gd name="connsiteY28" fmla="*/ 594360 h 716280"/>
                  <a:gd name="connisteX29" fmla="*/ 3810 w 647700"/>
                  <a:gd name="connsiteY29" fmla="*/ 466725 h 716280"/>
                  <a:gd name="connisteX30" fmla="*/ 5715 w 647700"/>
                  <a:gd name="connsiteY30" fmla="*/ 249555 h 716280"/>
                  <a:gd name="connisteX31" fmla="*/ 3810 w 647700"/>
                  <a:gd name="connsiteY31" fmla="*/ 102870 h 71628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  <a:cxn ang="0">
                    <a:pos x="connisteX9" y="connsiteY9"/>
                  </a:cxn>
                  <a:cxn ang="0">
                    <a:pos x="connisteX10" y="connsiteY10"/>
                  </a:cxn>
                  <a:cxn ang="0">
                    <a:pos x="connisteX11" y="connsiteY11"/>
                  </a:cxn>
                  <a:cxn ang="0">
                    <a:pos x="connisteX12" y="connsiteY12"/>
                  </a:cxn>
                  <a:cxn ang="0">
                    <a:pos x="connisteX13" y="connsiteY13"/>
                  </a:cxn>
                  <a:cxn ang="0">
                    <a:pos x="connisteX14" y="connsiteY14"/>
                  </a:cxn>
                  <a:cxn ang="0">
                    <a:pos x="connisteX15" y="connsiteY15"/>
                  </a:cxn>
                  <a:cxn ang="0">
                    <a:pos x="connisteX16" y="connsiteY16"/>
                  </a:cxn>
                  <a:cxn ang="0">
                    <a:pos x="connisteX17" y="connsiteY17"/>
                  </a:cxn>
                  <a:cxn ang="0">
                    <a:pos x="connisteX18" y="connsiteY18"/>
                  </a:cxn>
                  <a:cxn ang="0">
                    <a:pos x="connisteX19" y="connsiteY19"/>
                  </a:cxn>
                  <a:cxn ang="0">
                    <a:pos x="connisteX20" y="connsiteY20"/>
                  </a:cxn>
                  <a:cxn ang="0">
                    <a:pos x="connisteX21" y="connsiteY21"/>
                  </a:cxn>
                  <a:cxn ang="0">
                    <a:pos x="connisteX22" y="connsiteY22"/>
                  </a:cxn>
                  <a:cxn ang="0">
                    <a:pos x="connisteX23" y="connsiteY23"/>
                  </a:cxn>
                  <a:cxn ang="0">
                    <a:pos x="connisteX24" y="connsiteY24"/>
                  </a:cxn>
                  <a:cxn ang="0">
                    <a:pos x="connisteX25" y="connsiteY25"/>
                  </a:cxn>
                  <a:cxn ang="0">
                    <a:pos x="connisteX26" y="connsiteY26"/>
                  </a:cxn>
                  <a:cxn ang="0">
                    <a:pos x="connisteX27" y="connsiteY27"/>
                  </a:cxn>
                  <a:cxn ang="0">
                    <a:pos x="connisteX28" y="connsiteY28"/>
                  </a:cxn>
                  <a:cxn ang="0">
                    <a:pos x="connisteX29" y="connsiteY29"/>
                  </a:cxn>
                  <a:cxn ang="0">
                    <a:pos x="connisteX30" y="connsiteY30"/>
                  </a:cxn>
                  <a:cxn ang="0">
                    <a:pos x="connisteX31" y="connsiteY31"/>
                  </a:cxn>
                </a:cxnLst>
                <a:rect l="l" t="t" r="r" b="b"/>
                <a:pathLst>
                  <a:path w="647700" h="716280">
                    <a:moveTo>
                      <a:pt x="3810" y="102870"/>
                    </a:moveTo>
                    <a:lnTo>
                      <a:pt x="45720" y="53340"/>
                    </a:lnTo>
                    <a:lnTo>
                      <a:pt x="144780" y="19050"/>
                    </a:lnTo>
                    <a:lnTo>
                      <a:pt x="251460" y="1905"/>
                    </a:lnTo>
                    <a:lnTo>
                      <a:pt x="339090" y="0"/>
                    </a:lnTo>
                    <a:lnTo>
                      <a:pt x="440055" y="7620"/>
                    </a:lnTo>
                    <a:lnTo>
                      <a:pt x="510540" y="19050"/>
                    </a:lnTo>
                    <a:lnTo>
                      <a:pt x="571500" y="45720"/>
                    </a:lnTo>
                    <a:lnTo>
                      <a:pt x="615315" y="68580"/>
                    </a:lnTo>
                    <a:lnTo>
                      <a:pt x="641985" y="99060"/>
                    </a:lnTo>
                    <a:lnTo>
                      <a:pt x="641985" y="144780"/>
                    </a:lnTo>
                    <a:lnTo>
                      <a:pt x="640080" y="240030"/>
                    </a:lnTo>
                    <a:lnTo>
                      <a:pt x="643890" y="314325"/>
                    </a:lnTo>
                    <a:lnTo>
                      <a:pt x="647700" y="379095"/>
                    </a:lnTo>
                    <a:lnTo>
                      <a:pt x="647700" y="426720"/>
                    </a:lnTo>
                    <a:lnTo>
                      <a:pt x="647700" y="474345"/>
                    </a:lnTo>
                    <a:lnTo>
                      <a:pt x="581025" y="459105"/>
                    </a:lnTo>
                    <a:lnTo>
                      <a:pt x="483870" y="489585"/>
                    </a:lnTo>
                    <a:lnTo>
                      <a:pt x="447675" y="529590"/>
                    </a:lnTo>
                    <a:lnTo>
                      <a:pt x="430530" y="611505"/>
                    </a:lnTo>
                    <a:lnTo>
                      <a:pt x="453390" y="670560"/>
                    </a:lnTo>
                    <a:lnTo>
                      <a:pt x="462915" y="691515"/>
                    </a:lnTo>
                    <a:lnTo>
                      <a:pt x="405765" y="706755"/>
                    </a:lnTo>
                    <a:lnTo>
                      <a:pt x="289560" y="716280"/>
                    </a:lnTo>
                    <a:lnTo>
                      <a:pt x="177165" y="701040"/>
                    </a:lnTo>
                    <a:lnTo>
                      <a:pt x="99060" y="685800"/>
                    </a:lnTo>
                    <a:lnTo>
                      <a:pt x="53340" y="659130"/>
                    </a:lnTo>
                    <a:lnTo>
                      <a:pt x="13335" y="636270"/>
                    </a:lnTo>
                    <a:lnTo>
                      <a:pt x="0" y="594360"/>
                    </a:lnTo>
                    <a:lnTo>
                      <a:pt x="3810" y="466725"/>
                    </a:lnTo>
                    <a:lnTo>
                      <a:pt x="5715" y="249555"/>
                    </a:lnTo>
                    <a:lnTo>
                      <a:pt x="3810" y="1028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84" name="图片 483" descr="资源 45"/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4618" y="16366"/>
                <a:ext cx="1155" cy="1200"/>
              </a:xfrm>
              <a:prstGeom prst="rect">
                <a:avLst/>
              </a:prstGeom>
            </p:spPr>
          </p:pic>
        </p:grpSp>
        <p:sp>
          <p:nvSpPr>
            <p:cNvPr id="518" name="文本框 517"/>
            <p:cNvSpPr txBox="1"/>
            <p:nvPr/>
          </p:nvSpPr>
          <p:spPr>
            <a:xfrm>
              <a:off x="8490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/>
                <a:t>Evolving Database</a:t>
              </a:r>
              <a:endParaRPr lang="en-US" altLang="zh-CN" sz="1200"/>
            </a:p>
          </p:txBody>
        </p:sp>
        <p:sp>
          <p:nvSpPr>
            <p:cNvPr id="520" name="文本框 519"/>
            <p:cNvSpPr txBox="1"/>
            <p:nvPr/>
          </p:nvSpPr>
          <p:spPr>
            <a:xfrm>
              <a:off x="8884" y="19787"/>
              <a:ext cx="1805" cy="348"/>
            </a:xfrm>
            <a:prstGeom prst="rect">
              <a:avLst/>
            </a:prstGeom>
            <a:noFill/>
          </p:spPr>
          <p:txBody>
            <a:bodyPr wrap="square" lIns="17780" rIns="17780" rtlCol="0">
              <a:noAutofit/>
            </a:bodyPr>
            <a:lstStyle/>
            <a:p>
              <a:pPr algn="ctr"/>
              <a:r>
                <a:rPr lang="en-US" altLang="zh-CN" sz="800" dirty="0"/>
                <a:t>High-quality, expert-refined data repository</a:t>
              </a:r>
              <a:endParaRPr lang="en-US" altLang="zh-CN" sz="800" dirty="0"/>
            </a:p>
          </p:txBody>
        </p:sp>
      </p:grpSp>
      <p:grpSp>
        <p:nvGrpSpPr>
          <p:cNvPr id="563" name="组合 562"/>
          <p:cNvGrpSpPr/>
          <p:nvPr/>
        </p:nvGrpSpPr>
        <p:grpSpPr>
          <a:xfrm>
            <a:off x="2976772" y="8279648"/>
            <a:ext cx="1645920" cy="1256030"/>
            <a:chOff x="4460" y="18595"/>
            <a:chExt cx="2592" cy="1978"/>
          </a:xfrm>
        </p:grpSpPr>
        <p:pic>
          <p:nvPicPr>
            <p:cNvPr id="493" name="图片 492" descr="资源 46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158" y="18595"/>
              <a:ext cx="1197" cy="1238"/>
            </a:xfrm>
            <a:prstGeom prst="rect">
              <a:avLst/>
            </a:prstGeom>
          </p:spPr>
        </p:pic>
        <p:sp>
          <p:nvSpPr>
            <p:cNvPr id="522" name="文本框 521"/>
            <p:cNvSpPr txBox="1"/>
            <p:nvPr/>
          </p:nvSpPr>
          <p:spPr>
            <a:xfrm>
              <a:off x="4460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Model updating</a:t>
              </a:r>
              <a:endParaRPr lang="en-US" altLang="zh-CN" sz="1200" dirty="0"/>
            </a:p>
          </p:txBody>
        </p:sp>
        <p:sp>
          <p:nvSpPr>
            <p:cNvPr id="543" name="文本框 542"/>
            <p:cNvSpPr txBox="1"/>
            <p:nvPr/>
          </p:nvSpPr>
          <p:spPr>
            <a:xfrm>
              <a:off x="4854" y="19787"/>
              <a:ext cx="1775" cy="348"/>
            </a:xfrm>
            <a:prstGeom prst="rect">
              <a:avLst/>
            </a:prstGeom>
            <a:noFill/>
          </p:spPr>
          <p:txBody>
            <a:bodyPr wrap="square" lIns="17780" rIns="17780" rtlCol="0">
              <a:noAutofit/>
            </a:bodyPr>
            <a:lstStyle/>
            <a:p>
              <a:pPr algn="ctr"/>
              <a:r>
                <a:rPr lang="zh-CN" altLang="zh-CN" sz="800" dirty="0"/>
                <a:t>Feedback-driven </a:t>
              </a:r>
              <a:r>
                <a:rPr lang="en-US" altLang="zh-CN" sz="800" dirty="0"/>
                <a:t>tool</a:t>
              </a:r>
              <a:r>
                <a:rPr lang="zh-CN" altLang="zh-CN" sz="800" dirty="0"/>
                <a:t> </a:t>
              </a:r>
              <a:r>
                <a:rPr lang="en-US" altLang="zh-CN" sz="800" dirty="0"/>
                <a:t>evolving</a:t>
              </a:r>
              <a:endParaRPr lang="en-US" altLang="zh-CN" sz="800" dirty="0"/>
            </a:p>
          </p:txBody>
        </p:sp>
      </p:grpSp>
      <p:sp>
        <p:nvSpPr>
          <p:cNvPr id="546" name="文本框 545"/>
          <p:cNvSpPr txBox="1"/>
          <p:nvPr/>
        </p:nvSpPr>
        <p:spPr>
          <a:xfrm>
            <a:off x="3871770" y="7755842"/>
            <a:ext cx="16548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Clinician-in-the-loop</a:t>
            </a:r>
            <a:endParaRPr lang="en-US" altLang="zh-CN" sz="1200" dirty="0"/>
          </a:p>
        </p:txBody>
      </p:sp>
      <p:sp>
        <p:nvSpPr>
          <p:cNvPr id="547" name="文本框 546"/>
          <p:cNvSpPr txBox="1"/>
          <p:nvPr/>
        </p:nvSpPr>
        <p:spPr>
          <a:xfrm>
            <a:off x="6177280" y="7754621"/>
            <a:ext cx="2305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200" dirty="0"/>
              <a:t>Efficient and reliable diagnosis</a:t>
            </a:r>
            <a:endParaRPr lang="en-US" altLang="zh-CN" sz="1200" dirty="0"/>
          </a:p>
        </p:txBody>
      </p:sp>
      <p:sp>
        <p:nvSpPr>
          <p:cNvPr id="548" name="任意多边形 547"/>
          <p:cNvSpPr/>
          <p:nvPr/>
        </p:nvSpPr>
        <p:spPr>
          <a:xfrm>
            <a:off x="3614312" y="7715768"/>
            <a:ext cx="4892040" cy="354330"/>
          </a:xfrm>
          <a:custGeom>
            <a:avLst/>
            <a:gdLst>
              <a:gd name="connsiteX0" fmla="*/ 3470 w 7704"/>
              <a:gd name="connsiteY0" fmla="*/ 558 h 558"/>
              <a:gd name="connsiteX1" fmla="*/ 268 w 7704"/>
              <a:gd name="connsiteY1" fmla="*/ 552 h 558"/>
              <a:gd name="connsiteX2" fmla="*/ 0 w 7704"/>
              <a:gd name="connsiteY2" fmla="*/ 284 h 558"/>
              <a:gd name="connsiteX3" fmla="*/ 0 w 7704"/>
              <a:gd name="connsiteY3" fmla="*/ 268 h 558"/>
              <a:gd name="connsiteX4" fmla="*/ 268 w 7704"/>
              <a:gd name="connsiteY4" fmla="*/ 0 h 558"/>
              <a:gd name="connsiteX5" fmla="*/ 7436 w 7704"/>
              <a:gd name="connsiteY5" fmla="*/ 0 h 558"/>
              <a:gd name="connsiteX6" fmla="*/ 7704 w 7704"/>
              <a:gd name="connsiteY6" fmla="*/ 268 h 558"/>
              <a:gd name="connsiteX7" fmla="*/ 7704 w 7704"/>
              <a:gd name="connsiteY7" fmla="*/ 284 h 558"/>
              <a:gd name="connsiteX8" fmla="*/ 7436 w 7704"/>
              <a:gd name="connsiteY8" fmla="*/ 552 h 558"/>
              <a:gd name="connsiteX9" fmla="*/ 4274 w 7704"/>
              <a:gd name="connsiteY9" fmla="*/ 552 h 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04" h="558">
                <a:moveTo>
                  <a:pt x="3470" y="558"/>
                </a:moveTo>
                <a:lnTo>
                  <a:pt x="268" y="552"/>
                </a:lnTo>
                <a:cubicBezTo>
                  <a:pt x="120" y="552"/>
                  <a:pt x="0" y="432"/>
                  <a:pt x="0" y="284"/>
                </a:cubicBezTo>
                <a:lnTo>
                  <a:pt x="0" y="268"/>
                </a:lnTo>
                <a:cubicBezTo>
                  <a:pt x="0" y="120"/>
                  <a:pt x="120" y="0"/>
                  <a:pt x="268" y="0"/>
                </a:cubicBezTo>
                <a:lnTo>
                  <a:pt x="7436" y="0"/>
                </a:lnTo>
                <a:cubicBezTo>
                  <a:pt x="7584" y="0"/>
                  <a:pt x="7704" y="120"/>
                  <a:pt x="7704" y="268"/>
                </a:cubicBezTo>
                <a:lnTo>
                  <a:pt x="7704" y="284"/>
                </a:lnTo>
                <a:cubicBezTo>
                  <a:pt x="7704" y="432"/>
                  <a:pt x="7584" y="552"/>
                  <a:pt x="7436" y="552"/>
                </a:cubicBezTo>
                <a:lnTo>
                  <a:pt x="4274" y="552"/>
                </a:lnTo>
              </a:path>
            </a:pathLst>
          </a:custGeom>
          <a:noFill/>
          <a:ln w="50800">
            <a:solidFill>
              <a:srgbClr val="7F7F7F"/>
            </a:solidFill>
            <a:head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4" name="图片 553" descr="资源 47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67717" y="7561463"/>
            <a:ext cx="985520" cy="667385"/>
          </a:xfrm>
          <a:prstGeom prst="rect">
            <a:avLst/>
          </a:prstGeom>
        </p:spPr>
      </p:pic>
      <p:grpSp>
        <p:nvGrpSpPr>
          <p:cNvPr id="569" name="组合 568"/>
          <p:cNvGrpSpPr/>
          <p:nvPr/>
        </p:nvGrpSpPr>
        <p:grpSpPr>
          <a:xfrm>
            <a:off x="3188862" y="6414653"/>
            <a:ext cx="1165225" cy="1255395"/>
            <a:chOff x="4794" y="15658"/>
            <a:chExt cx="1835" cy="1977"/>
          </a:xfrm>
        </p:grpSpPr>
        <p:sp>
          <p:nvSpPr>
            <p:cNvPr id="446" name="文本框 445"/>
            <p:cNvSpPr txBox="1"/>
            <p:nvPr/>
          </p:nvSpPr>
          <p:spPr>
            <a:xfrm>
              <a:off x="4794" y="17201"/>
              <a:ext cx="183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Initial outputs</a:t>
              </a:r>
              <a:endParaRPr lang="en-US" altLang="zh-CN" sz="1200" dirty="0"/>
            </a:p>
          </p:txBody>
        </p:sp>
        <p:grpSp>
          <p:nvGrpSpPr>
            <p:cNvPr id="557" name="组合 556"/>
            <p:cNvGrpSpPr/>
            <p:nvPr/>
          </p:nvGrpSpPr>
          <p:grpSpPr>
            <a:xfrm>
              <a:off x="4926" y="15658"/>
              <a:ext cx="1596" cy="1673"/>
              <a:chOff x="4938" y="15658"/>
              <a:chExt cx="1596" cy="1673"/>
            </a:xfrm>
          </p:grpSpPr>
          <p:sp>
            <p:nvSpPr>
              <p:cNvPr id="447" name="文本框 446"/>
              <p:cNvSpPr txBox="1"/>
              <p:nvPr/>
            </p:nvSpPr>
            <p:spPr>
              <a:xfrm>
                <a:off x="4938" y="16831"/>
                <a:ext cx="583" cy="337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mask</a:t>
                </a:r>
                <a:endParaRPr lang="en-US" altLang="zh-CN" sz="800" dirty="0"/>
              </a:p>
            </p:txBody>
          </p:sp>
          <p:sp>
            <p:nvSpPr>
              <p:cNvPr id="448" name="文本框 447"/>
              <p:cNvSpPr txBox="1"/>
              <p:nvPr/>
            </p:nvSpPr>
            <p:spPr>
              <a:xfrm>
                <a:off x="5242" y="16994"/>
                <a:ext cx="886" cy="337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diagnosis</a:t>
                </a:r>
                <a:endParaRPr lang="en-US" altLang="zh-CN" sz="800" dirty="0"/>
              </a:p>
            </p:txBody>
          </p:sp>
          <p:sp>
            <p:nvSpPr>
              <p:cNvPr id="449" name="文本框 448"/>
              <p:cNvSpPr txBox="1"/>
              <p:nvPr/>
            </p:nvSpPr>
            <p:spPr>
              <a:xfrm>
                <a:off x="5794" y="16837"/>
                <a:ext cx="740" cy="337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dirty="0"/>
                  <a:t>report</a:t>
                </a:r>
                <a:endParaRPr lang="en-US" altLang="zh-CN" sz="800" dirty="0"/>
              </a:p>
            </p:txBody>
          </p:sp>
          <p:pic>
            <p:nvPicPr>
              <p:cNvPr id="556" name="图片 555" descr="资源 49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4994" y="15658"/>
                <a:ext cx="1381" cy="1406"/>
              </a:xfrm>
              <a:prstGeom prst="rect">
                <a:avLst/>
              </a:prstGeom>
            </p:spPr>
          </p:pic>
        </p:grpSp>
      </p:grpSp>
      <p:grpSp>
        <p:nvGrpSpPr>
          <p:cNvPr id="565" name="组合 564"/>
          <p:cNvGrpSpPr/>
          <p:nvPr/>
        </p:nvGrpSpPr>
        <p:grpSpPr>
          <a:xfrm>
            <a:off x="8078362" y="8279648"/>
            <a:ext cx="1645920" cy="1256030"/>
            <a:chOff x="12493" y="18595"/>
            <a:chExt cx="2592" cy="1978"/>
          </a:xfrm>
        </p:grpSpPr>
        <p:pic>
          <p:nvPicPr>
            <p:cNvPr id="483" name="图片 482" descr="资源 44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3330" y="18595"/>
              <a:ext cx="919" cy="1239"/>
            </a:xfrm>
            <a:prstGeom prst="rect">
              <a:avLst/>
            </a:prstGeom>
          </p:spPr>
        </p:pic>
        <p:sp>
          <p:nvSpPr>
            <p:cNvPr id="521" name="文本框 520"/>
            <p:cNvSpPr txBox="1"/>
            <p:nvPr/>
          </p:nvSpPr>
          <p:spPr>
            <a:xfrm>
              <a:off x="12493" y="20139"/>
              <a:ext cx="2592" cy="434"/>
            </a:xfrm>
            <a:prstGeom prst="rect">
              <a:avLst/>
            </a:prstGeom>
            <a:noFill/>
          </p:spPr>
          <p:txBody>
            <a:bodyPr wrap="square" lIns="17780" rIns="17780" rtlCol="0">
              <a:spAutoFit/>
            </a:bodyPr>
            <a:lstStyle/>
            <a:p>
              <a:pPr algn="ctr"/>
              <a:r>
                <a:rPr lang="en-US" altLang="zh-CN" sz="1200" dirty="0"/>
                <a:t>Curated feedback</a:t>
              </a:r>
              <a:endParaRPr lang="en-US" altLang="zh-CN" sz="1200" dirty="0"/>
            </a:p>
          </p:txBody>
        </p:sp>
        <p:sp>
          <p:nvSpPr>
            <p:cNvPr id="560" name="文本框 559"/>
            <p:cNvSpPr txBox="1"/>
            <p:nvPr/>
          </p:nvSpPr>
          <p:spPr>
            <a:xfrm>
              <a:off x="12603" y="19784"/>
              <a:ext cx="2372" cy="49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800" dirty="0"/>
                <a:t>Verified corrections and annotations</a:t>
              </a:r>
              <a:endParaRPr lang="en-US" altLang="zh-CN" sz="800" dirty="0"/>
            </a:p>
          </p:txBody>
        </p:sp>
      </p:grpSp>
      <p:cxnSp>
        <p:nvCxnSpPr>
          <p:cNvPr id="572" name="直接箭头连接符 571"/>
          <p:cNvCxnSpPr/>
          <p:nvPr/>
        </p:nvCxnSpPr>
        <p:spPr>
          <a:xfrm>
            <a:off x="4559827" y="7120138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3" name="直接箭头连接符 572"/>
          <p:cNvCxnSpPr/>
          <p:nvPr/>
        </p:nvCxnSpPr>
        <p:spPr>
          <a:xfrm>
            <a:off x="7156977" y="7120138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/>
          <p:nvPr/>
        </p:nvCxnSpPr>
        <p:spPr>
          <a:xfrm flipH="1">
            <a:off x="7303662" y="8551428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5" name="直接箭头连接符 574"/>
          <p:cNvCxnSpPr/>
          <p:nvPr/>
        </p:nvCxnSpPr>
        <p:spPr>
          <a:xfrm flipH="1">
            <a:off x="4752867" y="8551428"/>
            <a:ext cx="644525" cy="0"/>
          </a:xfrm>
          <a:prstGeom prst="straightConnector1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6" name="文本框 575"/>
          <p:cNvSpPr txBox="1"/>
          <p:nvPr/>
        </p:nvSpPr>
        <p:spPr>
          <a:xfrm>
            <a:off x="4354087" y="7120138"/>
            <a:ext cx="104330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/>
              <a:t>Expert review</a:t>
            </a:r>
            <a:endParaRPr lang="en-US" altLang="zh-CN" sz="900" dirty="0"/>
          </a:p>
        </p:txBody>
      </p:sp>
      <p:sp>
        <p:nvSpPr>
          <p:cNvPr id="578" name="文本框 577"/>
          <p:cNvSpPr txBox="1"/>
          <p:nvPr/>
        </p:nvSpPr>
        <p:spPr>
          <a:xfrm>
            <a:off x="6923932" y="7120138"/>
            <a:ext cx="10756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/>
              <a:t>After refinement</a:t>
            </a:r>
            <a:endParaRPr lang="en-US" altLang="zh-CN" sz="900" dirty="0"/>
          </a:p>
        </p:txBody>
      </p:sp>
      <p:sp>
        <p:nvSpPr>
          <p:cNvPr id="584" name="文本框 583"/>
          <p:cNvSpPr txBox="1"/>
          <p:nvPr/>
        </p:nvSpPr>
        <p:spPr>
          <a:xfrm>
            <a:off x="7037597" y="8321558"/>
            <a:ext cx="123317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/>
              <a:t>Stored as feedback</a:t>
            </a:r>
            <a:endParaRPr lang="en-US" altLang="zh-CN" sz="900"/>
          </a:p>
        </p:txBody>
      </p:sp>
      <p:sp>
        <p:nvSpPr>
          <p:cNvPr id="587" name="文本框 586"/>
          <p:cNvSpPr txBox="1"/>
          <p:nvPr/>
        </p:nvSpPr>
        <p:spPr>
          <a:xfrm>
            <a:off x="4480452" y="8321558"/>
            <a:ext cx="123317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900"/>
              <a:t>Used for updating</a:t>
            </a:r>
            <a:endParaRPr lang="en-US" altLang="zh-CN" sz="900"/>
          </a:p>
        </p:txBody>
      </p:sp>
      <p:sp>
        <p:nvSpPr>
          <p:cNvPr id="462" name="文本框 461"/>
          <p:cNvSpPr txBox="1"/>
          <p:nvPr/>
        </p:nvSpPr>
        <p:spPr>
          <a:xfrm rot="16200000">
            <a:off x="4213808" y="4076792"/>
            <a:ext cx="519076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33" name="组合 532"/>
          <p:cNvGrpSpPr/>
          <p:nvPr/>
        </p:nvGrpSpPr>
        <p:grpSpPr>
          <a:xfrm>
            <a:off x="4730750" y="5865997"/>
            <a:ext cx="2459990" cy="295910"/>
            <a:chOff x="2643785" y="2056832"/>
            <a:chExt cx="2459990" cy="349781"/>
          </a:xfrm>
        </p:grpSpPr>
        <p:grpSp>
          <p:nvGrpSpPr>
            <p:cNvPr id="489" name="组合 488"/>
            <p:cNvGrpSpPr/>
            <p:nvPr/>
          </p:nvGrpSpPr>
          <p:grpSpPr>
            <a:xfrm>
              <a:off x="2676805" y="2103083"/>
              <a:ext cx="2426970" cy="303530"/>
              <a:chOff x="7804" y="13512"/>
              <a:chExt cx="2300" cy="421"/>
            </a:xfrm>
          </p:grpSpPr>
          <p:sp>
            <p:nvSpPr>
              <p:cNvPr id="494" name="圆角矩形 157"/>
              <p:cNvSpPr/>
              <p:nvPr/>
            </p:nvSpPr>
            <p:spPr>
              <a:xfrm>
                <a:off x="7804" y="13528"/>
                <a:ext cx="2300" cy="384"/>
              </a:xfrm>
              <a:prstGeom prst="roundRect">
                <a:avLst/>
              </a:prstGeom>
              <a:solidFill>
                <a:srgbClr val="F8F8F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95" name="组合 494"/>
              <p:cNvGrpSpPr/>
              <p:nvPr/>
            </p:nvGrpSpPr>
            <p:grpSpPr>
              <a:xfrm>
                <a:off x="7804" y="13528"/>
                <a:ext cx="663" cy="384"/>
                <a:chOff x="4596" y="10896"/>
                <a:chExt cx="663" cy="384"/>
              </a:xfrm>
            </p:grpSpPr>
            <p:sp>
              <p:nvSpPr>
                <p:cNvPr id="500" name="矩形 499"/>
                <p:cNvSpPr/>
                <p:nvPr/>
              </p:nvSpPr>
              <p:spPr>
                <a:xfrm>
                  <a:off x="4659" y="10896"/>
                  <a:ext cx="600" cy="384"/>
                </a:xfrm>
                <a:prstGeom prst="rect">
                  <a:avLst/>
                </a:prstGeom>
                <a:solidFill>
                  <a:srgbClr val="66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1" name="圆角矩形 161"/>
                <p:cNvSpPr/>
                <p:nvPr/>
              </p:nvSpPr>
              <p:spPr>
                <a:xfrm>
                  <a:off x="4596" y="10896"/>
                  <a:ext cx="295" cy="384"/>
                </a:xfrm>
                <a:prstGeom prst="roundRect">
                  <a:avLst/>
                </a:prstGeom>
                <a:solidFill>
                  <a:srgbClr val="660000"/>
                </a:solidFill>
                <a:ln w="3175"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97" name="文本框 496"/>
              <p:cNvSpPr txBox="1"/>
              <p:nvPr/>
            </p:nvSpPr>
            <p:spPr>
              <a:xfrm>
                <a:off x="8467" y="13512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900" dirty="0"/>
                  <a:t>145 cases videos</a:t>
                </a:r>
                <a:endParaRPr lang="en-US" altLang="zh-CN" sz="900" dirty="0"/>
              </a:p>
            </p:txBody>
          </p:sp>
        </p:grpSp>
        <p:sp>
          <p:nvSpPr>
            <p:cNvPr id="490" name="文本框 489"/>
            <p:cNvSpPr txBox="1"/>
            <p:nvPr/>
          </p:nvSpPr>
          <p:spPr>
            <a:xfrm>
              <a:off x="2643785" y="2056832"/>
              <a:ext cx="733425" cy="309245"/>
            </a:xfrm>
            <a:prstGeom prst="rect">
              <a:avLst/>
            </a:prstGeom>
            <a:noFill/>
          </p:spPr>
          <p:txBody>
            <a:bodyPr wrap="square" lIns="36195" rIns="36195" rtlCol="0">
              <a:no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TNVideo</a:t>
              </a:r>
              <a:endPara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4" name="文本框 533"/>
          <p:cNvSpPr txBox="1"/>
          <p:nvPr/>
        </p:nvSpPr>
        <p:spPr>
          <a:xfrm rot="16200000">
            <a:off x="4289497" y="3570716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535" name="文本框 534"/>
          <p:cNvSpPr txBox="1"/>
          <p:nvPr/>
        </p:nvSpPr>
        <p:spPr>
          <a:xfrm rot="16200000">
            <a:off x="4095157" y="5599578"/>
            <a:ext cx="885918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40" name="组合 539"/>
          <p:cNvGrpSpPr/>
          <p:nvPr/>
        </p:nvGrpSpPr>
        <p:grpSpPr>
          <a:xfrm>
            <a:off x="4652679" y="4060238"/>
            <a:ext cx="1270245" cy="309245"/>
            <a:chOff x="4644780" y="4060237"/>
            <a:chExt cx="1270245" cy="309245"/>
          </a:xfrm>
        </p:grpSpPr>
        <p:grpSp>
          <p:nvGrpSpPr>
            <p:cNvPr id="512" name="组合 511"/>
            <p:cNvGrpSpPr/>
            <p:nvPr/>
          </p:nvGrpSpPr>
          <p:grpSpPr>
            <a:xfrm>
              <a:off x="4644780" y="4060237"/>
              <a:ext cx="1269187" cy="309245"/>
              <a:chOff x="2643008" y="2430821"/>
              <a:chExt cx="1557789" cy="309245"/>
            </a:xfrm>
          </p:grpSpPr>
          <p:grpSp>
            <p:nvGrpSpPr>
              <p:cNvPr id="505" name="组合 504"/>
              <p:cNvGrpSpPr/>
              <p:nvPr/>
            </p:nvGrpSpPr>
            <p:grpSpPr>
              <a:xfrm>
                <a:off x="2676027" y="2448073"/>
                <a:ext cx="1524770" cy="276854"/>
                <a:chOff x="7804" y="13528"/>
                <a:chExt cx="1445" cy="384"/>
              </a:xfrm>
            </p:grpSpPr>
            <p:sp>
              <p:nvSpPr>
                <p:cNvPr id="507" name="圆角矩形 157"/>
                <p:cNvSpPr/>
                <p:nvPr/>
              </p:nvSpPr>
              <p:spPr>
                <a:xfrm>
                  <a:off x="7804" y="13528"/>
                  <a:ext cx="1445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08" name="组合 507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10" name="矩形 509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1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06" name="文本框 505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ZJH-2K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7" name="文本框 536"/>
            <p:cNvSpPr txBox="1"/>
            <p:nvPr/>
          </p:nvSpPr>
          <p:spPr>
            <a:xfrm>
              <a:off x="5244042" y="4114608"/>
              <a:ext cx="670983" cy="197961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1,854 images</a:t>
              </a:r>
              <a:endParaRPr lang="en-US" altLang="zh-CN" sz="800" dirty="0"/>
            </a:p>
          </p:txBody>
        </p:sp>
      </p:grpSp>
      <p:grpSp>
        <p:nvGrpSpPr>
          <p:cNvPr id="539" name="组合 538"/>
          <p:cNvGrpSpPr/>
          <p:nvPr/>
        </p:nvGrpSpPr>
        <p:grpSpPr>
          <a:xfrm>
            <a:off x="6018212" y="4068448"/>
            <a:ext cx="1349193" cy="309245"/>
            <a:chOff x="6042618" y="4056679"/>
            <a:chExt cx="1349193" cy="309245"/>
          </a:xfrm>
        </p:grpSpPr>
        <p:grpSp>
          <p:nvGrpSpPr>
            <p:cNvPr id="525" name="组合 524"/>
            <p:cNvGrpSpPr/>
            <p:nvPr/>
          </p:nvGrpSpPr>
          <p:grpSpPr>
            <a:xfrm>
              <a:off x="6042618" y="4056679"/>
              <a:ext cx="1349193" cy="309245"/>
              <a:chOff x="2643008" y="2430821"/>
              <a:chExt cx="1400567" cy="309245"/>
            </a:xfrm>
          </p:grpSpPr>
          <p:grpSp>
            <p:nvGrpSpPr>
              <p:cNvPr id="526" name="组合 525"/>
              <p:cNvGrpSpPr/>
              <p:nvPr/>
            </p:nvGrpSpPr>
            <p:grpSpPr>
              <a:xfrm>
                <a:off x="2676030" y="2448073"/>
                <a:ext cx="1367545" cy="276854"/>
                <a:chOff x="7804" y="13528"/>
                <a:chExt cx="1296" cy="384"/>
              </a:xfrm>
            </p:grpSpPr>
            <p:sp>
              <p:nvSpPr>
                <p:cNvPr id="528" name="圆角矩形 157"/>
                <p:cNvSpPr/>
                <p:nvPr/>
              </p:nvSpPr>
              <p:spPr>
                <a:xfrm>
                  <a:off x="7804" y="13528"/>
                  <a:ext cx="1296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29" name="组合 528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31" name="矩形 530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2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27" name="文本框 526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TNVideo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8" name="文本框 537"/>
            <p:cNvSpPr txBox="1"/>
            <p:nvPr/>
          </p:nvSpPr>
          <p:spPr>
            <a:xfrm>
              <a:off x="6744971" y="4104221"/>
              <a:ext cx="644312" cy="221187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148 cases</a:t>
              </a:r>
              <a:endParaRPr lang="en-US" altLang="zh-CN" sz="800" dirty="0"/>
            </a:p>
          </p:txBody>
        </p:sp>
      </p:grpSp>
      <p:sp>
        <p:nvSpPr>
          <p:cNvPr id="541" name="文本框 540"/>
          <p:cNvSpPr txBox="1"/>
          <p:nvPr/>
        </p:nvSpPr>
        <p:spPr>
          <a:xfrm rot="16200000">
            <a:off x="7452975" y="4089851"/>
            <a:ext cx="519076" cy="303069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Ours newly contributed</a:t>
            </a:r>
            <a:endParaRPr lang="en-US" altLang="zh-CN" sz="700" dirty="0"/>
          </a:p>
        </p:txBody>
      </p:sp>
      <p:grpSp>
        <p:nvGrpSpPr>
          <p:cNvPr id="542" name="组合 541"/>
          <p:cNvGrpSpPr/>
          <p:nvPr/>
        </p:nvGrpSpPr>
        <p:grpSpPr>
          <a:xfrm>
            <a:off x="7920951" y="4050985"/>
            <a:ext cx="1270245" cy="309245"/>
            <a:chOff x="4644780" y="4060237"/>
            <a:chExt cx="1270245" cy="309245"/>
          </a:xfrm>
        </p:grpSpPr>
        <p:grpSp>
          <p:nvGrpSpPr>
            <p:cNvPr id="544" name="组合 543"/>
            <p:cNvGrpSpPr/>
            <p:nvPr/>
          </p:nvGrpSpPr>
          <p:grpSpPr>
            <a:xfrm>
              <a:off x="4644780" y="4060237"/>
              <a:ext cx="1269187" cy="309245"/>
              <a:chOff x="2643008" y="2430821"/>
              <a:chExt cx="1557789" cy="309245"/>
            </a:xfrm>
          </p:grpSpPr>
          <p:grpSp>
            <p:nvGrpSpPr>
              <p:cNvPr id="549" name="组合 548"/>
              <p:cNvGrpSpPr/>
              <p:nvPr/>
            </p:nvGrpSpPr>
            <p:grpSpPr>
              <a:xfrm>
                <a:off x="2676027" y="2448073"/>
                <a:ext cx="1524770" cy="276854"/>
                <a:chOff x="7804" y="13528"/>
                <a:chExt cx="1445" cy="384"/>
              </a:xfrm>
            </p:grpSpPr>
            <p:sp>
              <p:nvSpPr>
                <p:cNvPr id="552" name="圆角矩形 157"/>
                <p:cNvSpPr/>
                <p:nvPr/>
              </p:nvSpPr>
              <p:spPr>
                <a:xfrm>
                  <a:off x="7804" y="13528"/>
                  <a:ext cx="1445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53" name="组合 552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555" name="矩形 554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8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51" name="文本框 550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ZJH-2K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5" name="文本框 544"/>
            <p:cNvSpPr txBox="1"/>
            <p:nvPr/>
          </p:nvSpPr>
          <p:spPr>
            <a:xfrm>
              <a:off x="5244042" y="4114608"/>
              <a:ext cx="670983" cy="197961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1,854 cases</a:t>
              </a:r>
              <a:endParaRPr lang="en-US" altLang="zh-CN" sz="800" dirty="0"/>
            </a:p>
          </p:txBody>
        </p:sp>
      </p:grpSp>
      <p:grpSp>
        <p:nvGrpSpPr>
          <p:cNvPr id="559" name="组合 558"/>
          <p:cNvGrpSpPr/>
          <p:nvPr/>
        </p:nvGrpSpPr>
        <p:grpSpPr>
          <a:xfrm>
            <a:off x="9278886" y="4035844"/>
            <a:ext cx="1349193" cy="309245"/>
            <a:chOff x="6042618" y="4056679"/>
            <a:chExt cx="1349193" cy="309245"/>
          </a:xfrm>
        </p:grpSpPr>
        <p:grpSp>
          <p:nvGrpSpPr>
            <p:cNvPr id="561" name="组合 560"/>
            <p:cNvGrpSpPr/>
            <p:nvPr/>
          </p:nvGrpSpPr>
          <p:grpSpPr>
            <a:xfrm>
              <a:off x="6042618" y="4056679"/>
              <a:ext cx="1349193" cy="309245"/>
              <a:chOff x="2643008" y="2430821"/>
              <a:chExt cx="1400567" cy="309245"/>
            </a:xfrm>
          </p:grpSpPr>
          <p:grpSp>
            <p:nvGrpSpPr>
              <p:cNvPr id="566" name="组合 565"/>
              <p:cNvGrpSpPr/>
              <p:nvPr/>
            </p:nvGrpSpPr>
            <p:grpSpPr>
              <a:xfrm>
                <a:off x="2676030" y="2448073"/>
                <a:ext cx="1367545" cy="276854"/>
                <a:chOff x="7804" y="13528"/>
                <a:chExt cx="1296" cy="384"/>
              </a:xfrm>
            </p:grpSpPr>
            <p:sp>
              <p:nvSpPr>
                <p:cNvPr id="66" name="圆角矩形 157"/>
                <p:cNvSpPr/>
                <p:nvPr/>
              </p:nvSpPr>
              <p:spPr>
                <a:xfrm>
                  <a:off x="7804" y="13528"/>
                  <a:ext cx="1296" cy="384"/>
                </a:xfrm>
                <a:prstGeom prst="roundRect">
                  <a:avLst/>
                </a:prstGeom>
                <a:solidFill>
                  <a:srgbClr val="F8F8FA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7" name="组合 66"/>
                <p:cNvGrpSpPr/>
                <p:nvPr/>
              </p:nvGrpSpPr>
              <p:grpSpPr>
                <a:xfrm>
                  <a:off x="7804" y="13528"/>
                  <a:ext cx="663" cy="384"/>
                  <a:chOff x="4596" y="10896"/>
                  <a:chExt cx="663" cy="384"/>
                </a:xfrm>
              </p:grpSpPr>
              <p:sp>
                <p:nvSpPr>
                  <p:cNvPr id="68" name="矩形 67"/>
                  <p:cNvSpPr/>
                  <p:nvPr/>
                </p:nvSpPr>
                <p:spPr>
                  <a:xfrm>
                    <a:off x="4659" y="10896"/>
                    <a:ext cx="600" cy="384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圆角矩形 161"/>
                  <p:cNvSpPr/>
                  <p:nvPr/>
                </p:nvSpPr>
                <p:spPr>
                  <a:xfrm>
                    <a:off x="4596" y="10896"/>
                    <a:ext cx="295" cy="384"/>
                  </a:xfrm>
                  <a:prstGeom prst="roundRect">
                    <a:avLst/>
                  </a:prstGeom>
                  <a:solidFill>
                    <a:srgbClr val="660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65" name="文本框 64"/>
              <p:cNvSpPr txBox="1"/>
              <p:nvPr/>
            </p:nvSpPr>
            <p:spPr>
              <a:xfrm>
                <a:off x="2643008" y="2430821"/>
                <a:ext cx="733425" cy="309245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TNVideo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2" name="文本框 561"/>
            <p:cNvSpPr txBox="1"/>
            <p:nvPr/>
          </p:nvSpPr>
          <p:spPr>
            <a:xfrm>
              <a:off x="6744971" y="4104221"/>
              <a:ext cx="644312" cy="221187"/>
            </a:xfrm>
            <a:prstGeom prst="rect">
              <a:avLst/>
            </a:prstGeom>
            <a:noFill/>
          </p:spPr>
          <p:txBody>
            <a:bodyPr wrap="square" lIns="10795" rIns="10795" rtlCol="0">
              <a:noAutofit/>
            </a:bodyPr>
            <a:lstStyle/>
            <a:p>
              <a:pPr algn="ctr"/>
              <a:r>
                <a:rPr lang="en-US" altLang="zh-CN" sz="800" dirty="0"/>
                <a:t>148 cases</a:t>
              </a:r>
              <a:endParaRPr lang="en-US" altLang="zh-CN" sz="800" dirty="0"/>
            </a:p>
          </p:txBody>
        </p:sp>
      </p:grpSp>
      <p:sp>
        <p:nvSpPr>
          <p:cNvPr id="73" name="文本框 72"/>
          <p:cNvSpPr txBox="1"/>
          <p:nvPr/>
        </p:nvSpPr>
        <p:spPr>
          <a:xfrm>
            <a:off x="8366934" y="9468720"/>
            <a:ext cx="352425" cy="414655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8695690" y="9711691"/>
            <a:ext cx="1689100" cy="3514725"/>
            <a:chOff x="13686" y="15294"/>
            <a:chExt cx="2660" cy="5535"/>
          </a:xfrm>
        </p:grpSpPr>
        <p:grpSp>
          <p:nvGrpSpPr>
            <p:cNvPr id="8" name="组合 7"/>
            <p:cNvGrpSpPr/>
            <p:nvPr/>
          </p:nvGrpSpPr>
          <p:grpSpPr>
            <a:xfrm>
              <a:off x="14516" y="17525"/>
              <a:ext cx="1000" cy="1073"/>
              <a:chOff x="16271" y="17056"/>
              <a:chExt cx="1175" cy="1338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16295" y="17056"/>
                <a:ext cx="1141" cy="1279"/>
              </a:xfrm>
              <a:prstGeom prst="roundRect">
                <a:avLst/>
              </a:prstGeom>
              <a:solidFill>
                <a:srgbClr val="536B8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资源 40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522" y="17102"/>
                <a:ext cx="672" cy="673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16271" y="17732"/>
                <a:ext cx="1175" cy="662"/>
              </a:xfrm>
              <a:prstGeom prst="rect">
                <a:avLst/>
              </a:prstGeom>
              <a:noFill/>
            </p:spPr>
            <p:txBody>
              <a:bodyPr wrap="square" lIns="17780" rIns="17780" rtlCol="0">
                <a:spAutoFit/>
              </a:bodyPr>
              <a:lstStyle/>
              <a:p>
                <a:pPr algn="ctr"/>
                <a:r>
                  <a:rPr lang="en-US" altLang="zh-CN" sz="800" b="1" dirty="0">
                    <a:solidFill>
                      <a:schemeClr val="bg1"/>
                    </a:solidFill>
                  </a:rPr>
                  <a:t>ThyroidX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800" b="1" dirty="0">
                    <a:solidFill>
                      <a:schemeClr val="bg1"/>
                    </a:solidFill>
                  </a:rPr>
                  <a:t>Agent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13686" y="15294"/>
              <a:ext cx="2660" cy="1704"/>
              <a:chOff x="13794" y="15262"/>
              <a:chExt cx="2660" cy="1704"/>
            </a:xfrm>
          </p:grpSpPr>
          <p:pic>
            <p:nvPicPr>
              <p:cNvPr id="15" name="图片 14" descr="资源 50"/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4440" y="15572"/>
                <a:ext cx="1368" cy="969"/>
              </a:xfrm>
              <a:prstGeom prst="rect">
                <a:avLst/>
              </a:prstGeom>
            </p:spPr>
          </p:pic>
          <p:sp>
            <p:nvSpPr>
              <p:cNvPr id="33" name="文本框 32"/>
              <p:cNvSpPr txBox="1"/>
              <p:nvPr/>
            </p:nvSpPr>
            <p:spPr>
              <a:xfrm>
                <a:off x="13794" y="15262"/>
                <a:ext cx="2660" cy="362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spAutoFit/>
              </a:bodyPr>
              <a:p>
                <a:pPr algn="ctr"/>
                <a:r>
                  <a:rPr lang="en-US" altLang="zh-CN" sz="900"/>
                  <a:t>Training and internal validation</a:t>
                </a:r>
                <a:endParaRPr lang="en-US" altLang="zh-CN" sz="90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4047" y="16580"/>
                <a:ext cx="215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rgbClr val="0D3565"/>
                    </a:solidFill>
                  </a:rPr>
                  <a:t>10 centers</a:t>
                </a:r>
                <a:endParaRPr lang="en-US" altLang="zh-CN" sz="1000">
                  <a:solidFill>
                    <a:srgbClr val="0D3565"/>
                  </a:solidFill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3938" y="19125"/>
              <a:ext cx="2156" cy="1704"/>
              <a:chOff x="11900" y="21412"/>
              <a:chExt cx="3070" cy="2429"/>
            </a:xfrm>
          </p:grpSpPr>
          <p:pic>
            <p:nvPicPr>
              <p:cNvPr id="31" name="图片 30" descr="资源 51"/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2489" y="21855"/>
                <a:ext cx="1891" cy="1379"/>
              </a:xfrm>
              <a:prstGeom prst="rect">
                <a:avLst/>
              </a:prstGeom>
            </p:spPr>
          </p:pic>
          <p:sp>
            <p:nvSpPr>
              <p:cNvPr id="34" name="文本框 33"/>
              <p:cNvSpPr txBox="1"/>
              <p:nvPr/>
            </p:nvSpPr>
            <p:spPr>
              <a:xfrm>
                <a:off x="11900" y="21412"/>
                <a:ext cx="3070" cy="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External validation</a:t>
                </a:r>
                <a:endParaRPr lang="en-US" altLang="zh-CN" sz="9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900" y="23291"/>
                <a:ext cx="3070" cy="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rgbClr val="EA6F17"/>
                    </a:solidFill>
                  </a:rPr>
                  <a:t>35 centers</a:t>
                </a:r>
                <a:endParaRPr lang="en-US" altLang="zh-CN" sz="1000">
                  <a:solidFill>
                    <a:srgbClr val="EA6F17"/>
                  </a:solidFill>
                </a:endParaRPr>
              </a:p>
            </p:txBody>
          </p:sp>
        </p:grpSp>
        <p:cxnSp>
          <p:nvCxnSpPr>
            <p:cNvPr id="74" name="直接箭头连接符 73"/>
            <p:cNvCxnSpPr/>
            <p:nvPr/>
          </p:nvCxnSpPr>
          <p:spPr>
            <a:xfrm>
              <a:off x="15016" y="17023"/>
              <a:ext cx="0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>
              <a:off x="15016" y="18623"/>
              <a:ext cx="0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4730750" y="5032242"/>
            <a:ext cx="2459990" cy="282575"/>
            <a:chOff x="7773" y="13474"/>
            <a:chExt cx="2331" cy="441"/>
          </a:xfrm>
        </p:grpSpPr>
        <p:sp>
          <p:nvSpPr>
            <p:cNvPr id="27" name="圆角矩形 26"/>
            <p:cNvSpPr/>
            <p:nvPr/>
          </p:nvSpPr>
          <p:spPr>
            <a:xfrm>
              <a:off x="7804" y="13528"/>
              <a:ext cx="2300" cy="384"/>
            </a:xfrm>
            <a:prstGeom prst="roundRect">
              <a:avLst/>
            </a:prstGeom>
            <a:solidFill>
              <a:srgbClr val="F8F8F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7804" y="13528"/>
              <a:ext cx="663" cy="384"/>
              <a:chOff x="4596" y="10896"/>
              <a:chExt cx="663" cy="38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4659" y="10896"/>
                <a:ext cx="600" cy="384"/>
              </a:xfrm>
              <a:prstGeom prst="rect">
                <a:avLst/>
              </a:prstGeom>
              <a:solidFill>
                <a:srgbClr val="15266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4596" y="10896"/>
                <a:ext cx="295" cy="384"/>
              </a:xfrm>
              <a:prstGeom prst="roundRect">
                <a:avLst/>
              </a:prstGeom>
              <a:solidFill>
                <a:srgbClr val="152660"/>
              </a:solidFill>
              <a:ln w="317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7773" y="13474"/>
              <a:ext cx="2330" cy="441"/>
              <a:chOff x="7857" y="12001"/>
              <a:chExt cx="2330" cy="441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8551" y="12021"/>
                <a:ext cx="1636" cy="42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2,474 reports,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15,921 images</a:t>
                </a:r>
                <a:endParaRPr lang="en-US" altLang="zh-CN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7857" y="12001"/>
                <a:ext cx="695" cy="429"/>
              </a:xfrm>
              <a:prstGeom prst="rect">
                <a:avLst/>
              </a:prstGeom>
              <a:noFill/>
            </p:spPr>
            <p:txBody>
              <a:bodyPr wrap="square" lIns="36195" rIns="36195" rtlCol="0">
                <a:noAutofit/>
              </a:bodyPr>
              <a:lstStyle/>
              <a:p>
                <a:pPr algn="ctr">
                  <a:lnSpc>
                    <a:spcPts val="1660"/>
                  </a:lnSpc>
                </a:pPr>
                <a:r>
                  <a:rPr lang="en-US" altLang="zh-CN" sz="1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KMVE</a:t>
                </a:r>
                <a:endParaRPr lang="en-US" altLang="zh-CN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 rot="16200000">
            <a:off x="4365308" y="5027832"/>
            <a:ext cx="403225" cy="360680"/>
          </a:xfrm>
          <a:prstGeom prst="rect">
            <a:avLst/>
          </a:prstGeom>
          <a:noFill/>
        </p:spPr>
        <p:txBody>
          <a:bodyPr wrap="square" lIns="28575" rIns="28575" rtlCol="0">
            <a:noAutofit/>
          </a:bodyPr>
          <a:lstStyle/>
          <a:p>
            <a:pPr algn="ctr"/>
            <a:r>
              <a:rPr lang="en-US" altLang="zh-CN" sz="700" dirty="0"/>
              <a:t>Public</a:t>
            </a:r>
            <a:endParaRPr lang="en-US" altLang="zh-CN" sz="700" dirty="0"/>
          </a:p>
          <a:p>
            <a:pPr algn="ctr"/>
            <a:r>
              <a:rPr lang="en-US" altLang="zh-CN" sz="700" dirty="0"/>
              <a:t>datasets</a:t>
            </a:r>
            <a:endParaRPr lang="en-US" altLang="zh-CN" sz="700" dirty="0"/>
          </a:p>
        </p:txBody>
      </p:sp>
      <p:sp>
        <p:nvSpPr>
          <p:cNvPr id="82" name="文本框 81"/>
          <p:cNvSpPr txBox="1"/>
          <p:nvPr/>
        </p:nvSpPr>
        <p:spPr>
          <a:xfrm>
            <a:off x="4728845" y="5309236"/>
            <a:ext cx="733425" cy="281305"/>
          </a:xfrm>
          <a:prstGeom prst="rect">
            <a:avLst/>
          </a:prstGeom>
          <a:noFill/>
        </p:spPr>
        <p:txBody>
          <a:bodyPr wrap="square" lIns="36195" rIns="36195" rtlCol="0">
            <a:noAutofit/>
          </a:bodyPr>
          <a:lstStyle/>
          <a:p>
            <a:pPr algn="ctr">
              <a:lnSpc>
                <a:spcPts val="156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SMU-HMC</a:t>
            </a:r>
            <a:endParaRPr lang="en-US" altLang="zh-CN" sz="1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2" name="组合 811"/>
          <p:cNvGrpSpPr/>
          <p:nvPr/>
        </p:nvGrpSpPr>
        <p:grpSpPr>
          <a:xfrm>
            <a:off x="3107758" y="9641206"/>
            <a:ext cx="3557270" cy="3558540"/>
            <a:chOff x="4532" y="15183"/>
            <a:chExt cx="5602" cy="5604"/>
          </a:xfrm>
        </p:grpSpPr>
        <p:sp>
          <p:nvSpPr>
            <p:cNvPr id="813" name="弧形 812"/>
            <p:cNvSpPr/>
            <p:nvPr/>
          </p:nvSpPr>
          <p:spPr>
            <a:xfrm>
              <a:off x="5862" y="16522"/>
              <a:ext cx="2943" cy="2927"/>
            </a:xfrm>
            <a:prstGeom prst="arc">
              <a:avLst/>
            </a:prstGeom>
            <a:ln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14" name="组合 813"/>
            <p:cNvGrpSpPr/>
            <p:nvPr/>
          </p:nvGrpSpPr>
          <p:grpSpPr>
            <a:xfrm>
              <a:off x="4532" y="15183"/>
              <a:ext cx="5602" cy="5604"/>
              <a:chOff x="4532" y="15183"/>
              <a:chExt cx="5602" cy="5604"/>
            </a:xfrm>
          </p:grpSpPr>
          <p:sp>
            <p:nvSpPr>
              <p:cNvPr id="815" name="弧形 814"/>
              <p:cNvSpPr/>
              <p:nvPr/>
            </p:nvSpPr>
            <p:spPr>
              <a:xfrm rot="16200000">
                <a:off x="5862" y="16522"/>
                <a:ext cx="2943" cy="2927"/>
              </a:xfrm>
              <a:prstGeom prst="arc">
                <a:avLst/>
              </a:prstGeom>
              <a:ln>
                <a:solidFill>
                  <a:srgbClr val="7F7F7F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16" name="组合 815"/>
              <p:cNvGrpSpPr/>
              <p:nvPr/>
            </p:nvGrpSpPr>
            <p:grpSpPr>
              <a:xfrm>
                <a:off x="4532" y="15183"/>
                <a:ext cx="5602" cy="5604"/>
                <a:chOff x="4532" y="15183"/>
                <a:chExt cx="5602" cy="5604"/>
              </a:xfrm>
            </p:grpSpPr>
            <p:sp>
              <p:nvSpPr>
                <p:cNvPr id="817" name="弧形 816"/>
                <p:cNvSpPr/>
                <p:nvPr/>
              </p:nvSpPr>
              <p:spPr>
                <a:xfrm rot="10800000">
                  <a:off x="5862" y="16522"/>
                  <a:ext cx="2943" cy="2927"/>
                </a:xfrm>
                <a:prstGeom prst="arc">
                  <a:avLst/>
                </a:prstGeom>
                <a:ln>
                  <a:solidFill>
                    <a:srgbClr val="7F7F7F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18" name="组合 817"/>
                <p:cNvGrpSpPr/>
                <p:nvPr/>
              </p:nvGrpSpPr>
              <p:grpSpPr>
                <a:xfrm>
                  <a:off x="4532" y="15183"/>
                  <a:ext cx="5602" cy="5604"/>
                  <a:chOff x="4532" y="15183"/>
                  <a:chExt cx="5602" cy="5604"/>
                </a:xfrm>
              </p:grpSpPr>
              <p:sp>
                <p:nvSpPr>
                  <p:cNvPr id="819" name="椭圆 818"/>
                  <p:cNvSpPr/>
                  <p:nvPr/>
                </p:nvSpPr>
                <p:spPr>
                  <a:xfrm>
                    <a:off x="5990" y="16642"/>
                    <a:ext cx="2686" cy="2686"/>
                  </a:xfrm>
                  <a:prstGeom prst="ellipse">
                    <a:avLst/>
                  </a:prstGeom>
                  <a:solidFill>
                    <a:srgbClr val="536B8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820" name="组合 819"/>
                  <p:cNvGrpSpPr/>
                  <p:nvPr/>
                </p:nvGrpSpPr>
                <p:grpSpPr>
                  <a:xfrm>
                    <a:off x="5870" y="16514"/>
                    <a:ext cx="2927" cy="2943"/>
                    <a:chOff x="7920" y="14906"/>
                    <a:chExt cx="2927" cy="2943"/>
                  </a:xfrm>
                </p:grpSpPr>
                <p:sp>
                  <p:nvSpPr>
                    <p:cNvPr id="821" name="弧形 820"/>
                    <p:cNvSpPr/>
                    <p:nvPr/>
                  </p:nvSpPr>
                  <p:spPr>
                    <a:xfrm rot="5400000">
                      <a:off x="7912" y="14914"/>
                      <a:ext cx="2943" cy="2927"/>
                    </a:xfrm>
                    <a:prstGeom prst="arc">
                      <a:avLst/>
                    </a:prstGeom>
                    <a:ln>
                      <a:solidFill>
                        <a:srgbClr val="7F7F7F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822" name="组合 821"/>
                    <p:cNvGrpSpPr/>
                    <p:nvPr/>
                  </p:nvGrpSpPr>
                  <p:grpSpPr>
                    <a:xfrm>
                      <a:off x="8056" y="15588"/>
                      <a:ext cx="2653" cy="1524"/>
                      <a:chOff x="8056" y="15611"/>
                      <a:chExt cx="2653" cy="1524"/>
                    </a:xfrm>
                  </p:grpSpPr>
                  <p:sp>
                    <p:nvSpPr>
                      <p:cNvPr id="823" name="文本框 822"/>
                      <p:cNvSpPr txBox="1"/>
                      <p:nvPr/>
                    </p:nvSpPr>
                    <p:spPr>
                      <a:xfrm>
                        <a:off x="8056" y="16652"/>
                        <a:ext cx="2653" cy="48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17780" rIns="1778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400" b="1" dirty="0">
                            <a:solidFill>
                              <a:schemeClr val="bg1"/>
                            </a:solidFill>
                          </a:rPr>
                          <a:t>ThyroidXAgent</a:t>
                        </a:r>
                        <a:endParaRPr lang="en-US" altLang="zh-CN" sz="1400" b="1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pic>
                    <p:nvPicPr>
                      <p:cNvPr id="824" name="图片 823" descr="资源 40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32" y="15611"/>
                        <a:ext cx="1101" cy="1101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825" name="组合 824"/>
                  <p:cNvGrpSpPr/>
                  <p:nvPr/>
                </p:nvGrpSpPr>
                <p:grpSpPr>
                  <a:xfrm>
                    <a:off x="4532" y="15183"/>
                    <a:ext cx="5602" cy="5604"/>
                    <a:chOff x="4532" y="15183"/>
                    <a:chExt cx="5602" cy="5604"/>
                  </a:xfrm>
                </p:grpSpPr>
                <p:grpSp>
                  <p:nvGrpSpPr>
                    <p:cNvPr id="826" name="组合 825"/>
                    <p:cNvGrpSpPr/>
                    <p:nvPr/>
                  </p:nvGrpSpPr>
                  <p:grpSpPr>
                    <a:xfrm>
                      <a:off x="4532" y="15183"/>
                      <a:ext cx="5603" cy="5604"/>
                      <a:chOff x="6582" y="13575"/>
                      <a:chExt cx="5603" cy="5604"/>
                    </a:xfrm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grpSpPr>
                  <p:grpSp>
                    <p:nvGrpSpPr>
                      <p:cNvPr id="827" name="组合 826"/>
                      <p:cNvGrpSpPr/>
                      <p:nvPr/>
                    </p:nvGrpSpPr>
                    <p:grpSpPr>
                      <a:xfrm>
                        <a:off x="6582" y="13575"/>
                        <a:ext cx="5603" cy="5604"/>
                        <a:chOff x="7005" y="7091"/>
                        <a:chExt cx="4805" cy="4806"/>
                      </a:xfrm>
                    </p:grpSpPr>
                    <p:sp>
                      <p:nvSpPr>
                        <p:cNvPr id="828" name="任意多边形 827"/>
                        <p:cNvSpPr/>
                        <p:nvPr/>
                      </p:nvSpPr>
                      <p:spPr>
                        <a:xfrm>
                          <a:off x="7005" y="7099"/>
                          <a:ext cx="2403" cy="2389"/>
                        </a:xfrm>
                        <a:custGeom>
                          <a:avLst/>
                          <a:gdLst>
                            <a:gd name="connisteX0" fmla="*/ 1501140 w 1741170"/>
                            <a:gd name="connsiteY0" fmla="*/ 0 h 1771650"/>
                            <a:gd name="connisteX1" fmla="*/ 1741170 w 1741170"/>
                            <a:gd name="connsiteY1" fmla="*/ 499110 h 1771650"/>
                            <a:gd name="connisteX2" fmla="*/ 1611630 w 1741170"/>
                            <a:gd name="connsiteY2" fmla="*/ 922020 h 1771650"/>
                            <a:gd name="connisteX3" fmla="*/ 1207770 w 1741170"/>
                            <a:gd name="connsiteY3" fmla="*/ 1352550 h 1771650"/>
                            <a:gd name="connisteX4" fmla="*/ 853440 w 1741170"/>
                            <a:gd name="connsiteY4" fmla="*/ 1756410 h 1771650"/>
                            <a:gd name="connisteX5" fmla="*/ 495300 w 1741170"/>
                            <a:gd name="connsiteY5" fmla="*/ 1664970 h 1771650"/>
                            <a:gd name="connisteX6" fmla="*/ 0 w 1741170"/>
                            <a:gd name="connsiteY6" fmla="*/ 1771650 h 1771650"/>
                            <a:gd name="connisteX7" fmla="*/ 156210 w 1741170"/>
                            <a:gd name="connsiteY7" fmla="*/ 975360 h 1771650"/>
                            <a:gd name="connisteX8" fmla="*/ 765810 w 1741170"/>
                            <a:gd name="connsiteY8" fmla="*/ 240030 h 1771650"/>
                            <a:gd name="connisteX9" fmla="*/ 1501140 w 1741170"/>
                            <a:gd name="connsiteY9" fmla="*/ 0 h 177165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</a:cxnLst>
                          <a:rect l="l" t="t" r="r" b="b"/>
                          <a:pathLst>
                            <a:path w="2403" h="2389">
                              <a:moveTo>
                                <a:pt x="2177" y="0"/>
                              </a:moveTo>
                              <a:lnTo>
                                <a:pt x="2403" y="538"/>
                              </a:lnTo>
                              <a:lnTo>
                                <a:pt x="2182" y="1070"/>
                              </a:lnTo>
                              <a:lnTo>
                                <a:pt x="2172" y="1071"/>
                              </a:lnTo>
                              <a:cubicBezTo>
                                <a:pt x="1553" y="1180"/>
                                <a:pt x="1080" y="1713"/>
                                <a:pt x="1063" y="2359"/>
                              </a:cubicBezTo>
                              <a:lnTo>
                                <a:pt x="1063" y="2389"/>
                              </a:lnTo>
                              <a:lnTo>
                                <a:pt x="549" y="2148"/>
                              </a:lnTo>
                              <a:lnTo>
                                <a:pt x="0" y="2369"/>
                              </a:lnTo>
                              <a:lnTo>
                                <a:pt x="0" y="2363"/>
                              </a:lnTo>
                              <a:cubicBezTo>
                                <a:pt x="16" y="1131"/>
                                <a:pt x="958" y="122"/>
                                <a:pt x="2161" y="1"/>
                              </a:cubicBezTo>
                              <a:lnTo>
                                <a:pt x="217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DE0DE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29" name="任意多边形 828"/>
                        <p:cNvSpPr/>
                        <p:nvPr/>
                      </p:nvSpPr>
                      <p:spPr>
                        <a:xfrm>
                          <a:off x="9427" y="7091"/>
                          <a:ext cx="2373" cy="2381"/>
                        </a:xfrm>
                        <a:custGeom>
                          <a:avLst/>
                          <a:gdLst>
                            <a:gd name="connisteX0" fmla="*/ 0 w 1788160"/>
                            <a:gd name="connsiteY0" fmla="*/ 0 h 1783080"/>
                            <a:gd name="connisteX1" fmla="*/ 106680 w 1788160"/>
                            <a:gd name="connsiteY1" fmla="*/ 467360 h 1783080"/>
                            <a:gd name="connisteX2" fmla="*/ 20320 w 1788160"/>
                            <a:gd name="connsiteY2" fmla="*/ 1010920 h 1783080"/>
                            <a:gd name="connisteX3" fmla="*/ 995680 w 1788160"/>
                            <a:gd name="connsiteY3" fmla="*/ 1701800 h 1783080"/>
                            <a:gd name="connisteX4" fmla="*/ 1280160 w 1788160"/>
                            <a:gd name="connsiteY4" fmla="*/ 1783080 h 1783080"/>
                            <a:gd name="connisteX5" fmla="*/ 1788160 w 1788160"/>
                            <a:gd name="connsiteY5" fmla="*/ 1600200 h 1783080"/>
                            <a:gd name="connisteX6" fmla="*/ 1153160 w 1788160"/>
                            <a:gd name="connsiteY6" fmla="*/ 330200 h 1783080"/>
                            <a:gd name="connisteX7" fmla="*/ 218440 w 1788160"/>
                            <a:gd name="connsiteY7" fmla="*/ 127000 h 1783080"/>
                            <a:gd name="connisteX8" fmla="*/ 10160 w 1788160"/>
                            <a:gd name="connsiteY8" fmla="*/ 35560 h 1783080"/>
                            <a:gd name="connisteX9" fmla="*/ 0 w 1788160"/>
                            <a:gd name="connsiteY9" fmla="*/ 0 h 178308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</a:cxnLst>
                          <a:rect l="l" t="t" r="r" b="b"/>
                          <a:pathLst>
                            <a:path w="2373" h="2381">
                              <a:moveTo>
                                <a:pt x="0" y="0"/>
                              </a:moveTo>
                              <a:lnTo>
                                <a:pt x="14" y="0"/>
                              </a:lnTo>
                              <a:cubicBezTo>
                                <a:pt x="1226" y="15"/>
                                <a:pt x="2222" y="926"/>
                                <a:pt x="2370" y="2101"/>
                              </a:cubicBezTo>
                              <a:lnTo>
                                <a:pt x="2373" y="2130"/>
                              </a:lnTo>
                              <a:lnTo>
                                <a:pt x="1861" y="2381"/>
                              </a:lnTo>
                              <a:lnTo>
                                <a:pt x="1299" y="2133"/>
                              </a:lnTo>
                              <a:lnTo>
                                <a:pt x="1293" y="2106"/>
                              </a:lnTo>
                              <a:cubicBezTo>
                                <a:pt x="1160" y="1519"/>
                                <a:pt x="642" y="1078"/>
                                <a:pt x="19" y="1063"/>
                              </a:cubicBezTo>
                              <a:lnTo>
                                <a:pt x="4" y="1062"/>
                              </a:lnTo>
                              <a:lnTo>
                                <a:pt x="221" y="545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7DBE4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30" name="任意多边形 829"/>
                        <p:cNvSpPr/>
                        <p:nvPr/>
                      </p:nvSpPr>
                      <p:spPr>
                        <a:xfrm>
                          <a:off x="7013" y="9497"/>
                          <a:ext cx="2383" cy="2400"/>
                        </a:xfrm>
                        <a:custGeom>
                          <a:avLst/>
                          <a:gdLst>
                            <a:gd name="connisteX0" fmla="*/ 0 w 1803400"/>
                            <a:gd name="connsiteY0" fmla="*/ 187960 h 1686560"/>
                            <a:gd name="connisteX1" fmla="*/ 533400 w 1803400"/>
                            <a:gd name="connsiteY1" fmla="*/ 0 h 1686560"/>
                            <a:gd name="connisteX2" fmla="*/ 1051560 w 1803400"/>
                            <a:gd name="connsiteY2" fmla="*/ 198120 h 1686560"/>
                            <a:gd name="connisteX3" fmla="*/ 1132840 w 1803400"/>
                            <a:gd name="connsiteY3" fmla="*/ 482600 h 1686560"/>
                            <a:gd name="connisteX4" fmla="*/ 1615440 w 1803400"/>
                            <a:gd name="connsiteY4" fmla="*/ 751840 h 1686560"/>
                            <a:gd name="connisteX5" fmla="*/ 1803400 w 1803400"/>
                            <a:gd name="connsiteY5" fmla="*/ 914400 h 1686560"/>
                            <a:gd name="connisteX6" fmla="*/ 1671320 w 1803400"/>
                            <a:gd name="connsiteY6" fmla="*/ 1214120 h 1686560"/>
                            <a:gd name="connisteX7" fmla="*/ 1793240 w 1803400"/>
                            <a:gd name="connsiteY7" fmla="*/ 1630680 h 1686560"/>
                            <a:gd name="connisteX8" fmla="*/ 1727200 w 1803400"/>
                            <a:gd name="connsiteY8" fmla="*/ 1686560 h 1686560"/>
                            <a:gd name="connisteX9" fmla="*/ 889000 w 1803400"/>
                            <a:gd name="connsiteY9" fmla="*/ 1544320 h 1686560"/>
                            <a:gd name="connisteX10" fmla="*/ 487680 w 1803400"/>
                            <a:gd name="connsiteY10" fmla="*/ 1127760 h 1686560"/>
                            <a:gd name="connisteX11" fmla="*/ 228600 w 1803400"/>
                            <a:gd name="connsiteY11" fmla="*/ 604520 h 1686560"/>
                            <a:gd name="connisteX12" fmla="*/ 0 w 1803400"/>
                            <a:gd name="connsiteY12" fmla="*/ 187960 h 168656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</a:cxnLst>
                          <a:rect l="l" t="t" r="r" b="b"/>
                          <a:pathLst>
                            <a:path w="2383" h="2400">
                              <a:moveTo>
                                <a:pt x="523" y="0"/>
                              </a:moveTo>
                              <a:lnTo>
                                <a:pt x="1075" y="241"/>
                              </a:lnTo>
                              <a:lnTo>
                                <a:pt x="1079" y="265"/>
                              </a:lnTo>
                              <a:cubicBezTo>
                                <a:pt x="1202" y="867"/>
                                <a:pt x="1729" y="1323"/>
                                <a:pt x="2364" y="1337"/>
                              </a:cubicBezTo>
                              <a:lnTo>
                                <a:pt x="2372" y="1337"/>
                              </a:lnTo>
                              <a:lnTo>
                                <a:pt x="2153" y="1850"/>
                              </a:lnTo>
                              <a:lnTo>
                                <a:pt x="2383" y="2400"/>
                              </a:lnTo>
                              <a:lnTo>
                                <a:pt x="2336" y="2399"/>
                              </a:lnTo>
                              <a:cubicBezTo>
                                <a:pt x="1117" y="2370"/>
                                <a:pt x="123" y="1434"/>
                                <a:pt x="1" y="240"/>
                              </a:cubicBezTo>
                              <a:lnTo>
                                <a:pt x="0" y="229"/>
                              </a:lnTo>
                              <a:lnTo>
                                <a:pt x="52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6D4AE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31" name="任意多边形 830"/>
                        <p:cNvSpPr/>
                        <p:nvPr/>
                      </p:nvSpPr>
                      <p:spPr>
                        <a:xfrm>
                          <a:off x="9408" y="9505"/>
                          <a:ext cx="2403" cy="2389"/>
                        </a:xfrm>
                        <a:custGeom>
                          <a:avLst/>
                          <a:gdLst>
                            <a:gd name="connisteX0" fmla="*/ 868680 w 1671320"/>
                            <a:gd name="connsiteY0" fmla="*/ 0 h 1676400"/>
                            <a:gd name="connisteX1" fmla="*/ 1244600 w 1671320"/>
                            <a:gd name="connsiteY1" fmla="*/ 157480 h 1676400"/>
                            <a:gd name="connisteX2" fmla="*/ 1656080 w 1671320"/>
                            <a:gd name="connsiteY2" fmla="*/ 10160 h 1676400"/>
                            <a:gd name="connisteX3" fmla="*/ 1671320 w 1671320"/>
                            <a:gd name="connsiteY3" fmla="*/ 523240 h 1676400"/>
                            <a:gd name="connisteX4" fmla="*/ 1503680 w 1671320"/>
                            <a:gd name="connsiteY4" fmla="*/ 949960 h 1676400"/>
                            <a:gd name="connisteX5" fmla="*/ 1244600 w 1671320"/>
                            <a:gd name="connsiteY5" fmla="*/ 1259840 h 1676400"/>
                            <a:gd name="connisteX6" fmla="*/ 985520 w 1671320"/>
                            <a:gd name="connsiteY6" fmla="*/ 1432560 h 1676400"/>
                            <a:gd name="connisteX7" fmla="*/ 579120 w 1671320"/>
                            <a:gd name="connsiteY7" fmla="*/ 1600200 h 1676400"/>
                            <a:gd name="connisteX8" fmla="*/ 182880 w 1671320"/>
                            <a:gd name="connsiteY8" fmla="*/ 1676400 h 1676400"/>
                            <a:gd name="connisteX9" fmla="*/ 0 w 1671320"/>
                            <a:gd name="connsiteY9" fmla="*/ 1305560 h 1676400"/>
                            <a:gd name="connisteX10" fmla="*/ 111760 w 1671320"/>
                            <a:gd name="connsiteY10" fmla="*/ 955040 h 1676400"/>
                            <a:gd name="connisteX11" fmla="*/ 365760 w 1671320"/>
                            <a:gd name="connsiteY11" fmla="*/ 787400 h 1676400"/>
                            <a:gd name="connisteX12" fmla="*/ 690880 w 1671320"/>
                            <a:gd name="connsiteY12" fmla="*/ 614680 h 1676400"/>
                            <a:gd name="connisteX13" fmla="*/ 812800 w 1671320"/>
                            <a:gd name="connsiteY13" fmla="*/ 340360 h 1676400"/>
                            <a:gd name="connisteX14" fmla="*/ 868680 w 1671320"/>
                            <a:gd name="connsiteY14" fmla="*/ 0 h 167640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</a:cxnLst>
                          <a:rect l="l" t="t" r="r" b="b"/>
                          <a:pathLst>
                            <a:path w="2403" h="2389">
                              <a:moveTo>
                                <a:pt x="1341" y="0"/>
                              </a:moveTo>
                              <a:lnTo>
                                <a:pt x="1859" y="246"/>
                              </a:lnTo>
                              <a:lnTo>
                                <a:pt x="2403" y="21"/>
                              </a:lnTo>
                              <a:lnTo>
                                <a:pt x="2403" y="25"/>
                              </a:lnTo>
                              <a:cubicBezTo>
                                <a:pt x="2387" y="1258"/>
                                <a:pt x="1445" y="2266"/>
                                <a:pt x="241" y="2388"/>
                              </a:cubicBezTo>
                              <a:lnTo>
                                <a:pt x="231" y="2389"/>
                              </a:lnTo>
                              <a:lnTo>
                                <a:pt x="0" y="1866"/>
                              </a:lnTo>
                              <a:lnTo>
                                <a:pt x="233" y="1317"/>
                              </a:lnTo>
                              <a:lnTo>
                                <a:pt x="264" y="1311"/>
                              </a:lnTo>
                              <a:cubicBezTo>
                                <a:pt x="867" y="1189"/>
                                <a:pt x="1324" y="664"/>
                                <a:pt x="1340" y="29"/>
                              </a:cubicBezTo>
                              <a:lnTo>
                                <a:pt x="134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1CDAB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wrap="square" rtlCol="0" anchor="ctr">
                          <a:noAutofit/>
                        </a:bodyPr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pic>
                    <p:nvPicPr>
                      <p:cNvPr id="832" name="图片 831" descr="资源 30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extLst>
                          <a:ext uri="{96DAC541-7B7A-43D3-8B79-37D633B846F1}">
                            <asvg:svgBlip xmlns:asvg="http://schemas.microsoft.com/office/drawing/2016/SVG/main" r:embed="rId31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9649" y="13845"/>
                        <a:ext cx="1155" cy="89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33" name="图片 832" descr="资源 31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extLst>
                          <a:ext uri="{96DAC541-7B7A-43D3-8B79-37D633B846F1}">
                            <asvg:svgBlip xmlns:asvg="http://schemas.microsoft.com/office/drawing/2016/SVG/main" r:embed="rId3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994" y="16628"/>
                        <a:ext cx="698" cy="895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34" name="组合 833"/>
                      <p:cNvGrpSpPr/>
                      <p:nvPr/>
                    </p:nvGrpSpPr>
                    <p:grpSpPr>
                      <a:xfrm>
                        <a:off x="8100" y="18033"/>
                        <a:ext cx="927" cy="823"/>
                        <a:chOff x="10628" y="19486"/>
                        <a:chExt cx="908" cy="805"/>
                      </a:xfrm>
                    </p:grpSpPr>
                    <p:sp>
                      <p:nvSpPr>
                        <p:cNvPr id="835" name="任意多边形 834"/>
                        <p:cNvSpPr/>
                        <p:nvPr/>
                      </p:nvSpPr>
                      <p:spPr>
                        <a:xfrm>
                          <a:off x="10634" y="19785"/>
                          <a:ext cx="639" cy="504"/>
                        </a:xfrm>
                        <a:custGeom>
                          <a:avLst/>
                          <a:gdLst>
                            <a:gd name="connisteX0" fmla="*/ 0 w 405765"/>
                            <a:gd name="connsiteY0" fmla="*/ 281940 h 320040"/>
                            <a:gd name="connisteX1" fmla="*/ 219075 w 405765"/>
                            <a:gd name="connsiteY1" fmla="*/ 318135 h 320040"/>
                            <a:gd name="connisteX2" fmla="*/ 211455 w 405765"/>
                            <a:gd name="connsiteY2" fmla="*/ 272415 h 320040"/>
                            <a:gd name="connisteX3" fmla="*/ 236220 w 405765"/>
                            <a:gd name="connsiteY3" fmla="*/ 306705 h 320040"/>
                            <a:gd name="connisteX4" fmla="*/ 274320 w 405765"/>
                            <a:gd name="connsiteY4" fmla="*/ 320040 h 320040"/>
                            <a:gd name="connisteX5" fmla="*/ 308610 w 405765"/>
                            <a:gd name="connsiteY5" fmla="*/ 308610 h 320040"/>
                            <a:gd name="connisteX6" fmla="*/ 356235 w 405765"/>
                            <a:gd name="connsiteY6" fmla="*/ 281940 h 320040"/>
                            <a:gd name="connisteX7" fmla="*/ 398145 w 405765"/>
                            <a:gd name="connsiteY7" fmla="*/ 253365 h 320040"/>
                            <a:gd name="connisteX8" fmla="*/ 405765 w 405765"/>
                            <a:gd name="connsiteY8" fmla="*/ 236220 h 320040"/>
                            <a:gd name="connisteX9" fmla="*/ 400050 w 405765"/>
                            <a:gd name="connsiteY9" fmla="*/ 201930 h 320040"/>
                            <a:gd name="connisteX10" fmla="*/ 382905 w 405765"/>
                            <a:gd name="connsiteY10" fmla="*/ 179070 h 320040"/>
                            <a:gd name="connisteX11" fmla="*/ 293370 w 405765"/>
                            <a:gd name="connsiteY11" fmla="*/ 219075 h 320040"/>
                            <a:gd name="connisteX12" fmla="*/ 289560 w 405765"/>
                            <a:gd name="connsiteY12" fmla="*/ 219075 h 320040"/>
                            <a:gd name="connisteX13" fmla="*/ 236220 w 405765"/>
                            <a:gd name="connsiteY13" fmla="*/ 97155 h 320040"/>
                            <a:gd name="connisteX14" fmla="*/ 182880 w 405765"/>
                            <a:gd name="connsiteY14" fmla="*/ 51435 h 320040"/>
                            <a:gd name="connisteX15" fmla="*/ 177165 w 405765"/>
                            <a:gd name="connsiteY15" fmla="*/ 43815 h 320040"/>
                            <a:gd name="connisteX16" fmla="*/ 158115 w 405765"/>
                            <a:gd name="connsiteY16" fmla="*/ 17145 h 320040"/>
                            <a:gd name="connisteX17" fmla="*/ 131445 w 405765"/>
                            <a:gd name="connsiteY17" fmla="*/ 5715 h 320040"/>
                            <a:gd name="connisteX18" fmla="*/ 97155 w 405765"/>
                            <a:gd name="connsiteY18" fmla="*/ 0 h 320040"/>
                            <a:gd name="connisteX19" fmla="*/ 83820 w 405765"/>
                            <a:gd name="connsiteY19" fmla="*/ 0 h 320040"/>
                            <a:gd name="connisteX20" fmla="*/ 74295 w 405765"/>
                            <a:gd name="connsiteY20" fmla="*/ 15240 h 320040"/>
                            <a:gd name="connisteX21" fmla="*/ 70485 w 405765"/>
                            <a:gd name="connsiteY21" fmla="*/ 26670 h 320040"/>
                            <a:gd name="connisteX22" fmla="*/ 38100 w 405765"/>
                            <a:gd name="connsiteY22" fmla="*/ 53340 h 320040"/>
                            <a:gd name="connisteX23" fmla="*/ 24765 w 405765"/>
                            <a:gd name="connsiteY23" fmla="*/ 76200 h 320040"/>
                            <a:gd name="connisteX24" fmla="*/ 17145 w 405765"/>
                            <a:gd name="connsiteY24" fmla="*/ 99060 h 320040"/>
                            <a:gd name="connisteX25" fmla="*/ 9525 w 405765"/>
                            <a:gd name="connsiteY25" fmla="*/ 131445 h 320040"/>
                            <a:gd name="connisteX26" fmla="*/ 3810 w 405765"/>
                            <a:gd name="connsiteY26" fmla="*/ 196215 h 320040"/>
                            <a:gd name="connisteX27" fmla="*/ 0 w 405765"/>
                            <a:gd name="connsiteY27" fmla="*/ 247650 h 320040"/>
                            <a:gd name="connisteX28" fmla="*/ 0 w 405765"/>
                            <a:gd name="connsiteY28" fmla="*/ 281940 h 32004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  <a:cxn ang="0">
                              <a:pos x="connisteX20" y="connsiteY20"/>
                            </a:cxn>
                            <a:cxn ang="0">
                              <a:pos x="connisteX21" y="connsiteY21"/>
                            </a:cxn>
                            <a:cxn ang="0">
                              <a:pos x="connisteX22" y="connsiteY22"/>
                            </a:cxn>
                            <a:cxn ang="0">
                              <a:pos x="connisteX23" y="connsiteY23"/>
                            </a:cxn>
                            <a:cxn ang="0">
                              <a:pos x="connisteX24" y="connsiteY24"/>
                            </a:cxn>
                            <a:cxn ang="0">
                              <a:pos x="connisteX25" y="connsiteY25"/>
                            </a:cxn>
                            <a:cxn ang="0">
                              <a:pos x="connisteX26" y="connsiteY26"/>
                            </a:cxn>
                            <a:cxn ang="0">
                              <a:pos x="connisteX27" y="connsiteY27"/>
                            </a:cxn>
                            <a:cxn ang="0">
                              <a:pos x="connisteX28" y="connsiteY28"/>
                            </a:cxn>
                          </a:cxnLst>
                          <a:rect l="l" t="t" r="r" b="b"/>
                          <a:pathLst>
                            <a:path w="405765" h="320040">
                              <a:moveTo>
                                <a:pt x="0" y="281940"/>
                              </a:moveTo>
                              <a:lnTo>
                                <a:pt x="219075" y="318135"/>
                              </a:lnTo>
                              <a:lnTo>
                                <a:pt x="211455" y="272415"/>
                              </a:lnTo>
                              <a:lnTo>
                                <a:pt x="236220" y="306705"/>
                              </a:lnTo>
                              <a:lnTo>
                                <a:pt x="274320" y="320040"/>
                              </a:lnTo>
                              <a:lnTo>
                                <a:pt x="308610" y="308610"/>
                              </a:lnTo>
                              <a:lnTo>
                                <a:pt x="356235" y="281940"/>
                              </a:lnTo>
                              <a:lnTo>
                                <a:pt x="398145" y="253365"/>
                              </a:lnTo>
                              <a:lnTo>
                                <a:pt x="405765" y="236220"/>
                              </a:lnTo>
                              <a:lnTo>
                                <a:pt x="400050" y="201930"/>
                              </a:lnTo>
                              <a:lnTo>
                                <a:pt x="382905" y="179070"/>
                              </a:lnTo>
                              <a:lnTo>
                                <a:pt x="293370" y="219075"/>
                              </a:lnTo>
                              <a:lnTo>
                                <a:pt x="289560" y="219075"/>
                              </a:lnTo>
                              <a:lnTo>
                                <a:pt x="236220" y="97155"/>
                              </a:lnTo>
                              <a:lnTo>
                                <a:pt x="182880" y="51435"/>
                              </a:lnTo>
                              <a:lnTo>
                                <a:pt x="177165" y="43815"/>
                              </a:lnTo>
                              <a:lnTo>
                                <a:pt x="158115" y="17145"/>
                              </a:lnTo>
                              <a:lnTo>
                                <a:pt x="131445" y="5715"/>
                              </a:lnTo>
                              <a:lnTo>
                                <a:pt x="97155" y="0"/>
                              </a:lnTo>
                              <a:lnTo>
                                <a:pt x="83820" y="0"/>
                              </a:lnTo>
                              <a:lnTo>
                                <a:pt x="74295" y="15240"/>
                              </a:lnTo>
                              <a:lnTo>
                                <a:pt x="70485" y="26670"/>
                              </a:lnTo>
                              <a:lnTo>
                                <a:pt x="38100" y="53340"/>
                              </a:lnTo>
                              <a:lnTo>
                                <a:pt x="24765" y="76200"/>
                              </a:lnTo>
                              <a:lnTo>
                                <a:pt x="17145" y="99060"/>
                              </a:lnTo>
                              <a:lnTo>
                                <a:pt x="9525" y="131445"/>
                              </a:lnTo>
                              <a:lnTo>
                                <a:pt x="3810" y="196215"/>
                              </a:lnTo>
                              <a:lnTo>
                                <a:pt x="0" y="247650"/>
                              </a:lnTo>
                              <a:lnTo>
                                <a:pt x="0" y="28194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36" name="图片 835" descr="资源 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>
                          <a:extLst>
                            <a:ext uri="{96DAC541-7B7A-43D3-8B79-37D633B846F1}">
                              <asvg:svgBlip xmlns:asvg="http://schemas.microsoft.com/office/drawing/2016/SVG/main" r:embed="rId3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28" y="19486"/>
                          <a:ext cx="908" cy="805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837" name="组合 836"/>
                      <p:cNvGrpSpPr/>
                      <p:nvPr/>
                    </p:nvGrpSpPr>
                    <p:grpSpPr>
                      <a:xfrm>
                        <a:off x="7623" y="17523"/>
                        <a:ext cx="639" cy="687"/>
                        <a:chOff x="7623" y="17523"/>
                        <a:chExt cx="639" cy="687"/>
                      </a:xfrm>
                    </p:grpSpPr>
                    <p:cxnSp>
                      <p:nvCxnSpPr>
                        <p:cNvPr id="838" name="曲线连接符 837"/>
                        <p:cNvCxnSpPr/>
                        <p:nvPr/>
                      </p:nvCxnSpPr>
                      <p:spPr>
                        <a:xfrm rot="5400000" flipV="1">
                          <a:off x="7567" y="17700"/>
                          <a:ext cx="567" cy="454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44964F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9" name="曲线连接符 838"/>
                        <p:cNvCxnSpPr/>
                        <p:nvPr/>
                      </p:nvCxnSpPr>
                      <p:spPr>
                        <a:xfrm rot="5400000" flipH="1">
                          <a:off x="7752" y="17523"/>
                          <a:ext cx="510" cy="51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459950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pic>
                    <p:nvPicPr>
                      <p:cNvPr id="840" name="图片 839" descr="资源 35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extLst>
                          <a:ext uri="{96DAC541-7B7A-43D3-8B79-37D633B846F1}">
                            <asvg:svgBlip xmlns:asvg="http://schemas.microsoft.com/office/drawing/2016/SVG/main" r:embed="rId3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0965" y="16750"/>
                        <a:ext cx="834" cy="743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41" name="组合 840"/>
                      <p:cNvGrpSpPr/>
                      <p:nvPr/>
                    </p:nvGrpSpPr>
                    <p:grpSpPr>
                      <a:xfrm>
                        <a:off x="11005" y="15361"/>
                        <a:ext cx="987" cy="680"/>
                        <a:chOff x="9855" y="19656"/>
                        <a:chExt cx="1110" cy="764"/>
                      </a:xfrm>
                    </p:grpSpPr>
                    <p:sp>
                      <p:nvSpPr>
                        <p:cNvPr id="842" name="任意多边形 841"/>
                        <p:cNvSpPr/>
                        <p:nvPr/>
                      </p:nvSpPr>
                      <p:spPr>
                        <a:xfrm>
                          <a:off x="9861" y="20013"/>
                          <a:ext cx="654" cy="399"/>
                        </a:xfrm>
                        <a:custGeom>
                          <a:avLst/>
                          <a:gdLst>
                            <a:gd name="connisteX0" fmla="*/ 0 w 415290"/>
                            <a:gd name="connsiteY0" fmla="*/ 249555 h 253365"/>
                            <a:gd name="connisteX1" fmla="*/ 215265 w 415290"/>
                            <a:gd name="connsiteY1" fmla="*/ 251460 h 253365"/>
                            <a:gd name="connisteX2" fmla="*/ 215265 w 415290"/>
                            <a:gd name="connsiteY2" fmla="*/ 224790 h 253365"/>
                            <a:gd name="connisteX3" fmla="*/ 234315 w 415290"/>
                            <a:gd name="connsiteY3" fmla="*/ 251460 h 253365"/>
                            <a:gd name="connisteX4" fmla="*/ 340995 w 415290"/>
                            <a:gd name="connsiteY4" fmla="*/ 253365 h 253365"/>
                            <a:gd name="connisteX5" fmla="*/ 415290 w 415290"/>
                            <a:gd name="connsiteY5" fmla="*/ 180975 h 253365"/>
                            <a:gd name="connisteX6" fmla="*/ 401955 w 415290"/>
                            <a:gd name="connsiteY6" fmla="*/ 139065 h 253365"/>
                            <a:gd name="connisteX7" fmla="*/ 382905 w 415290"/>
                            <a:gd name="connsiteY7" fmla="*/ 123825 h 253365"/>
                            <a:gd name="connisteX8" fmla="*/ 297180 w 415290"/>
                            <a:gd name="connsiteY8" fmla="*/ 169545 h 253365"/>
                            <a:gd name="connisteX9" fmla="*/ 257175 w 415290"/>
                            <a:gd name="connsiteY9" fmla="*/ 104775 h 253365"/>
                            <a:gd name="connisteX10" fmla="*/ 220980 w 415290"/>
                            <a:gd name="connsiteY10" fmla="*/ 49530 h 253365"/>
                            <a:gd name="connisteX11" fmla="*/ 190500 w 415290"/>
                            <a:gd name="connsiteY11" fmla="*/ 30480 h 253365"/>
                            <a:gd name="connisteX12" fmla="*/ 148590 w 415290"/>
                            <a:gd name="connsiteY12" fmla="*/ 13335 h 253365"/>
                            <a:gd name="connisteX13" fmla="*/ 83820 w 415290"/>
                            <a:gd name="connsiteY13" fmla="*/ 0 h 253365"/>
                            <a:gd name="connisteX14" fmla="*/ 66675 w 415290"/>
                            <a:gd name="connsiteY14" fmla="*/ 0 h 253365"/>
                            <a:gd name="connisteX15" fmla="*/ 28575 w 415290"/>
                            <a:gd name="connsiteY15" fmla="*/ 28575 h 253365"/>
                            <a:gd name="connisteX16" fmla="*/ 9525 w 415290"/>
                            <a:gd name="connsiteY16" fmla="*/ 72390 h 253365"/>
                            <a:gd name="connisteX17" fmla="*/ 1905 w 415290"/>
                            <a:gd name="connsiteY17" fmla="*/ 112395 h 253365"/>
                            <a:gd name="connisteX18" fmla="*/ 0 w 415290"/>
                            <a:gd name="connsiteY18" fmla="*/ 163830 h 253365"/>
                            <a:gd name="connisteX19" fmla="*/ 0 w 415290"/>
                            <a:gd name="connsiteY19" fmla="*/ 249555 h 253365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</a:cxnLst>
                          <a:rect l="l" t="t" r="r" b="b"/>
                          <a:pathLst>
                            <a:path w="415290" h="253365">
                              <a:moveTo>
                                <a:pt x="0" y="249555"/>
                              </a:moveTo>
                              <a:lnTo>
                                <a:pt x="215265" y="251460"/>
                              </a:lnTo>
                              <a:lnTo>
                                <a:pt x="215265" y="224790"/>
                              </a:lnTo>
                              <a:lnTo>
                                <a:pt x="234315" y="251460"/>
                              </a:lnTo>
                              <a:lnTo>
                                <a:pt x="340995" y="253365"/>
                              </a:lnTo>
                              <a:lnTo>
                                <a:pt x="415290" y="180975"/>
                              </a:lnTo>
                              <a:lnTo>
                                <a:pt x="401955" y="139065"/>
                              </a:lnTo>
                              <a:lnTo>
                                <a:pt x="382905" y="123825"/>
                              </a:lnTo>
                              <a:lnTo>
                                <a:pt x="297180" y="169545"/>
                              </a:lnTo>
                              <a:lnTo>
                                <a:pt x="257175" y="104775"/>
                              </a:lnTo>
                              <a:lnTo>
                                <a:pt x="220980" y="49530"/>
                              </a:lnTo>
                              <a:lnTo>
                                <a:pt x="190500" y="30480"/>
                              </a:lnTo>
                              <a:lnTo>
                                <a:pt x="148590" y="13335"/>
                              </a:lnTo>
                              <a:lnTo>
                                <a:pt x="83820" y="0"/>
                              </a:lnTo>
                              <a:lnTo>
                                <a:pt x="66675" y="0"/>
                              </a:lnTo>
                              <a:lnTo>
                                <a:pt x="28575" y="28575"/>
                              </a:lnTo>
                              <a:lnTo>
                                <a:pt x="9525" y="72390"/>
                              </a:lnTo>
                              <a:lnTo>
                                <a:pt x="1905" y="112395"/>
                              </a:lnTo>
                              <a:lnTo>
                                <a:pt x="0" y="163830"/>
                              </a:lnTo>
                              <a:lnTo>
                                <a:pt x="0" y="24955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43" name="图片 842" descr="资源 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>
                          <a:extLst>
                            <a:ext uri="{96DAC541-7B7A-43D3-8B79-37D633B846F1}">
                              <asvg:svgBlip xmlns:asvg="http://schemas.microsoft.com/office/drawing/2016/SVG/main" r:embed="rId39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855" y="19656"/>
                          <a:ext cx="1110" cy="765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844" name="组合 843"/>
                      <p:cNvGrpSpPr/>
                      <p:nvPr/>
                    </p:nvGrpSpPr>
                    <p:grpSpPr>
                      <a:xfrm>
                        <a:off x="6825" y="15159"/>
                        <a:ext cx="1109" cy="728"/>
                        <a:chOff x="8903" y="20128"/>
                        <a:chExt cx="1700" cy="1196"/>
                      </a:xfrm>
                    </p:grpSpPr>
                    <p:sp>
                      <p:nvSpPr>
                        <p:cNvPr id="845" name="任意多边形 844"/>
                        <p:cNvSpPr/>
                        <p:nvPr/>
                      </p:nvSpPr>
                      <p:spPr>
                        <a:xfrm>
                          <a:off x="8908" y="20627"/>
                          <a:ext cx="1044" cy="688"/>
                        </a:xfrm>
                        <a:custGeom>
                          <a:avLst/>
                          <a:gdLst>
                            <a:gd name="connisteX0" fmla="*/ 0 w 662940"/>
                            <a:gd name="connsiteY0" fmla="*/ 434340 h 436880"/>
                            <a:gd name="connisteX1" fmla="*/ 358140 w 662940"/>
                            <a:gd name="connsiteY1" fmla="*/ 424180 h 436880"/>
                            <a:gd name="connisteX2" fmla="*/ 353060 w 662940"/>
                            <a:gd name="connsiteY2" fmla="*/ 347980 h 436880"/>
                            <a:gd name="connisteX3" fmla="*/ 401320 w 662940"/>
                            <a:gd name="connsiteY3" fmla="*/ 406400 h 436880"/>
                            <a:gd name="connisteX4" fmla="*/ 449580 w 662940"/>
                            <a:gd name="connsiteY4" fmla="*/ 436880 h 436880"/>
                            <a:gd name="connisteX5" fmla="*/ 513080 w 662940"/>
                            <a:gd name="connsiteY5" fmla="*/ 426720 h 436880"/>
                            <a:gd name="connisteX6" fmla="*/ 612140 w 662940"/>
                            <a:gd name="connsiteY6" fmla="*/ 353060 h 436880"/>
                            <a:gd name="connisteX7" fmla="*/ 662940 w 662940"/>
                            <a:gd name="connsiteY7" fmla="*/ 294640 h 436880"/>
                            <a:gd name="connisteX8" fmla="*/ 635000 w 662940"/>
                            <a:gd name="connsiteY8" fmla="*/ 226060 h 436880"/>
                            <a:gd name="connisteX9" fmla="*/ 601980 w 662940"/>
                            <a:gd name="connsiteY9" fmla="*/ 205740 h 436880"/>
                            <a:gd name="connisteX10" fmla="*/ 485140 w 662940"/>
                            <a:gd name="connsiteY10" fmla="*/ 281940 h 436880"/>
                            <a:gd name="connisteX11" fmla="*/ 421640 w 662940"/>
                            <a:gd name="connsiteY11" fmla="*/ 172720 h 436880"/>
                            <a:gd name="connisteX12" fmla="*/ 373380 w 662940"/>
                            <a:gd name="connsiteY12" fmla="*/ 88900 h 436880"/>
                            <a:gd name="connisteX13" fmla="*/ 317500 w 662940"/>
                            <a:gd name="connsiteY13" fmla="*/ 50800 h 436880"/>
                            <a:gd name="connisteX14" fmla="*/ 254000 w 662940"/>
                            <a:gd name="connsiteY14" fmla="*/ 20320 h 436880"/>
                            <a:gd name="connisteX15" fmla="*/ 144780 w 662940"/>
                            <a:gd name="connsiteY15" fmla="*/ 0 h 436880"/>
                            <a:gd name="connisteX16" fmla="*/ 104140 w 662940"/>
                            <a:gd name="connsiteY16" fmla="*/ 15240 h 436880"/>
                            <a:gd name="connisteX17" fmla="*/ 58420 w 662940"/>
                            <a:gd name="connsiteY17" fmla="*/ 53340 h 436880"/>
                            <a:gd name="connisteX18" fmla="*/ 33020 w 662940"/>
                            <a:gd name="connsiteY18" fmla="*/ 111760 h 436880"/>
                            <a:gd name="connisteX19" fmla="*/ 15240 w 662940"/>
                            <a:gd name="connsiteY19" fmla="*/ 200660 h 436880"/>
                            <a:gd name="connisteX20" fmla="*/ 5080 w 662940"/>
                            <a:gd name="connsiteY20" fmla="*/ 309880 h 436880"/>
                            <a:gd name="connisteX21" fmla="*/ 0 w 662940"/>
                            <a:gd name="connsiteY21" fmla="*/ 434340 h 436880"/>
                          </a:gdLst>
                          <a:ahLst/>
                          <a:cxnLst>
                            <a:cxn ang="0">
                              <a:pos x="connisteX0" y="connsiteY0"/>
                            </a:cxn>
                            <a:cxn ang="0">
                              <a:pos x="connisteX1" y="connsiteY1"/>
                            </a:cxn>
                            <a:cxn ang="0">
                              <a:pos x="connisteX2" y="connsiteY2"/>
                            </a:cxn>
                            <a:cxn ang="0">
                              <a:pos x="connisteX3" y="connsiteY3"/>
                            </a:cxn>
                            <a:cxn ang="0">
                              <a:pos x="connisteX4" y="connsiteY4"/>
                            </a:cxn>
                            <a:cxn ang="0">
                              <a:pos x="connisteX5" y="connsiteY5"/>
                            </a:cxn>
                            <a:cxn ang="0">
                              <a:pos x="connisteX6" y="connsiteY6"/>
                            </a:cxn>
                            <a:cxn ang="0">
                              <a:pos x="connisteX7" y="connsiteY7"/>
                            </a:cxn>
                            <a:cxn ang="0">
                              <a:pos x="connisteX8" y="connsiteY8"/>
                            </a:cxn>
                            <a:cxn ang="0">
                              <a:pos x="connisteX9" y="connsiteY9"/>
                            </a:cxn>
                            <a:cxn ang="0">
                              <a:pos x="connisteX10" y="connsiteY10"/>
                            </a:cxn>
                            <a:cxn ang="0">
                              <a:pos x="connisteX11" y="connsiteY11"/>
                            </a:cxn>
                            <a:cxn ang="0">
                              <a:pos x="connisteX12" y="connsiteY12"/>
                            </a:cxn>
                            <a:cxn ang="0">
                              <a:pos x="connisteX13" y="connsiteY13"/>
                            </a:cxn>
                            <a:cxn ang="0">
                              <a:pos x="connisteX14" y="connsiteY14"/>
                            </a:cxn>
                            <a:cxn ang="0">
                              <a:pos x="connisteX15" y="connsiteY15"/>
                            </a:cxn>
                            <a:cxn ang="0">
                              <a:pos x="connisteX16" y="connsiteY16"/>
                            </a:cxn>
                            <a:cxn ang="0">
                              <a:pos x="connisteX17" y="connsiteY17"/>
                            </a:cxn>
                            <a:cxn ang="0">
                              <a:pos x="connisteX18" y="connsiteY18"/>
                            </a:cxn>
                            <a:cxn ang="0">
                              <a:pos x="connisteX19" y="connsiteY19"/>
                            </a:cxn>
                            <a:cxn ang="0">
                              <a:pos x="connisteX20" y="connsiteY20"/>
                            </a:cxn>
                            <a:cxn ang="0">
                              <a:pos x="connisteX21" y="connsiteY21"/>
                            </a:cxn>
                          </a:cxnLst>
                          <a:rect l="l" t="t" r="r" b="b"/>
                          <a:pathLst>
                            <a:path w="662940" h="436880">
                              <a:moveTo>
                                <a:pt x="0" y="434340"/>
                              </a:moveTo>
                              <a:lnTo>
                                <a:pt x="358140" y="424180"/>
                              </a:lnTo>
                              <a:lnTo>
                                <a:pt x="353060" y="347980"/>
                              </a:lnTo>
                              <a:lnTo>
                                <a:pt x="401320" y="406400"/>
                              </a:lnTo>
                              <a:lnTo>
                                <a:pt x="449580" y="436880"/>
                              </a:lnTo>
                              <a:lnTo>
                                <a:pt x="513080" y="426720"/>
                              </a:lnTo>
                              <a:lnTo>
                                <a:pt x="612140" y="353060"/>
                              </a:lnTo>
                              <a:lnTo>
                                <a:pt x="662940" y="294640"/>
                              </a:lnTo>
                              <a:lnTo>
                                <a:pt x="635000" y="226060"/>
                              </a:lnTo>
                              <a:lnTo>
                                <a:pt x="601980" y="205740"/>
                              </a:lnTo>
                              <a:lnTo>
                                <a:pt x="485140" y="281940"/>
                              </a:lnTo>
                              <a:lnTo>
                                <a:pt x="421640" y="172720"/>
                              </a:lnTo>
                              <a:lnTo>
                                <a:pt x="373380" y="88900"/>
                              </a:lnTo>
                              <a:lnTo>
                                <a:pt x="317500" y="50800"/>
                              </a:lnTo>
                              <a:lnTo>
                                <a:pt x="254000" y="20320"/>
                              </a:lnTo>
                              <a:lnTo>
                                <a:pt x="144780" y="0"/>
                              </a:lnTo>
                              <a:lnTo>
                                <a:pt x="104140" y="15240"/>
                              </a:lnTo>
                              <a:lnTo>
                                <a:pt x="58420" y="53340"/>
                              </a:lnTo>
                              <a:lnTo>
                                <a:pt x="33020" y="111760"/>
                              </a:lnTo>
                              <a:lnTo>
                                <a:pt x="15240" y="200660"/>
                              </a:lnTo>
                              <a:lnTo>
                                <a:pt x="5080" y="309880"/>
                              </a:lnTo>
                              <a:lnTo>
                                <a:pt x="0" y="43434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pic>
                      <p:nvPicPr>
                        <p:cNvPr id="846" name="图片 845" descr="资源 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>
                          <a:extLst>
                            <a:ext uri="{96DAC541-7B7A-43D3-8B79-37D633B846F1}">
                              <asvg:svgBlip xmlns:asvg="http://schemas.microsoft.com/office/drawing/2016/SVG/main" r:embed="rId41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903" y="20128"/>
                          <a:ext cx="1701" cy="1196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847" name="图片 846" descr="资源 39"/>
                      <p:cNvPicPr>
                        <a:picLocks noChangeAspect="1"/>
                      </p:cNvPicPr>
                      <p:nvPr/>
                    </p:nvPicPr>
                    <p:blipFill>
                      <a:blip r:embed="rId42">
                        <a:extLst>
                          <a:ext uri="{96DAC541-7B7A-43D3-8B79-37D633B846F1}">
                            <asvg:svgBlip xmlns:asvg="http://schemas.microsoft.com/office/drawing/2016/SVG/main" r:embed="rId4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228" y="13845"/>
                        <a:ext cx="837" cy="81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848" name="组合 847"/>
                      <p:cNvGrpSpPr/>
                      <p:nvPr/>
                    </p:nvGrpSpPr>
                    <p:grpSpPr>
                      <a:xfrm>
                        <a:off x="7522" y="14479"/>
                        <a:ext cx="730" cy="662"/>
                        <a:chOff x="7403" y="14447"/>
                        <a:chExt cx="730" cy="662"/>
                      </a:xfrm>
                    </p:grpSpPr>
                    <p:cxnSp>
                      <p:nvCxnSpPr>
                        <p:cNvPr id="849" name="曲线连接符 848"/>
                        <p:cNvCxnSpPr/>
                        <p:nvPr/>
                      </p:nvCxnSpPr>
                      <p:spPr>
                        <a:xfrm rot="10380000" flipV="1">
                          <a:off x="7403" y="14447"/>
                          <a:ext cx="597" cy="52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527E74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0" name="曲线连接符 849"/>
                        <p:cNvCxnSpPr/>
                        <p:nvPr/>
                      </p:nvCxnSpPr>
                      <p:spPr>
                        <a:xfrm rot="10560000" flipH="1">
                          <a:off x="7641" y="14579"/>
                          <a:ext cx="493" cy="531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527E74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851" name="组合 850"/>
                      <p:cNvGrpSpPr/>
                      <p:nvPr/>
                    </p:nvGrpSpPr>
                    <p:grpSpPr>
                      <a:xfrm rot="16740000">
                        <a:off x="10563" y="14704"/>
                        <a:ext cx="730" cy="662"/>
                        <a:chOff x="7403" y="14447"/>
                        <a:chExt cx="730" cy="662"/>
                      </a:xfrm>
                    </p:grpSpPr>
                    <p:cxnSp>
                      <p:nvCxnSpPr>
                        <p:cNvPr id="852" name="曲线连接符 851"/>
                        <p:cNvCxnSpPr/>
                        <p:nvPr/>
                      </p:nvCxnSpPr>
                      <p:spPr>
                        <a:xfrm rot="10380000" flipV="1">
                          <a:off x="7403" y="14447"/>
                          <a:ext cx="597" cy="520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6F7389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3" name="曲线连接符 852"/>
                        <p:cNvCxnSpPr/>
                        <p:nvPr/>
                      </p:nvCxnSpPr>
                      <p:spPr>
                        <a:xfrm rot="10560000" flipH="1">
                          <a:off x="7641" y="14579"/>
                          <a:ext cx="493" cy="531"/>
                        </a:xfrm>
                        <a:prstGeom prst="curvedConnector2">
                          <a:avLst/>
                        </a:prstGeom>
                        <a:ln>
                          <a:solidFill>
                            <a:srgbClr val="6F7389"/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854" name="组合 853"/>
                      <p:cNvGrpSpPr/>
                      <p:nvPr/>
                    </p:nvGrpSpPr>
                    <p:grpSpPr>
                      <a:xfrm rot="4560000">
                        <a:off x="10614" y="17567"/>
                        <a:ext cx="639" cy="687"/>
                        <a:chOff x="7623" y="17523"/>
                        <a:chExt cx="639" cy="687"/>
                      </a:xfrm>
                    </p:grpSpPr>
                    <p:cxnSp>
                      <p:nvCxnSpPr>
                        <p:cNvPr id="855" name="曲线连接符 854"/>
                        <p:cNvCxnSpPr/>
                        <p:nvPr/>
                      </p:nvCxnSpPr>
                      <p:spPr>
                        <a:xfrm rot="5400000" flipV="1">
                          <a:off x="7567" y="17700"/>
                          <a:ext cx="567" cy="454"/>
                        </a:xfrm>
                        <a:prstGeom prst="curvedConnector2">
                          <a:avLst/>
                        </a:prstGeom>
                        <a:ln>
                          <a:solidFill>
                            <a:schemeClr val="accent2">
                              <a:lumMod val="75000"/>
                            </a:schemeClr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6" name="曲线连接符 855"/>
                        <p:cNvCxnSpPr/>
                        <p:nvPr/>
                      </p:nvCxnSpPr>
                      <p:spPr>
                        <a:xfrm rot="5400000" flipH="1">
                          <a:off x="7752" y="17523"/>
                          <a:ext cx="510" cy="510"/>
                        </a:xfrm>
                        <a:prstGeom prst="curvedConnector2">
                          <a:avLst/>
                        </a:prstGeom>
                        <a:ln>
                          <a:solidFill>
                            <a:schemeClr val="accent2">
                              <a:lumMod val="75000"/>
                            </a:schemeClr>
                          </a:solidFill>
                          <a:headEnd type="none"/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857" name="组合 856"/>
                    <p:cNvGrpSpPr/>
                    <p:nvPr/>
                  </p:nvGrpSpPr>
                  <p:grpSpPr>
                    <a:xfrm>
                      <a:off x="7610" y="19733"/>
                      <a:ext cx="1022" cy="734"/>
                      <a:chOff x="11083" y="21618"/>
                      <a:chExt cx="4306" cy="3090"/>
                    </a:xfrm>
                  </p:grpSpPr>
                  <p:sp>
                    <p:nvSpPr>
                      <p:cNvPr id="858" name="任意多边形 857"/>
                      <p:cNvSpPr/>
                      <p:nvPr/>
                    </p:nvSpPr>
                    <p:spPr>
                      <a:xfrm>
                        <a:off x="11106" y="22913"/>
                        <a:ext cx="2472" cy="1769"/>
                      </a:xfrm>
                      <a:custGeom>
                        <a:avLst/>
                        <a:gdLst>
                          <a:gd name="connisteX0" fmla="*/ 0 w 1569720"/>
                          <a:gd name="connsiteY0" fmla="*/ 1069975 h 1123315"/>
                          <a:gd name="connisteX1" fmla="*/ 899160 w 1569720"/>
                          <a:gd name="connsiteY1" fmla="*/ 1085215 h 1123315"/>
                          <a:gd name="connisteX2" fmla="*/ 891540 w 1569720"/>
                          <a:gd name="connsiteY2" fmla="*/ 948690 h 1123315"/>
                          <a:gd name="connisteX3" fmla="*/ 963930 w 1569720"/>
                          <a:gd name="connsiteY3" fmla="*/ 1047115 h 1123315"/>
                          <a:gd name="connisteX4" fmla="*/ 1036320 w 1569720"/>
                          <a:gd name="connsiteY4" fmla="*/ 1096645 h 1123315"/>
                          <a:gd name="connisteX5" fmla="*/ 1127760 w 1569720"/>
                          <a:gd name="connsiteY5" fmla="*/ 1123315 h 1123315"/>
                          <a:gd name="connisteX6" fmla="*/ 1234440 w 1569720"/>
                          <a:gd name="connsiteY6" fmla="*/ 1104265 h 1123315"/>
                          <a:gd name="connisteX7" fmla="*/ 1390650 w 1569720"/>
                          <a:gd name="connsiteY7" fmla="*/ 993775 h 1123315"/>
                          <a:gd name="connisteX8" fmla="*/ 1569720 w 1569720"/>
                          <a:gd name="connsiteY8" fmla="*/ 842010 h 1123315"/>
                          <a:gd name="connisteX9" fmla="*/ 1558290 w 1569720"/>
                          <a:gd name="connsiteY9" fmla="*/ 727710 h 1123315"/>
                          <a:gd name="connisteX10" fmla="*/ 1497330 w 1569720"/>
                          <a:gd name="connsiteY10" fmla="*/ 628650 h 1123315"/>
                          <a:gd name="connisteX11" fmla="*/ 1440180 w 1569720"/>
                          <a:gd name="connsiteY11" fmla="*/ 598170 h 1123315"/>
                          <a:gd name="connisteX12" fmla="*/ 1188720 w 1569720"/>
                          <a:gd name="connsiteY12" fmla="*/ 739140 h 1123315"/>
                          <a:gd name="connisteX13" fmla="*/ 1150620 w 1569720"/>
                          <a:gd name="connsiteY13" fmla="*/ 681990 h 1123315"/>
                          <a:gd name="connisteX14" fmla="*/ 1047750 w 1569720"/>
                          <a:gd name="connsiteY14" fmla="*/ 419100 h 1123315"/>
                          <a:gd name="connisteX15" fmla="*/ 979170 w 1569720"/>
                          <a:gd name="connsiteY15" fmla="*/ 281940 h 1123315"/>
                          <a:gd name="connisteX16" fmla="*/ 899160 w 1569720"/>
                          <a:gd name="connsiteY16" fmla="*/ 186690 h 1123315"/>
                          <a:gd name="connisteX17" fmla="*/ 762000 w 1569720"/>
                          <a:gd name="connsiteY17" fmla="*/ 99060 h 1123315"/>
                          <a:gd name="connisteX18" fmla="*/ 636270 w 1569720"/>
                          <a:gd name="connsiteY18" fmla="*/ 53340 h 1123315"/>
                          <a:gd name="connisteX19" fmla="*/ 502920 w 1569720"/>
                          <a:gd name="connsiteY19" fmla="*/ 7620 h 1123315"/>
                          <a:gd name="connisteX20" fmla="*/ 350520 w 1569720"/>
                          <a:gd name="connsiteY20" fmla="*/ 0 h 1123315"/>
                          <a:gd name="connisteX21" fmla="*/ 240030 w 1569720"/>
                          <a:gd name="connsiteY21" fmla="*/ 57150 h 1123315"/>
                          <a:gd name="connisteX22" fmla="*/ 114300 w 1569720"/>
                          <a:gd name="connsiteY22" fmla="*/ 198120 h 1123315"/>
                          <a:gd name="connisteX23" fmla="*/ 49530 w 1569720"/>
                          <a:gd name="connsiteY23" fmla="*/ 400050 h 1123315"/>
                          <a:gd name="connisteX24" fmla="*/ 22860 w 1569720"/>
                          <a:gd name="connsiteY24" fmla="*/ 643890 h 1123315"/>
                          <a:gd name="connisteX25" fmla="*/ 7620 w 1569720"/>
                          <a:gd name="connsiteY25" fmla="*/ 861060 h 1123315"/>
                          <a:gd name="connisteX26" fmla="*/ 0 w 1569720"/>
                          <a:gd name="connsiteY26" fmla="*/ 1069975 h 1123315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  <a:cxn ang="0">
                            <a:pos x="connisteX4" y="connsiteY4"/>
                          </a:cxn>
                          <a:cxn ang="0">
                            <a:pos x="connisteX5" y="connsiteY5"/>
                          </a:cxn>
                          <a:cxn ang="0">
                            <a:pos x="connisteX6" y="connsiteY6"/>
                          </a:cxn>
                          <a:cxn ang="0">
                            <a:pos x="connisteX7" y="connsiteY7"/>
                          </a:cxn>
                          <a:cxn ang="0">
                            <a:pos x="connisteX8" y="connsiteY8"/>
                          </a:cxn>
                          <a:cxn ang="0">
                            <a:pos x="connisteX9" y="connsiteY9"/>
                          </a:cxn>
                          <a:cxn ang="0">
                            <a:pos x="connisteX10" y="connsiteY10"/>
                          </a:cxn>
                          <a:cxn ang="0">
                            <a:pos x="connisteX11" y="connsiteY11"/>
                          </a:cxn>
                          <a:cxn ang="0">
                            <a:pos x="connisteX12" y="connsiteY12"/>
                          </a:cxn>
                          <a:cxn ang="0">
                            <a:pos x="connisteX13" y="connsiteY13"/>
                          </a:cxn>
                          <a:cxn ang="0">
                            <a:pos x="connisteX14" y="connsiteY14"/>
                          </a:cxn>
                          <a:cxn ang="0">
                            <a:pos x="connisteX15" y="connsiteY15"/>
                          </a:cxn>
                          <a:cxn ang="0">
                            <a:pos x="connisteX16" y="connsiteY16"/>
                          </a:cxn>
                          <a:cxn ang="0">
                            <a:pos x="connisteX17" y="connsiteY17"/>
                          </a:cxn>
                          <a:cxn ang="0">
                            <a:pos x="connisteX18" y="connsiteY18"/>
                          </a:cxn>
                          <a:cxn ang="0">
                            <a:pos x="connisteX19" y="connsiteY19"/>
                          </a:cxn>
                          <a:cxn ang="0">
                            <a:pos x="connisteX20" y="connsiteY20"/>
                          </a:cxn>
                          <a:cxn ang="0">
                            <a:pos x="connisteX21" y="connsiteY21"/>
                          </a:cxn>
                          <a:cxn ang="0">
                            <a:pos x="connisteX22" y="connsiteY22"/>
                          </a:cxn>
                          <a:cxn ang="0">
                            <a:pos x="connisteX23" y="connsiteY23"/>
                          </a:cxn>
                          <a:cxn ang="0">
                            <a:pos x="connisteX24" y="connsiteY24"/>
                          </a:cxn>
                          <a:cxn ang="0">
                            <a:pos x="connisteX25" y="connsiteY25"/>
                          </a:cxn>
                          <a:cxn ang="0">
                            <a:pos x="connisteX26" y="connsiteY26"/>
                          </a:cxn>
                        </a:cxnLst>
                        <a:rect l="l" t="t" r="r" b="b"/>
                        <a:pathLst>
                          <a:path w="1569720" h="1123315">
                            <a:moveTo>
                              <a:pt x="0" y="1069975"/>
                            </a:moveTo>
                            <a:lnTo>
                              <a:pt x="899160" y="1085215"/>
                            </a:lnTo>
                            <a:lnTo>
                              <a:pt x="891540" y="948690"/>
                            </a:lnTo>
                            <a:lnTo>
                              <a:pt x="963930" y="1047115"/>
                            </a:lnTo>
                            <a:lnTo>
                              <a:pt x="1036320" y="1096645"/>
                            </a:lnTo>
                            <a:lnTo>
                              <a:pt x="1127760" y="1123315"/>
                            </a:lnTo>
                            <a:lnTo>
                              <a:pt x="1234440" y="1104265"/>
                            </a:lnTo>
                            <a:lnTo>
                              <a:pt x="1390650" y="993775"/>
                            </a:lnTo>
                            <a:lnTo>
                              <a:pt x="1569720" y="842010"/>
                            </a:lnTo>
                            <a:lnTo>
                              <a:pt x="1558290" y="727710"/>
                            </a:lnTo>
                            <a:lnTo>
                              <a:pt x="1497330" y="628650"/>
                            </a:lnTo>
                            <a:lnTo>
                              <a:pt x="1440180" y="598170"/>
                            </a:lnTo>
                            <a:lnTo>
                              <a:pt x="1188720" y="739140"/>
                            </a:lnTo>
                            <a:lnTo>
                              <a:pt x="1150620" y="681990"/>
                            </a:lnTo>
                            <a:lnTo>
                              <a:pt x="1047750" y="419100"/>
                            </a:lnTo>
                            <a:lnTo>
                              <a:pt x="979170" y="281940"/>
                            </a:lnTo>
                            <a:lnTo>
                              <a:pt x="899160" y="186690"/>
                            </a:lnTo>
                            <a:lnTo>
                              <a:pt x="762000" y="99060"/>
                            </a:lnTo>
                            <a:lnTo>
                              <a:pt x="636270" y="53340"/>
                            </a:lnTo>
                            <a:lnTo>
                              <a:pt x="502920" y="7620"/>
                            </a:lnTo>
                            <a:lnTo>
                              <a:pt x="350520" y="0"/>
                            </a:lnTo>
                            <a:lnTo>
                              <a:pt x="240030" y="57150"/>
                            </a:lnTo>
                            <a:lnTo>
                              <a:pt x="114300" y="198120"/>
                            </a:lnTo>
                            <a:lnTo>
                              <a:pt x="49530" y="400050"/>
                            </a:lnTo>
                            <a:lnTo>
                              <a:pt x="22860" y="643890"/>
                            </a:lnTo>
                            <a:lnTo>
                              <a:pt x="7620" y="861060"/>
                            </a:lnTo>
                            <a:lnTo>
                              <a:pt x="0" y="1069975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859" name="图片 858" descr="资源 52"/>
                      <p:cNvPicPr>
                        <a:picLocks noChangeAspect="1"/>
                      </p:cNvPicPr>
                      <p:nvPr/>
                    </p:nvPicPr>
                    <p:blipFill>
                      <a:blip r:embed="rId44">
                        <a:extLst>
                          <a:ext uri="{96DAC541-7B7A-43D3-8B79-37D633B846F1}">
                            <asvg:svgBlip xmlns:asvg="http://schemas.microsoft.com/office/drawing/2016/SVG/main" r:embed="rId4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1083" y="21618"/>
                        <a:ext cx="4307" cy="3090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</p:grpSp>
        </p:grpSp>
      </p:grpSp>
      <p:sp>
        <p:nvSpPr>
          <p:cNvPr id="860" name="椭圆 859"/>
          <p:cNvSpPr/>
          <p:nvPr/>
        </p:nvSpPr>
        <p:spPr>
          <a:xfrm>
            <a:off x="1701825" y="10178416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3" name="椭圆 862"/>
          <p:cNvSpPr/>
          <p:nvPr/>
        </p:nvSpPr>
        <p:spPr>
          <a:xfrm>
            <a:off x="1701190" y="10581666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4" name="椭圆 863"/>
          <p:cNvSpPr/>
          <p:nvPr/>
        </p:nvSpPr>
        <p:spPr>
          <a:xfrm>
            <a:off x="1700530" y="10984891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5" name="椭圆 864"/>
          <p:cNvSpPr/>
          <p:nvPr/>
        </p:nvSpPr>
        <p:spPr>
          <a:xfrm>
            <a:off x="7987043" y="10178416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6" name="椭圆 865"/>
          <p:cNvSpPr/>
          <p:nvPr/>
        </p:nvSpPr>
        <p:spPr>
          <a:xfrm>
            <a:off x="7987043" y="10581666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7" name="椭圆 866"/>
          <p:cNvSpPr/>
          <p:nvPr/>
        </p:nvSpPr>
        <p:spPr>
          <a:xfrm>
            <a:off x="7987030" y="10984891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8" name="椭圆 867"/>
          <p:cNvSpPr/>
          <p:nvPr/>
        </p:nvSpPr>
        <p:spPr>
          <a:xfrm>
            <a:off x="1706270" y="11903711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9" name="椭圆 868"/>
          <p:cNvSpPr/>
          <p:nvPr/>
        </p:nvSpPr>
        <p:spPr>
          <a:xfrm>
            <a:off x="1705635" y="12306961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0" name="椭圆 869"/>
          <p:cNvSpPr/>
          <p:nvPr/>
        </p:nvSpPr>
        <p:spPr>
          <a:xfrm>
            <a:off x="1704975" y="12778131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1" name="文本框 870"/>
          <p:cNvSpPr txBox="1"/>
          <p:nvPr/>
        </p:nvSpPr>
        <p:spPr>
          <a:xfrm>
            <a:off x="1746885" y="12660631"/>
            <a:ext cx="1974850" cy="294005"/>
          </a:xfrm>
          <a:prstGeom prst="rect">
            <a:avLst/>
          </a:prstGeom>
          <a:noFill/>
        </p:spPr>
        <p:txBody>
          <a:bodyPr wrap="square" lIns="36195" rtlCol="0" anchor="t">
            <a:spAutoFit/>
          </a:bodyPr>
          <a:p>
            <a:pPr>
              <a:lnSpc>
                <a:spcPct val="110000"/>
              </a:lnSpc>
            </a:pPr>
            <a:r>
              <a:rPr lang="en-US" altLang="zh-CN" sz="1200" dirty="0">
                <a:sym typeface="+mn-ea"/>
              </a:rPr>
              <a:t>Traceable tool-call records</a:t>
            </a:r>
            <a:endParaRPr lang="en-US" altLang="zh-CN" sz="1200" dirty="0">
              <a:sym typeface="+mn-ea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6191885" y="12802871"/>
            <a:ext cx="1781810" cy="275590"/>
          </a:xfrm>
          <a:prstGeom prst="rect">
            <a:avLst/>
          </a:prstGeom>
        </p:spPr>
        <p:txBody>
          <a:bodyPr wrap="square" lIns="36195" rIns="36195">
            <a:spAutoFit/>
          </a:bodyPr>
          <a:lstStyle/>
          <a:p>
            <a:pPr algn="r"/>
            <a:r>
              <a:rPr lang="en-US" altLang="zh-CN" sz="1200" dirty="0">
                <a:sym typeface="+mn-ea"/>
              </a:rPr>
              <a:t>Fast model development</a:t>
            </a:r>
            <a:endParaRPr lang="en-US" altLang="zh-CN" sz="1200" dirty="0"/>
          </a:p>
        </p:txBody>
      </p:sp>
      <p:sp>
        <p:nvSpPr>
          <p:cNvPr id="872" name="文本框 871"/>
          <p:cNvSpPr txBox="1"/>
          <p:nvPr/>
        </p:nvSpPr>
        <p:spPr>
          <a:xfrm>
            <a:off x="5734050" y="12411076"/>
            <a:ext cx="2239645" cy="460375"/>
          </a:xfrm>
          <a:prstGeom prst="rect">
            <a:avLst/>
          </a:prstGeom>
        </p:spPr>
        <p:txBody>
          <a:bodyPr wrap="square" rIns="36195">
            <a:spAutoFit/>
          </a:bodyPr>
          <a:p>
            <a:pPr algn="r"/>
            <a:r>
              <a:rPr lang="en-US" altLang="zh-CN" sz="1200"/>
              <a:t>Lymph-node metastasis</a:t>
            </a:r>
            <a:endParaRPr lang="en-US" altLang="zh-CN" sz="1200"/>
          </a:p>
          <a:p>
            <a:pPr algn="r"/>
            <a:r>
              <a:rPr lang="en-US" altLang="zh-CN" sz="1200"/>
              <a:t>prediction</a:t>
            </a:r>
            <a:endParaRPr lang="en-US" altLang="zh-CN" sz="1200"/>
          </a:p>
        </p:txBody>
      </p:sp>
      <p:sp>
        <p:nvSpPr>
          <p:cNvPr id="873" name="文本框 872"/>
          <p:cNvSpPr txBox="1"/>
          <p:nvPr/>
        </p:nvSpPr>
        <p:spPr>
          <a:xfrm>
            <a:off x="6198235" y="12011661"/>
            <a:ext cx="1781810" cy="460375"/>
          </a:xfrm>
          <a:prstGeom prst="rect">
            <a:avLst/>
          </a:prstGeom>
        </p:spPr>
        <p:txBody>
          <a:bodyPr wrap="square" lIns="36195" rIns="36195">
            <a:spAutoFit/>
          </a:bodyPr>
          <a:lstStyle/>
          <a:p>
            <a:pPr algn="r"/>
            <a:r>
              <a:rPr lang="en-US" altLang="zh-CN" sz="1200" dirty="0"/>
              <a:t>Explainable risk prediction</a:t>
            </a:r>
            <a:endParaRPr lang="en-US" altLang="zh-CN" sz="1200" dirty="0"/>
          </a:p>
        </p:txBody>
      </p:sp>
      <p:sp>
        <p:nvSpPr>
          <p:cNvPr id="875" name="椭圆 874"/>
          <p:cNvSpPr/>
          <p:nvPr/>
        </p:nvSpPr>
        <p:spPr>
          <a:xfrm>
            <a:off x="7986738" y="12136121"/>
            <a:ext cx="53975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6" name="椭圆 875"/>
          <p:cNvSpPr/>
          <p:nvPr/>
        </p:nvSpPr>
        <p:spPr>
          <a:xfrm>
            <a:off x="7986738" y="12526671"/>
            <a:ext cx="53975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7" name="椭圆 876"/>
          <p:cNvSpPr/>
          <p:nvPr/>
        </p:nvSpPr>
        <p:spPr>
          <a:xfrm>
            <a:off x="7986725" y="12917196"/>
            <a:ext cx="54000" cy="539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3659276&quot;,&quot;origin&quot;:0,&quot;type&quot;:&quot;icons&quot;,&quot;user&quot;:&quot;1636842455&quot;}"/>
</p:tagLst>
</file>

<file path=ppt/tags/tag2.xml><?xml version="1.0" encoding="utf-8"?>
<p:tagLst xmlns:p="http://schemas.openxmlformats.org/presentationml/2006/main">
  <p:tag name="KSO_DOCER_RESOURCE_TRACE_INFO" val="{&quot;id&quot;:&quot;3659276&quot;,&quot;origin&quot;:0,&quot;type&quot;:&quot;icons&quot;,&quot;user&quot;:&quot;1636842455&quot;}"/>
</p:tagLst>
</file>

<file path=ppt/tags/tag3.xml><?xml version="1.0" encoding="utf-8"?>
<p:tagLst xmlns:p="http://schemas.openxmlformats.org/presentationml/2006/main">
  <p:tag name="RESOURCE_RECORD_KEY" val="{&quot;10&quot;:[3659276]}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3808</Words>
  <Application>WPS 演示</Application>
  <PresentationFormat>自定义</PresentationFormat>
  <Paragraphs>454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Calibri</vt:lpstr>
      <vt:lpstr>WPS​​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陈世煜</cp:lastModifiedBy>
  <cp:revision>197</cp:revision>
  <dcterms:created xsi:type="dcterms:W3CDTF">2023-07-11T07:43:00Z</dcterms:created>
  <dcterms:modified xsi:type="dcterms:W3CDTF">2026-07-11T09:20:55Z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59AE7EBFC785476BB240C3496B81472C_13</vt:lpwstr>
  </property>
</Properties>
</file>